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Relationship Id="rId11" Type="http://schemas.openxmlformats.org/officeDocument/2006/relationships/hyperlink" Target="https://www.data.gov.in/resource/year-wise-number-cyber-security-incidents-indian-computer-emergency-response-team-cert" TargetMode="External"/><Relationship Id="rId12" Type="http://schemas.openxmlformats.org/officeDocument/2006/relationships/hyperlink" Target="https://www.pib.gov.in/PressReleasePage.aspx?PRID=2217537" TargetMode="External"/><Relationship Id="rId13" Type="http://schemas.openxmlformats.org/officeDocument/2006/relationships/hyperlink" Target="https://www.indiacode.nic.in/handle/123456789/1999" TargetMode="External"/><Relationship Id="rId14" Type="http://schemas.openxmlformats.org/officeDocument/2006/relationships/hyperlink" Target="https://www.meity.gov.in/static/uploads/2024/06/2bf1f0e9f04e6fb4f8fef35e82c42aa5.pdf" TargetMode="External"/><Relationship Id="rId15" Type="http://schemas.openxmlformats.org/officeDocument/2006/relationships/hyperlink" Target="https://doi.org/10.1109/ICWS.2017.13" TargetMode="External"/><Relationship Id="rId16" Type="http://schemas.openxmlformats.org/officeDocument/2006/relationships/hyperlink" Target="https://arxiv.org/abs/2008.06448" TargetMode="External"/><Relationship Id="rId17" Type="http://schemas.openxmlformats.org/officeDocument/2006/relationships/hyperlink" Target="https://arxiv.org/abs/1811.03509" TargetMode="External"/><Relationship Id="rId18" Type="http://schemas.openxmlformats.org/officeDocument/2006/relationships/hyperlink" Target="https://datatracker.ietf.org/doc/html/rfc5424" TargetMode="External"/><Relationship Id="rId19" Type="http://schemas.openxmlformats.org/officeDocument/2006/relationships/hyperlink" Target="https://scikit-learn.org" TargetMode="External"/><Relationship Id="rId20" Type="http://schemas.openxmlformats.org/officeDocument/2006/relationships/hyperlink" Target="https://fastapi.tiangolo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48840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48840" y="5724144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0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97146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97146" y="5724144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34306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45452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5452" y="5724144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82612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93758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93758" y="5724144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0918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1901952"/>
            <a:ext cx="7269480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5760" y="1901952"/>
            <a:ext cx="7269480" cy="36576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1901952"/>
            <a:ext cx="6995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WORKS</a:t>
            </a:r>
            <a:r>
              <a:rPr sz="1100" b="0">
                <a:solidFill>
                  <a:srgbClr val="DCE8FA"/>
                </a:solidFill>
                <a:latin typeface="Calibri"/>
              </a:rPr>
              <a:t>     three simple stages, from raw log to clean record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5488" y="2340864"/>
            <a:ext cx="7050024" cy="10972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75488" y="2340864"/>
            <a:ext cx="1024128" cy="109728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" y="2340864"/>
            <a:ext cx="1024128" cy="10972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COLLECT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IDENTIFY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91056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Multi-source collection: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network devices, servers, apps, databases, cloud and IoT via a web API or Bash collector.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Automatic format identification: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Syslog, JSON, CSV, CEF, LEEF, web and Java logs are recognised on their own.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67428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Unknown format support: </a:t>
            </a:r>
            <a:r>
              <a:rPr sz="950" b="0">
                <a:solidFill>
                  <a:srgbClr val="1E2530"/>
                </a:solidFill>
                <a:latin typeface="Calibri"/>
              </a:rPr>
              <a:t>new or proprietary formats (e.g. XML) are learned once; no parser has to be written.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Real-time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live syslog, Docker and Kubernetes streams are cleaned as they arrive.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Batch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large existing log files can be sent in bulk for one-time cleanup.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5488" y="3511296"/>
            <a:ext cx="7050024" cy="841248"/>
          </a:xfrm>
          <a:prstGeom prst="roundRect">
            <a:avLst>
              <a:gd name="adj" fmla="val 8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75488" y="3511296"/>
            <a:ext cx="1024128" cy="841248"/>
          </a:xfrm>
          <a:prstGeom prst="roundRect">
            <a:avLst>
              <a:gd name="adj" fmla="val 12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" y="3511296"/>
            <a:ext cx="1024128" cy="8412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&amp; MAP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591056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Universal parsing: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key details are pulled from structured, semi-structured and free-text logs.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Pattern extraction: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repeating lines are grouped into patterns; millions of lines become a few thousand.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67428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Intelligent field mapping: </a:t>
            </a:r>
            <a:r>
              <a:rPr sz="950" b="0">
                <a:solidFill>
                  <a:srgbClr val="1E2530"/>
                </a:solidFill>
                <a:latin typeface="Calibri"/>
              </a:rPr>
              <a:t>'lvl', 'level', 'severity' and other differently named fields land in one field.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Field normalisation: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times become UTC, severity one scale; event type, host, IPs and users are extracted.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5488" y="4425696"/>
            <a:ext cx="7050024" cy="1024128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5488" y="4425696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5488" y="4425696"/>
            <a:ext cx="1024128" cy="10241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CLEAN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91056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Error &amp; anomaly handling: </a:t>
            </a:r>
            <a:r>
              <a:rPr sz="950" b="0">
                <a:solidFill>
                  <a:srgbClr val="1E2530"/>
                </a:solidFill>
                <a:latin typeface="Calibri"/>
              </a:rPr>
              <a:t>missing fields get safe defaults; unusual lines are flagged for review.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Duplicate removal (planned):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repeated entries are dropped to cut noise and storage.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Common schema: </a:t>
            </a:r>
            <a:r>
              <a:rPr sz="950" b="0">
                <a:solidFill>
                  <a:srgbClr val="1E2530"/>
                </a:solidFill>
                <a:latin typeface="Calibri"/>
              </a:rPr>
              <a:t>every log gets the same fields: time, source, event, severity and message.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67428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Standardised output: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clean, machine-readable JSON for SIEM, monitoring &amp; analytics (connectors planned).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Easy integration: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one simple interface for every downstream tool, whatever the original source.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818120" y="1901952"/>
            <a:ext cx="4050792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818120" y="1901952"/>
            <a:ext cx="4050792" cy="36576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27848" y="1901952"/>
            <a:ext cx="38679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46136" y="2359152"/>
            <a:ext cx="3813048" cy="3136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Too many log formats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common formats are recognised instantly and new ones are learned automatically, so any source can be connected.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Parsers keep breaking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no hand-written parser code to write, fix or maintain; rules are created and saved by the system.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Slow, manual investigation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all logs share one clean, time-aligned and security-tagged format, so analysts search one place.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AI is slow &amp; costly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AI is used only once per new format, never per log line; everyday logs run on fast saved rules.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Messy, unreliable data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fields are standardised, gaps get safe defaults and the original line is always kept for audits.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Compliance &amp; privacy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 records help meet CERT-In's 180-day log rule; can run on-premise with built-in rules (self-hosted AI planned).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5632704"/>
            <a:ext cx="1691640" cy="676656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5632704"/>
            <a:ext cx="1691640" cy="6766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INNOVATION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4F7FB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0" y="1106424"/>
            <a:ext cx="6035040" cy="2743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300" b="1" i="0">
                <a:solidFill>
                  <a:srgbClr val="1F5FBF"/>
                </a:solidFill>
                <a:latin typeface="Calibri"/>
              </a:rPr>
              <a:t>METHODOLOGY: HOW EVERY LOG FLOWS</a:t>
            </a:r>
            <a:r>
              <a:rPr sz="950" b="0" i="1">
                <a:solidFill>
                  <a:srgbClr val="5B6573"/>
                </a:solidFill>
                <a:latin typeface="Calibri"/>
              </a:rPr>
              <a:t>    learn a format once, reuse it every time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669280" y="146304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5760720" y="155448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4A5568"/>
                </a:solidFill>
                <a:latin typeface="Calibri"/>
              </a:rPr>
              <a:t>1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409944" y="1536192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5664" y="1581912"/>
            <a:ext cx="237744" cy="237744"/>
          </a:xfrm>
          <a:prstGeom prst="rect">
            <a:avLst/>
          </a:prstGeom>
        </p:spPr>
      </p:pic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9984" y="1581912"/>
            <a:ext cx="237744" cy="237744"/>
          </a:xfrm>
          <a:prstGeom prst="rect">
            <a:avLst/>
          </a:prstGeom>
        </p:spPr>
      </p:pic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304" y="1581912"/>
            <a:ext cx="237744" cy="237744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5742432" y="1892808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Logs arrive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from servers, apps &amp; firewalls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854696" y="146304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946136" y="155448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F5FBF"/>
                </a:solidFill>
                <a:latin typeface="Calibri"/>
              </a:rPr>
              <a:t>2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595360" y="1536192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581912"/>
            <a:ext cx="237744" cy="237744"/>
          </a:xfrm>
          <a:prstGeom prst="rect">
            <a:avLst/>
          </a:prstGeom>
        </p:spPr>
      </p:pic>
      <p:sp>
        <p:nvSpPr>
          <p:cNvPr id="150" name="Oval 149"/>
          <p:cNvSpPr/>
          <p:nvPr/>
        </p:nvSpPr>
        <p:spPr>
          <a:xfrm>
            <a:off x="8915400" y="1581912"/>
            <a:ext cx="237744" cy="23774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89720" y="1581912"/>
            <a:ext cx="237744" cy="237744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7927848" y="1892808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Already known?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is there a saved rule for this line or its pattern?</a:t>
            </a:r>
          </a:p>
        </p:txBody>
      </p:sp>
      <p:sp>
        <p:nvSpPr>
          <p:cNvPr id="153" name="Down Arrow 152"/>
          <p:cNvSpPr/>
          <p:nvPr/>
        </p:nvSpPr>
        <p:spPr>
          <a:xfrm>
            <a:off x="10085832" y="1463040"/>
            <a:ext cx="1600200" cy="2633472"/>
          </a:xfrm>
          <a:prstGeom prst="downArrow">
            <a:avLst>
              <a:gd name="adj1" fmla="val 72000"/>
              <a:gd name="adj2" fmla="val 2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314432" y="1600200"/>
            <a:ext cx="1143000" cy="17373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C9F2D4"/>
                </a:solidFill>
                <a:latin typeface="Calibri"/>
              </a:rPr>
              <a:t>YES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FAST PATH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most logs go here</a:t>
            </a:r>
          </a:p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instant · no AI · no cost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596128" y="2688336"/>
            <a:ext cx="4023360" cy="2587752"/>
          </a:xfrm>
          <a:prstGeom prst="roundRect">
            <a:avLst>
              <a:gd name="adj" fmla="val 5000"/>
            </a:avLst>
          </a:prstGeom>
          <a:solidFill>
            <a:srgbClr val="FFF8F0"/>
          </a:solidFill>
          <a:ln w="19050">
            <a:solidFill>
              <a:srgbClr val="F283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705856" y="5175504"/>
            <a:ext cx="2423160" cy="201168"/>
          </a:xfrm>
          <a:prstGeom prst="roundRect">
            <a:avLst>
              <a:gd name="adj" fmla="val 50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AI PATH · only for new formats, only once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854696" y="2798064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946136" y="288950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6A3FB5"/>
                </a:solidFill>
                <a:latin typeface="Calibri"/>
              </a:rPr>
              <a:t>3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44000" y="287121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2916936"/>
            <a:ext cx="237744" cy="237744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7927848" y="3227832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Familiar format?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ML model compares it with known log types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669280" y="2798064"/>
            <a:ext cx="1691640" cy="493776"/>
          </a:xfrm>
          <a:prstGeom prst="roundRect">
            <a:avLst>
              <a:gd name="adj" fmla="val 14000"/>
            </a:avLst>
          </a:prstGeom>
          <a:solidFill>
            <a:srgbClr val="E07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742432" y="29077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E07A10"/>
                </a:solidFill>
                <a:latin typeface="Calibri"/>
              </a:rPr>
              <a:t>4a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812280" y="2907792"/>
            <a:ext cx="4937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2953512"/>
            <a:ext cx="182880" cy="182880"/>
          </a:xfrm>
          <a:prstGeom prst="rect">
            <a:avLst/>
          </a:prstGeom>
        </p:spPr>
      </p:pic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7456" y="2953512"/>
            <a:ext cx="182880" cy="18288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6044184" y="2798064"/>
            <a:ext cx="731520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950" b="1" i="0">
                <a:solidFill>
                  <a:srgbClr val="FFFFFF"/>
                </a:solidFill>
                <a:latin typeface="Calibri"/>
              </a:rPr>
              <a:t>AI writes rule</a:t>
            </a:r>
          </a:p>
          <a:p>
            <a:r>
              <a:rPr sz="800" b="0" i="0">
                <a:solidFill>
                  <a:srgbClr val="F2F5FA"/>
                </a:solidFill>
                <a:latin typeface="Calibri"/>
              </a:rPr>
              <a:t>only once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669280" y="3355848"/>
            <a:ext cx="1691640" cy="493776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742432" y="346557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 i="0">
                <a:solidFill>
                  <a:srgbClr val="C0392B"/>
                </a:solidFill>
                <a:latin typeface="Calibri"/>
              </a:rPr>
              <a:t>4b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031736" y="346557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511296"/>
            <a:ext cx="182880" cy="18288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6044184" y="3355848"/>
            <a:ext cx="950976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950" b="1" i="0">
                <a:solidFill>
                  <a:srgbClr val="FFFFFF"/>
                </a:solidFill>
                <a:latin typeface="Calibri"/>
              </a:rPr>
              <a:t>Review queue</a:t>
            </a:r>
          </a:p>
          <a:p>
            <a:r>
              <a:rPr sz="800" b="0" i="0">
                <a:solidFill>
                  <a:srgbClr val="F2F5FA"/>
                </a:solidFill>
                <a:latin typeface="Calibri"/>
              </a:rPr>
              <a:t>if it repeats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69280" y="4133088"/>
            <a:ext cx="3877056" cy="1051560"/>
          </a:xfrm>
          <a:prstGeom prst="roundRect">
            <a:avLst>
              <a:gd name="adj" fmla="val 14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742432" y="452170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0E8C8C"/>
                </a:solidFill>
                <a:latin typeface="Calibri"/>
              </a:rPr>
              <a:t>5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9162288" y="4494276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6" name="Picture 17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8008" y="4539996"/>
            <a:ext cx="237744" cy="237744"/>
          </a:xfrm>
          <a:prstGeom prst="rect">
            <a:avLst/>
          </a:prstGeom>
        </p:spPr>
      </p:pic>
      <p:sp>
        <p:nvSpPr>
          <p:cNvPr id="177" name="TextBox 176"/>
          <p:cNvSpPr txBox="1"/>
          <p:nvPr/>
        </p:nvSpPr>
        <p:spPr>
          <a:xfrm>
            <a:off x="6044184" y="4133088"/>
            <a:ext cx="3081528" cy="10515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r>
              <a:rPr sz="950" b="0" i="0">
                <a:solidFill>
                  <a:srgbClr val="F2F5FA"/>
                </a:solidFill>
                <a:latin typeface="Calibri"/>
              </a:rPr>
              <a:t>stored in the rule store, so next time this format is instant and skips AI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0040112" y="4133088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131552" y="42245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38A36"/>
                </a:solidFill>
                <a:latin typeface="Calibri"/>
              </a:rPr>
              <a:t>6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1329416" y="420624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1" name="Picture 1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5136" y="4251960"/>
            <a:ext cx="237744" cy="237744"/>
          </a:xfrm>
          <a:prstGeom prst="rect">
            <a:avLst/>
          </a:prstGeom>
        </p:spPr>
      </p:pic>
      <p:sp>
        <p:nvSpPr>
          <p:cNvPr id="182" name="TextBox 181"/>
          <p:cNvSpPr txBox="1"/>
          <p:nvPr/>
        </p:nvSpPr>
        <p:spPr>
          <a:xfrm>
            <a:off x="10113264" y="4562856"/>
            <a:ext cx="1545336" cy="5760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Clean up</a:t>
            </a:r>
          </a:p>
          <a:p>
            <a:r>
              <a:rPr sz="850" b="0" i="0">
                <a:solidFill>
                  <a:srgbClr val="F2F5FA"/>
                </a:solidFill>
                <a:latin typeface="Calibri"/>
              </a:rPr>
              <a:t>time → UTC, severity unified, IPs &amp; users tagged, original kept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669280" y="5458968"/>
            <a:ext cx="6062472" cy="813816"/>
          </a:xfrm>
          <a:prstGeom prst="roundRect">
            <a:avLst>
              <a:gd name="adj" fmla="val 1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742432" y="572871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0B2A5B"/>
                </a:solidFill>
                <a:latin typeface="Calibri"/>
              </a:rPr>
              <a:t>7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1073384" y="5701284"/>
            <a:ext cx="60350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" name="Picture 18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104" y="5747004"/>
            <a:ext cx="237744" cy="237744"/>
          </a:xfrm>
          <a:prstGeom prst="rect">
            <a:avLst/>
          </a:prstGeom>
        </p:spPr>
      </p:pic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93424" y="5747004"/>
            <a:ext cx="237744" cy="237744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6044184" y="5458968"/>
            <a:ext cx="4992624" cy="81381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Calibri"/>
              </a:rPr>
              <a:t>One clean, common format out (JSON)</a:t>
            </a:r>
          </a:p>
          <a:p>
            <a:r>
              <a:rPr sz="900" b="0" i="0">
                <a:solidFill>
                  <a:srgbClr val="F2F5FA"/>
                </a:solidFill>
                <a:latin typeface="Calibri"/>
              </a:rPr>
              <a:t>every log looks the same, ready for security tools, dashboards &amp; search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388352" y="1988820"/>
            <a:ext cx="438912" cy="0"/>
          </a:xfrm>
          <a:prstGeom prst="line">
            <a:avLst/>
          </a:prstGeom>
          <a:ln w="22225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9573768" y="1988820"/>
            <a:ext cx="740664" cy="0"/>
          </a:xfrm>
          <a:prstGeom prst="line">
            <a:avLst/>
          </a:prstGeom>
          <a:ln w="28575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9564624" y="1769364"/>
            <a:ext cx="45720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9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8700516" y="2532888"/>
            <a:ext cx="0" cy="246888"/>
          </a:xfrm>
          <a:prstGeom prst="line">
            <a:avLst/>
          </a:prstGeom>
          <a:ln w="25400">
            <a:solidFill>
              <a:srgbClr val="C060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Box 192"/>
          <p:cNvSpPr txBox="1"/>
          <p:nvPr/>
        </p:nvSpPr>
        <p:spPr>
          <a:xfrm>
            <a:off x="8755380" y="2542032"/>
            <a:ext cx="128016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850" b="1" i="0">
                <a:solidFill>
                  <a:srgbClr val="C06010"/>
                </a:solidFill>
                <a:latin typeface="Calibri"/>
              </a:rPr>
              <a:t>No, it is new</a:t>
            </a:r>
          </a:p>
        </p:txBody>
      </p:sp>
      <p:cxnSp>
        <p:nvCxnSpPr>
          <p:cNvPr id="194" name="Connector 193"/>
          <p:cNvCxnSpPr/>
          <p:nvPr/>
        </p:nvCxnSpPr>
        <p:spPr>
          <a:xfrm flipH="1">
            <a:off x="7388352" y="3044952"/>
            <a:ext cx="438912" cy="0"/>
          </a:xfrm>
          <a:prstGeom prst="line">
            <a:avLst/>
          </a:prstGeom>
          <a:ln w="22225">
            <a:solidFill>
              <a:srgbClr val="C060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7397496" y="2843784"/>
            <a:ext cx="45720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800" b="1" i="0">
                <a:solidFill>
                  <a:srgbClr val="C06010"/>
                </a:solidFill>
                <a:latin typeface="Calibri"/>
              </a:rPr>
              <a:t>yes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7388352" y="3602736"/>
            <a:ext cx="438912" cy="0"/>
          </a:xfrm>
          <a:prstGeom prst="line">
            <a:avLst/>
          </a:prstGeom>
          <a:ln w="22225">
            <a:solidFill>
              <a:srgbClr val="C039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7397496" y="3401568"/>
            <a:ext cx="457200" cy="18288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6515100" y="3867912"/>
            <a:ext cx="0" cy="246888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9573768" y="4658868"/>
            <a:ext cx="438912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0885932" y="5202936"/>
            <a:ext cx="0" cy="237744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  <a:hlinkClick r:id="rId7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  <a:hlinkClick r:id="rId8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1097280"/>
            <a:ext cx="7315200" cy="2148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65760" y="1097280"/>
            <a:ext cx="7315200" cy="384048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1097280"/>
            <a:ext cx="7040880" cy="384048"/>
          </a:xfrm>
          <a:prstGeom prst="rect">
            <a:avLst/>
          </a:prstGeom>
          <a:noFill/>
        </p:spPr>
        <p:txBody>
          <a:bodyPr wrap="square" lIns="36576" rIns="36576" tIns="9144" bIns="9144" anchor="ctr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GOVERNMENT OF 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1645920"/>
            <a:ext cx="3447288" cy="1554480"/>
          </a:xfrm>
          <a:prstGeom prst="rect">
            <a:avLst/>
          </a:prstGeom>
          <a:noFill/>
        </p:spPr>
        <p:txBody>
          <a:bodyPr wrap="square" lIns="36576" rIns="36576" tIns="9144" bIns="9144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0B2A5B"/>
                </a:solidFill>
                <a:latin typeface="Calibri"/>
              </a:rPr>
              <a:t>▸ </a:t>
            </a:r>
            <a:r>
              <a:rPr sz="1150" b="1">
                <a:solidFill>
                  <a:srgbClr val="0B2A5B"/>
                </a:solidFill>
                <a:latin typeface="Calibri"/>
              </a:rPr>
              <a:t>CERT-In Cyber Security Directions, 2022</a:t>
            </a:r>
          </a:p>
          <a:p>
            <a:pPr>
              <a:spcAft>
                <a:spcPts val="11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3"/>
              </a:rPr>
              <a:t>cert-in.org.in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0B2A5B"/>
                </a:solidFill>
                <a:latin typeface="Calibri"/>
              </a:rPr>
              <a:t>▸ </a:t>
            </a:r>
            <a:r>
              <a:rPr sz="1150" b="1">
                <a:solidFill>
                  <a:srgbClr val="0B2A5B"/>
                </a:solidFill>
                <a:latin typeface="Calibri"/>
              </a:rPr>
              <a:t>CERT-In cyber incidents 2020–2024 (OGD)</a:t>
            </a:r>
          </a:p>
          <a:p>
            <a:pPr>
              <a:spcAft>
                <a:spcPts val="11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1"/>
              </a:rPr>
              <a:t>data.gov.in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0B2A5B"/>
                </a:solidFill>
                <a:latin typeface="Calibri"/>
              </a:rPr>
              <a:t>▸ </a:t>
            </a:r>
            <a:r>
              <a:rPr sz="1150" b="1">
                <a:solidFill>
                  <a:srgbClr val="0B2A5B"/>
                </a:solidFill>
                <a:latin typeface="Calibri"/>
              </a:rPr>
              <a:t>PIB: CERT-In, India's frontline defender</a:t>
            </a:r>
          </a:p>
          <a:p>
            <a:pPr>
              <a:spcAft>
                <a:spcPts val="11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2"/>
              </a:rPr>
              <a:t>pib.gov.in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50792" y="1645920"/>
            <a:ext cx="3447288" cy="1554480"/>
          </a:xfrm>
          <a:prstGeom prst="rect">
            <a:avLst/>
          </a:prstGeom>
          <a:noFill/>
        </p:spPr>
        <p:txBody>
          <a:bodyPr wrap="square" lIns="36576" rIns="36576" tIns="9144" bIns="9144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0B2A5B"/>
                </a:solidFill>
                <a:latin typeface="Calibri"/>
              </a:rPr>
              <a:t>▸ </a:t>
            </a:r>
            <a:r>
              <a:rPr sz="1150" b="1">
                <a:solidFill>
                  <a:srgbClr val="0B2A5B"/>
                </a:solidFill>
                <a:latin typeface="Calibri"/>
              </a:rPr>
              <a:t>NCIIPC, NTRO</a:t>
            </a:r>
          </a:p>
          <a:p>
            <a:pPr>
              <a:spcAft>
                <a:spcPts val="11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9"/>
              </a:rPr>
              <a:t>nciipc.gov.in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0B2A5B"/>
                </a:solidFill>
                <a:latin typeface="Calibri"/>
              </a:rPr>
              <a:t>▸ </a:t>
            </a:r>
            <a:r>
              <a:rPr sz="1150" b="1">
                <a:solidFill>
                  <a:srgbClr val="0B2A5B"/>
                </a:solidFill>
                <a:latin typeface="Calibri"/>
              </a:rPr>
              <a:t>Information Technology Act, 2000</a:t>
            </a:r>
          </a:p>
          <a:p>
            <a:pPr>
              <a:spcAft>
                <a:spcPts val="11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3"/>
              </a:rPr>
              <a:t>indiacode.nic.in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0B2A5B"/>
                </a:solidFill>
                <a:latin typeface="Calibri"/>
              </a:rPr>
              <a:t>▸ </a:t>
            </a:r>
            <a:r>
              <a:rPr sz="1150" b="1">
                <a:solidFill>
                  <a:srgbClr val="0B2A5B"/>
                </a:solidFill>
                <a:latin typeface="Calibri"/>
              </a:rPr>
              <a:t>Digital Personal Data Protection Act, 2023</a:t>
            </a:r>
          </a:p>
          <a:p>
            <a:pPr>
              <a:spcAft>
                <a:spcPts val="11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4"/>
              </a:rPr>
              <a:t>meity.gov.in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3720" y="1216152"/>
            <a:ext cx="228600" cy="146304"/>
          </a:xfrm>
          <a:prstGeom prst="rect">
            <a:avLst/>
          </a:prstGeom>
          <a:solidFill>
            <a:srgbClr val="FF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216152"/>
            <a:ext cx="22860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60920" y="1216152"/>
            <a:ext cx="228600" cy="146304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5760" y="3383280"/>
            <a:ext cx="3593592" cy="29626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65760" y="3383280"/>
            <a:ext cx="3593592" cy="384048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383280"/>
            <a:ext cx="3319272" cy="384048"/>
          </a:xfrm>
          <a:prstGeom prst="rect">
            <a:avLst/>
          </a:prstGeom>
          <a:noFill/>
        </p:spPr>
        <p:txBody>
          <a:bodyPr wrap="square" lIns="36576" rIns="36576" tIns="9144" bIns="9144" anchor="ctr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RESEARCH &amp; DATASETS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3931920"/>
            <a:ext cx="3246120" cy="2368296"/>
          </a:xfrm>
          <a:prstGeom prst="rect">
            <a:avLst/>
          </a:prstGeom>
          <a:noFill/>
        </p:spPr>
        <p:txBody>
          <a:bodyPr wrap="square" lIns="36576" rIns="36576" tIns="9144" bIns="9144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1F5FBF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 log parser, ICWS 2017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5"/>
              </a:rPr>
              <a:t>doi.org/10.1109/ICWS.2017.13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F5FBF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Loghub datasets, ISSRE 2023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6"/>
              </a:rPr>
              <a:t>arxiv.org/abs/2008.06448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F5FBF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Log-parser benchmark, ICSE-SEIP 2019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7"/>
              </a:rPr>
              <a:t>arxiv.org/abs/1811.03509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F5FBF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Loghub log samples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2"/>
              </a:rPr>
              <a:t>github.com/logpai/loghub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87368" y="3383280"/>
            <a:ext cx="3593592" cy="29626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087368" y="3383280"/>
            <a:ext cx="3593592" cy="384048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51960" y="3383280"/>
            <a:ext cx="3319272" cy="384048"/>
          </a:xfrm>
          <a:prstGeom prst="rect">
            <a:avLst/>
          </a:prstGeom>
          <a:noFill/>
        </p:spPr>
        <p:txBody>
          <a:bodyPr wrap="square" lIns="36576" rIns="36576" tIns="9144" bIns="9144" anchor="ctr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STANDARDS &amp; TOOLS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3931920"/>
            <a:ext cx="3246120" cy="2368296"/>
          </a:xfrm>
          <a:prstGeom prst="rect">
            <a:avLst/>
          </a:prstGeom>
          <a:noFill/>
        </p:spPr>
        <p:txBody>
          <a:bodyPr wrap="square" lIns="36576" rIns="36576" tIns="9144" bIns="9144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Syslog protocol, RFC 5424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8"/>
              </a:rPr>
              <a:t>datatracker.ietf.org/doc/rfc5424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Drain3 library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4"/>
              </a:rPr>
              <a:t>github.com/logpai/Drain3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scikit-learn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19"/>
              </a:rPr>
              <a:t>scikit-learn.org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▸ </a:t>
            </a:r>
            <a:r>
              <a:rPr sz="1200" b="1">
                <a:solidFill>
                  <a:srgbClr val="0B2A5B"/>
                </a:solidFill>
                <a:latin typeface="Calibri"/>
              </a:rPr>
              <a:t>FastAPI</a:t>
            </a:r>
          </a:p>
          <a:p>
            <a:pPr>
              <a:spcAft>
                <a:spcPts val="1600"/>
              </a:spcAft>
            </a:pPr>
            <a:r>
              <a:rPr sz="950" b="0">
                <a:solidFill>
                  <a:srgbClr val="1F5FBF"/>
                </a:solidFill>
                <a:latin typeface="Calibri"/>
              </a:rPr>
              <a:t>    </a:t>
            </a:r>
            <a:r>
              <a:rPr sz="1050" b="0" u="sng">
                <a:solidFill>
                  <a:srgbClr val="1F5FBF"/>
                </a:solidFill>
                <a:latin typeface="Calibri"/>
                <a:hlinkClick r:id="rId20"/>
              </a:rPr>
              <a:t>fastapi.tiangolo.com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