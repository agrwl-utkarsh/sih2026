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ih2026-w6sr.vercel.app" TargetMode="External"/><Relationship Id="rId4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h2026-w6sr.vercel.app" TargetMode="Externa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Relationship Id="rId11" Type="http://schemas.openxmlformats.org/officeDocument/2006/relationships/image" Target="../media/image13.png"/><Relationship Id="rId12" Type="http://schemas.openxmlformats.org/officeDocument/2006/relationships/chart" Target="../charts/chart11.xml"/><Relationship Id="rId13" Type="http://schemas.openxmlformats.org/officeDocument/2006/relationships/chart" Target="../charts/chart12.xml"/><Relationship Id="rId14" Type="http://schemas.openxmlformats.org/officeDocument/2006/relationships/chart" Target="../charts/chart13.xml"/><Relationship Id="rId15" Type="http://schemas.openxmlformats.org/officeDocument/2006/relationships/chart" Target="../charts/chart14.xml"/><Relationship Id="rId16" Type="http://schemas.openxmlformats.org/officeDocument/2006/relationships/chart" Target="../charts/chart15.xml"/><Relationship Id="rId17" Type="http://schemas.openxmlformats.org/officeDocument/2006/relationships/chart" Target="../charts/char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ogpai/loghub" TargetMode="External"/><Relationship Id="rId3" Type="http://schemas.openxmlformats.org/officeDocument/2006/relationships/hyperlink" Target="https://www.cert-in.org.in/PDF/CERT-In_Directions_70B_28.04.2022.pdf" TargetMode="External"/><Relationship Id="rId4" Type="http://schemas.openxmlformats.org/officeDocument/2006/relationships/hyperlink" Target="https://github.com/logpai/Drain3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hyperlink" Target="https://sih2026-w6sr.vercel.app" TargetMode="External"/><Relationship Id="rId8" Type="http://schemas.openxmlformats.org/officeDocument/2006/relationships/hyperlink" Target="https://github.com/agrwl-utkarsh/sih2026" TargetMode="External"/><Relationship Id="rId9" Type="http://schemas.openxmlformats.org/officeDocument/2006/relationships/hyperlink" Target="https://nciipc.gov.in" TargetMode="External"/><Relationship Id="rId10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4" name="Hexagon 33"/>
          <p:cNvSpPr/>
          <p:nvPr/>
        </p:nvSpPr>
        <p:spPr>
          <a:xfrm>
            <a:off x="7863840" y="3611880"/>
            <a:ext cx="777240" cy="82296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8412480" y="1280160"/>
            <a:ext cx="3520440" cy="361188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8001000" y="960120"/>
            <a:ext cx="1097280" cy="1005840"/>
          </a:xfrm>
          <a:prstGeom prst="hexagon">
            <a:avLst/>
          </a:prstGeom>
          <a:noFill/>
          <a:ln w="635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502920"/>
            <a:ext cx="8229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7498079" cy="3108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Title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Title]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Theme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[Theme]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PS Category – </a:t>
            </a:r>
            <a:r>
              <a:rPr sz="2000" b="0" i="0">
                <a:solidFill>
                  <a:srgbClr val="1E2530"/>
                </a:solidFill>
                <a:latin typeface="Calibr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Name (Registered on portal)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074920"/>
            <a:ext cx="12191695" cy="12344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38928"/>
            <a:ext cx="8686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IDEA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13248"/>
            <a:ext cx="89611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Universal Log Pre-processing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97880"/>
            <a:ext cx="89611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6EA"/>
                </a:solidFill>
                <a:latin typeface="Calibri"/>
              </a:rPr>
              <a:t>Any log format in, one clean common schema out: learned once by AI, then parsed at regex speed</a:t>
            </a:r>
          </a:p>
        </p:txBody>
      </p:sp>
      <p:pic>
        <p:nvPicPr>
          <p:cNvPr id="28" name="Picture 27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184648"/>
            <a:ext cx="1005840" cy="1005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418320" y="5303520"/>
            <a:ext cx="1097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Scan to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view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  <p:pic>
        <p:nvPicPr>
          <p:cNvPr id="30" name="Picture 29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pic>
        <p:nvPicPr>
          <p:cNvPr id="35" name="Picture 34" descr="sih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1417320"/>
            <a:ext cx="2747243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" name="Rectangle 53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IDEA /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53949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C0392B"/>
                </a:solidFill>
                <a:latin typeface="Calibri"/>
              </a:rPr>
              <a:t>Understanding the Problem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051560"/>
            <a:ext cx="5852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7161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069080"/>
            <a:ext cx="8229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Innovation &amp; Uniqueness (USPs)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437083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480560"/>
            <a:ext cx="2011680" cy="109728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F5FBF"/>
                </a:solidFill>
                <a:latin typeface="Calibri"/>
              </a:rPr>
              <a:t>Fast and flexible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Most lines are handled by fast saved rules; AI is used only when truly needed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96312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96312" y="4480560"/>
            <a:ext cx="2011680" cy="1097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87752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F58220"/>
                </a:solidFill>
                <a:latin typeface="Calibri"/>
              </a:rPr>
              <a:t>Far fewer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F58220"/>
                </a:solidFill>
                <a:latin typeface="Calibri"/>
              </a:rPr>
              <a:t>AI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A new format is learned once, then reused for every similar line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26864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26864" y="4480560"/>
            <a:ext cx="2011680" cy="10972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18304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38A36"/>
                </a:solidFill>
                <a:latin typeface="Calibri"/>
              </a:rPr>
              <a:t>Flags never-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38A36"/>
                </a:solidFill>
                <a:latin typeface="Calibri"/>
              </a:rPr>
              <a:t>seen formats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36592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Designed to flag log formats it has never seen before, for human review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57416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57416" y="4480560"/>
            <a:ext cx="2011680" cy="109728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6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6A3FB5"/>
                </a:solidFill>
                <a:latin typeface="Calibri"/>
              </a:rPr>
              <a:t>Low-risk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6A3FB5"/>
                </a:solidFill>
                <a:latin typeface="Calibri"/>
              </a:rPr>
              <a:t>rollout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67144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Shadow mode first; works with no API key (heuristic fallback)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20" y="4114800"/>
            <a:ext cx="2907792" cy="21488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4315968"/>
            <a:ext cx="1188720" cy="11887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405872" y="4315968"/>
            <a:ext cx="1417320" cy="11887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SCAN TO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VIEW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5577840"/>
            <a:ext cx="2697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  <a:hlinkClick r:id="rId3"/>
              </a:rPr>
              <a:t>sih2026-w6sr.vercel.app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5852160"/>
            <a:ext cx="2697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C9D6EA"/>
                </a:solidFill>
                <a:latin typeface="Calibri"/>
              </a:rPr>
              <a:t>Try it with your own log lines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1444752"/>
            <a:ext cx="539496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Too many formats: </a:t>
            </a:r>
            <a:r>
              <a:rPr sz="1250" b="0">
                <a:solidFill>
                  <a:srgbClr val="1E2530"/>
                </a:solidFill>
                <a:latin typeface="Calibri"/>
              </a:rPr>
              <a:t>Syslog, JSON, CEF, K8s, Java, free text, all in one stream.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Manual parsers break: </a:t>
            </a:r>
            <a:r>
              <a:rPr sz="1250" b="0">
                <a:solidFill>
                  <a:srgbClr val="1E2530"/>
                </a:solidFill>
                <a:latin typeface="Calibri"/>
              </a:rPr>
              <a:t>every new source needs a hand-written regex.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AI on every line is too costly: </a:t>
            </a:r>
            <a:r>
              <a:rPr sz="1250" b="0">
                <a:solidFill>
                  <a:srgbClr val="1E2530"/>
                </a:solidFill>
                <a:latin typeface="Calibri"/>
              </a:rPr>
              <a:t>slow and expensive at millions of lines/day.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Compliance: </a:t>
            </a:r>
            <a:r>
              <a:rPr sz="1250" b="0">
                <a:solidFill>
                  <a:srgbClr val="1E2530"/>
                </a:solidFill>
                <a:latin typeface="Calibri"/>
              </a:rPr>
              <a:t>CERT-In requires 180-day, searchable logs of all ICT systems.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1444752"/>
            <a:ext cx="585216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Tiered pipeline: </a:t>
            </a:r>
            <a:r>
              <a:rPr sz="1250" b="0">
                <a:solidFill>
                  <a:srgbClr val="1E2530"/>
                </a:solidFill>
                <a:latin typeface="Calibri"/>
              </a:rPr>
              <a:t>the cheapest tier answers first; the LLM is the last resort.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Learn once: </a:t>
            </a:r>
            <a:r>
              <a:rPr sz="1250" b="0">
                <a:solidFill>
                  <a:srgbClr val="1E2530"/>
                </a:solidFill>
                <a:latin typeface="Calibri"/>
              </a:rPr>
              <a:t>the LLM writes one rule per template; reused with zero AI calls.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ML novelty gate: </a:t>
            </a:r>
            <a:r>
              <a:rPr sz="1250" b="0">
                <a:solidFill>
                  <a:srgbClr val="1E2530"/>
                </a:solidFill>
                <a:latin typeface="Calibri"/>
              </a:rPr>
              <a:t>spots never-seen formats and quarantines floods.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One schema: </a:t>
            </a:r>
            <a:r>
              <a:rPr sz="1250" b="0">
                <a:solidFill>
                  <a:srgbClr val="1E2530"/>
                </a:solidFill>
                <a:latin typeface="Calibri"/>
              </a:rPr>
              <a:t>timestamp · source · event_type · severity · message · extra.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Ready to use: </a:t>
            </a:r>
            <a:r>
              <a:rPr sz="1250" b="0">
                <a:solidFill>
                  <a:srgbClr val="1E2530"/>
                </a:solidFill>
                <a:latin typeface="Calibri"/>
              </a:rPr>
              <a:t>REST API, web console and a Bash log collector.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2971800"/>
            <a:ext cx="11430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B2A5B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" y="327355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5760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Too many formats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1F5FBF"/>
                </a:solidFill>
                <a:latin typeface="Calibri"/>
              </a:rPr>
              <a:t>Rules auto-learned per template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64408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37560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Manual parsers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F58220"/>
                </a:solidFill>
                <a:latin typeface="Calibri"/>
              </a:rPr>
              <a:t>Zero hand-written regex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3056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6208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AI cost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138A36"/>
                </a:solidFill>
                <a:latin typeface="Calibri"/>
              </a:rPr>
              <a:t>most lines skip the AI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61704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4856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Compliance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6A3FB5"/>
                </a:solidFill>
                <a:latin typeface="Calibri"/>
              </a:rPr>
              <a:t>UTC-normalised, searchable schema</a:t>
            </a:r>
          </a:p>
        </p:txBody>
      </p:sp>
      <p:sp>
        <p:nvSpPr>
          <p:cNvPr id="51" name="Oval 50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2" name="Picture 51" descr="sih_ico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" name="Rectangle 89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Technologies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4087368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Methodology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389120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5833872"/>
            <a:ext cx="4937760" cy="502920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833872"/>
            <a:ext cx="47548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38A36"/>
                </a:solidFill>
                <a:latin typeface="Calibri"/>
              </a:rPr>
              <a:t>Prototype: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view it at </a:t>
            </a:r>
            <a:r>
              <a:rPr sz="1050" b="1" i="0">
                <a:solidFill>
                  <a:srgbClr val="1F5FBF"/>
                </a:solidFill>
                <a:latin typeface="Calibri"/>
                <a:hlinkClick r:id="rId2"/>
              </a:rPr>
              <a:t>sih2026-w6sr.vercel.app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32120" y="1051560"/>
            <a:ext cx="6336792" cy="53035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1143000"/>
            <a:ext cx="3063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F5FBF"/>
                </a:solidFill>
                <a:latin typeface="Calibri"/>
              </a:rPr>
              <a:t>PIPELINE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389888"/>
            <a:ext cx="3063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Solid path = every line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LLM is reached only for new templates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12344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5B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Log Ingestion / Buffering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1874519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1: Fingerprint Cache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regex fast path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25146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2a: Drain3 Template Mining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groups similar lines</a:t>
            </a:r>
          </a:p>
        </p:txBody>
      </p:sp>
      <p:sp>
        <p:nvSpPr>
          <p:cNvPr id="24" name="Diamond 23"/>
          <p:cNvSpPr/>
          <p:nvPr/>
        </p:nvSpPr>
        <p:spPr>
          <a:xfrm>
            <a:off x="5852159" y="3127248"/>
            <a:ext cx="2514600" cy="822960"/>
          </a:xfrm>
          <a:prstGeom prst="diamond">
            <a:avLst/>
          </a:prstGeom>
          <a:solidFill>
            <a:srgbClr val="FFF4E0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1E2530"/>
                </a:solidFill>
                <a:latin typeface="Calibri"/>
              </a:rPr>
              <a:t>Template already has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1E2530"/>
                </a:solidFill>
                <a:latin typeface="Calibri"/>
              </a:rPr>
              <a:t>a learned rule?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310128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scikit-learn FormatGate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known vs novel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3a: LLM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Discovery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once per template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8700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3b: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Quarantine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LLM only on graduation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5120640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Store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fingerprint + template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720" y="51206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2b: Execute Cached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zero LLM calls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5779008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4: Normalize to Common Schema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9460" y="1691640"/>
            <a:ext cx="0" cy="182879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109460" y="2331720"/>
            <a:ext cx="0" cy="18288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55180" y="2286000"/>
            <a:ext cx="5486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B6778"/>
                </a:solidFill>
                <a:latin typeface="Calibri"/>
              </a:rPr>
              <a:t>miss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109460" y="2971800"/>
            <a:ext cx="0" cy="15544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109460" y="3950208"/>
            <a:ext cx="0" cy="1170432"/>
          </a:xfrm>
          <a:prstGeom prst="line">
            <a:avLst/>
          </a:prstGeom>
          <a:ln w="25400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182612" y="438912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38A36"/>
                </a:solidFill>
                <a:latin typeface="Calibri"/>
              </a:rPr>
              <a:t>Yes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66760" y="3538728"/>
            <a:ext cx="640080" cy="0"/>
          </a:xfrm>
          <a:prstGeom prst="line">
            <a:avLst/>
          </a:prstGeom>
          <a:ln w="25400">
            <a:solidFill>
              <a:srgbClr val="F58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12480" y="329184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58220"/>
                </a:solidFill>
                <a:latin typeface="Calibri"/>
              </a:rPr>
              <a:t>No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445752" y="376732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584180" y="376732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0" y="3840480"/>
            <a:ext cx="14630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known / shadow mode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3840480"/>
            <a:ext cx="12344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novel + enforce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445752" y="472744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0584180" y="472744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8458200" y="5349240"/>
            <a:ext cx="548640" cy="0"/>
          </a:xfrm>
          <a:prstGeom prst="line">
            <a:avLst/>
          </a:prstGeom>
          <a:ln w="25400">
            <a:solidFill>
              <a:srgbClr val="0E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109460" y="5577840"/>
            <a:ext cx="0" cy="20116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365760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pytho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27632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32688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Python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Core language: </a:t>
            </a:r>
            <a:r>
              <a:rPr sz="850" b="0">
                <a:solidFill>
                  <a:srgbClr val="5F6B7A"/>
                </a:solidFill>
                <a:latin typeface="Calibri"/>
              </a:rPr>
              <a:t>simple, huge library support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39112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fastap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552" y="1627632"/>
            <a:ext cx="420624" cy="42062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2606040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FastAPI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06040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Web API: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and easy for any tool to send logs to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712464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03904" y="1627632"/>
            <a:ext cx="420624" cy="420624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Drain3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9392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Groups similar lines: </a:t>
            </a:r>
            <a:r>
              <a:rPr sz="850" b="0">
                <a:solidFill>
                  <a:srgbClr val="5F6B7A"/>
                </a:solidFill>
                <a:latin typeface="Calibri"/>
              </a:rPr>
              <a:t>learns log patterns on the fly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cikitlearn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478024"/>
            <a:ext cx="420624" cy="42062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32688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scikit-learn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ML model: </a:t>
            </a:r>
            <a:r>
              <a:rPr sz="850" b="0">
                <a:solidFill>
                  <a:srgbClr val="5F6B7A"/>
                </a:solidFill>
                <a:latin typeface="Calibri"/>
              </a:rPr>
              <a:t>spots new, unknown log formats cheaply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039112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googlegemini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3976" y="2441448"/>
            <a:ext cx="292608" cy="292608"/>
          </a:xfrm>
          <a:prstGeom prst="rect">
            <a:avLst/>
          </a:prstGeom>
        </p:spPr>
      </p:pic>
      <p:pic>
        <p:nvPicPr>
          <p:cNvPr id="65" name="Picture 64" descr="anthropic_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6856" y="2660904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606040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AI (LLM)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Writes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for new formats (Gemini, Groq, Claude)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712464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andas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3904" y="2478024"/>
            <a:ext cx="420624" cy="420624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279392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Pandas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79392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Data analysis: </a:t>
            </a:r>
            <a:r>
              <a:rPr sz="850" b="0">
                <a:solidFill>
                  <a:srgbClr val="5F6B7A"/>
                </a:solidFill>
                <a:latin typeface="Calibri"/>
              </a:rPr>
              <a:t>summarises log statistics &amp; reports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0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linux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" y="3291840"/>
            <a:ext cx="292608" cy="292608"/>
          </a:xfrm>
          <a:prstGeom prst="rect">
            <a:avLst/>
          </a:prstGeom>
        </p:spPr>
      </p:pic>
      <p:pic>
        <p:nvPicPr>
          <p:cNvPr id="74" name="Picture 73" descr="gnubash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" y="3511296"/>
            <a:ext cx="292608" cy="29260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932688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Linux / Bash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688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Collects system logs: </a:t>
            </a:r>
            <a:r>
              <a:rPr sz="850" b="0">
                <a:solidFill>
                  <a:srgbClr val="5F6B7A"/>
                </a:solidFill>
                <a:latin typeface="Calibri"/>
              </a:rPr>
              <a:t>runs on any Linux server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39112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vercel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30552" y="3328416"/>
            <a:ext cx="420624" cy="42062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2606040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Vercel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06040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Hosting: </a:t>
            </a:r>
            <a:r>
              <a:rPr sz="850" b="0">
                <a:solidFill>
                  <a:srgbClr val="5F6B7A"/>
                </a:solidFill>
                <a:latin typeface="Calibri"/>
              </a:rPr>
              <a:t>quick, free online prototype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712464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pstash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03904" y="3328416"/>
            <a:ext cx="420624" cy="420624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279392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Upstash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79392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Stores learned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cloud cache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5760" y="4462272"/>
            <a:ext cx="49377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① </a:t>
            </a:r>
            <a:r>
              <a:rPr sz="1200" b="1">
                <a:solidFill>
                  <a:srgbClr val="0B2A5B"/>
                </a:solidFill>
                <a:latin typeface="Calibri"/>
              </a:rPr>
              <a:t>Collect: </a:t>
            </a:r>
            <a:r>
              <a:rPr sz="1200" b="0">
                <a:solidFill>
                  <a:srgbClr val="1E2530"/>
                </a:solidFill>
                <a:latin typeface="Calibri"/>
              </a:rPr>
              <a:t>logs come in through the API or a Bash script.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② </a:t>
            </a:r>
            <a:r>
              <a:rPr sz="1200" b="1">
                <a:solidFill>
                  <a:srgbClr val="0B2A5B"/>
                </a:solidFill>
                <a:latin typeface="Calibri"/>
              </a:rPr>
              <a:t>Group: </a:t>
            </a:r>
            <a:r>
              <a:rPr sz="1200" b="0">
                <a:solidFill>
                  <a:srgbClr val="1E2530"/>
                </a:solidFill>
                <a:latin typeface="Calibri"/>
              </a:rPr>
              <a:t>similar lines are grouped into templates.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③ </a:t>
            </a:r>
            <a:r>
              <a:rPr sz="1200" b="1">
                <a:solidFill>
                  <a:srgbClr val="0B2A5B"/>
                </a:solidFill>
                <a:latin typeface="Calibri"/>
              </a:rPr>
              <a:t>Check: </a:t>
            </a:r>
            <a:r>
              <a:rPr sz="1200" b="0">
                <a:solidFill>
                  <a:srgbClr val="1E2530"/>
                </a:solidFill>
                <a:latin typeface="Calibri"/>
              </a:rPr>
              <a:t>ML decides: known format or brand new?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④ </a:t>
            </a:r>
            <a:r>
              <a:rPr sz="1200" b="1">
                <a:solidFill>
                  <a:srgbClr val="0B2A5B"/>
                </a:solidFill>
                <a:latin typeface="Calibri"/>
              </a:rPr>
              <a:t>Learn: </a:t>
            </a:r>
            <a:r>
              <a:rPr sz="1200" b="0">
                <a:solidFill>
                  <a:srgbClr val="1E2530"/>
                </a:solidFill>
                <a:latin typeface="Calibri"/>
              </a:rPr>
              <a:t>AI writes a rule once; it is reused forever.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⑤ </a:t>
            </a:r>
            <a:r>
              <a:rPr sz="1200" b="1">
                <a:solidFill>
                  <a:srgbClr val="0B2A5B"/>
                </a:solidFill>
                <a:latin typeface="Calibri"/>
              </a:rPr>
              <a:t>Output: </a:t>
            </a:r>
            <a:r>
              <a:rPr sz="1200" b="0">
                <a:solidFill>
                  <a:srgbClr val="1E2530"/>
                </a:solidFill>
                <a:latin typeface="Calibri"/>
              </a:rPr>
              <a:t>every log leaves in one clean, common format.</a:t>
            </a:r>
          </a:p>
        </p:txBody>
      </p:sp>
      <p:sp>
        <p:nvSpPr>
          <p:cNvPr id="87" name="Oval 86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88" name="Picture 87" descr="sih_icon_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8" name="Rectangle 5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5" name="Oval 5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6" name="Picture 55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1097280"/>
            <a:ext cx="3657600" cy="5193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65760" y="1097280"/>
            <a:ext cx="3657600" cy="457200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1097280"/>
            <a:ext cx="36576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FEASIBILITY  (Can it be built?)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1719072"/>
            <a:ext cx="3401568" cy="44622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Built on mature open-source tools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Python, FastAPI, Drain3 and scikit-learn are free and widely used, so nothing new has to be invented.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Low, predictable cost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AI is needed only when a new log format first appears; everyday logs reuse saved rules.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Fits into existing setups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Works alongside current tools; logs arrive through a simple web API or a small script.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Open data to build on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Public log datasets from the research community let us develop it without private data.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Gradual, low-risk adoption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Can run in watch-only 'shadow mode' next to current tools before teams rely on it.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Simple, modular design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Collect → group → learn → output: each part can be improved on its own.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65592" y="1097280"/>
            <a:ext cx="3703320" cy="5193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165592" y="1097280"/>
            <a:ext cx="3703320" cy="457200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65592" y="1097280"/>
            <a:ext cx="37033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VIABILITY  (Will it last?)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02752" y="1719072"/>
            <a:ext cx="3447288" cy="44622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Real need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CERT-In requires every organisation to keep 180 days of logs and report incidents within 6 hours.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Data stays in India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Runs on Indian cloud or fully on-premise servers, even in air-gapped networks.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Business model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Free open-source core, plus paid setup, support and training for government &amp; PSUs.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Grows easily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More logs do not mean more AI cost: each new format is learned only once and reused.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Wide market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Every bank, power utility, telecom operator and ministry produces huge, mixed logs.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Clear rollout path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Pilot with one PSU, then sector security centres, then a nationwide NCIIPC rollout.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206240" y="1097280"/>
            <a:ext cx="3776472" cy="5193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206240" y="1097280"/>
            <a:ext cx="3776472" cy="457200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06240" y="1097280"/>
            <a:ext cx="3776472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CHALLENGES  →  OUR FIX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97680" y="1609344"/>
            <a:ext cx="1645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Risk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1609344"/>
            <a:ext cx="16916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How we handle it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15968" y="188366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343400" y="188366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AI service goes down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25312" y="188366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17920" y="188366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45352" y="188366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Switches to a backup AI, then to built-in rules; logs keep flowing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315968" y="275234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43400" y="275234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AI cost at large scale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25312" y="275234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275234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45352" y="275234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AI runs once per log format, not per line; most lines never need AI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315968" y="362102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43400" y="362102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A normal log looks 'new'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925312" y="362102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217920" y="362102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45352" y="362102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Held in a review queue, never dropped; accepted once confirmed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315968" y="448970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343400" y="448970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Brand-new systems appear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25312" y="448970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217920" y="448970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45352" y="448970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The format-check model is retrained with one command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315968" y="535838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343400" y="535838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Sensitive data in logs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25312" y="535838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17920" y="535838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245352" y="535838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Runs on-premise; self-hosted AI planned so nothing leaves the network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Rectangle 6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0" name="Oval 59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61" name="Picture 60" descr="sih_icon_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1051560"/>
            <a:ext cx="566928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Impact on NTRO &amp; NCIIPC</a:t>
            </a:r>
            <a:r>
              <a:rPr sz="1200" b="0">
                <a:solidFill>
                  <a:srgbClr val="5F6B7A"/>
                </a:solidFill>
                <a:latin typeface="Calibri"/>
              </a:rPr>
              <a:t>   our target users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233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5760" y="1572768"/>
            <a:ext cx="64008" cy="457200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1554480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1F5FBF"/>
                </a:solidFill>
                <a:latin typeface="Calibri"/>
              </a:rPr>
              <a:t>One view of all sectors: </a:t>
            </a:r>
            <a:r>
              <a:rPr sz="1150" b="0">
                <a:solidFill>
                  <a:srgbClr val="1E2530"/>
                </a:solidFill>
                <a:latin typeface="Calibri"/>
              </a:rPr>
              <a:t>logs from power, banking, telecom &amp; govt security centres arrive in one common format, so NCIIPC sees the full picture.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139696"/>
            <a:ext cx="64008" cy="457200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2121408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138A36"/>
                </a:solidFill>
                <a:latin typeface="Calibri"/>
              </a:rPr>
              <a:t>Faster threat detection: </a:t>
            </a:r>
            <a:r>
              <a:rPr sz="1150" b="0">
                <a:solidFill>
                  <a:srgbClr val="1E2530"/>
                </a:solidFill>
                <a:latin typeface="Calibri"/>
              </a:rPr>
              <a:t>analysts search one clean format instead of hundreds; events from different systems line up by time.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706624"/>
            <a:ext cx="64008" cy="45720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2688336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F58220"/>
                </a:solidFill>
                <a:latin typeface="Calibri"/>
              </a:rPr>
              <a:t>Unusual logs flagged: </a:t>
            </a:r>
            <a:r>
              <a:rPr sz="1150" b="0">
                <a:solidFill>
                  <a:srgbClr val="1E2530"/>
                </a:solidFill>
                <a:latin typeface="Calibri"/>
              </a:rPr>
              <a:t>a never-seen log format is flagged automatically; it may be a new device, a misconfiguration or tampering.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3273552"/>
            <a:ext cx="64008" cy="457200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3255264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6A3FB5"/>
                </a:solidFill>
                <a:latin typeface="Calibri"/>
              </a:rPr>
              <a:t>Sovereign &amp; offline: </a:t>
            </a:r>
            <a:r>
              <a:rPr sz="1150" b="0">
                <a:solidFill>
                  <a:srgbClr val="1E2530"/>
                </a:solidFill>
                <a:latin typeface="Calibri"/>
              </a:rPr>
              <a:t>runs on-premise with no internet, so sensitive logs never leave India (self-hosted AI planned).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63640" y="1051560"/>
            <a:ext cx="5577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Benefits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021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263640" y="1609344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1F5FBF"/>
                </a:solidFill>
                <a:latin typeface="Calibri"/>
              </a:rPr>
              <a:t>Social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26680" y="1554480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Safer power, banking and telecom services for citizens, thanks to faster attack detection.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63640" y="2176272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B35C00"/>
                </a:solidFill>
                <a:latin typeface="Calibri"/>
              </a:rPr>
              <a:t>Economic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26680" y="2121408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No costly paid tools or hand-written parsers; the AI bill stays tiny even as logs grow.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63640" y="2743200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138A36"/>
                </a:solidFill>
                <a:latin typeface="Calibri"/>
              </a:rPr>
              <a:t>Environmental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26680" y="2688336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99.5% fewer AI calls means far less computing power and energy used.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263640" y="3310128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6A3FB5"/>
                </a:solidFill>
                <a:latin typeface="Calibri"/>
              </a:rPr>
              <a:t>Strategic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726680" y="3255264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Self-reliant and open-source; helps every organisation meet CERT-In's 180-day log rule.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3840480"/>
            <a:ext cx="114300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Same workload, three approaches</a:t>
            </a:r>
            <a:r>
              <a:rPr sz="1200" b="0">
                <a:solidFill>
                  <a:srgbClr val="5F6B7A"/>
                </a:solidFill>
                <a:latin typeface="Calibri"/>
              </a:rPr>
              <a:t>   a big organisation producing 1 million logs every day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02336" y="416052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5760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Cost for one year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Total spend to process the logs for 12 months</a:t>
            </a:r>
          </a:p>
        </p:txBody>
      </p:sp>
      <p:graphicFrame>
        <p:nvGraphicFramePr>
          <p:cNvPr id="89" name="Chart 88"/>
          <p:cNvGraphicFramePr>
            <a:graphicFrameLocks noGrp="1"/>
          </p:cNvGraphicFramePr>
          <p:nvPr/>
        </p:nvGraphicFramePr>
        <p:xfrm>
          <a:off x="457200" y="4800600"/>
          <a:ext cx="3886200" cy="1389888"/>
        </p:xfrm>
        <a:graphic>
          <a:graphicData uri="http://schemas.openxmlformats.org/drawingml/2006/chart">
            <c:chart xmlns:c="http://schemas.openxmlformats.org/drawingml/2006/chart" r:id="rId15"/>
          </a:graphicData>
        </a:graphic>
      </p:graphicFrame>
      <p:sp>
        <p:nvSpPr>
          <p:cNvPr id="90" name="Rounded Rectangle 89"/>
          <p:cNvSpPr/>
          <p:nvPr/>
        </p:nvSpPr>
        <p:spPr>
          <a:xfrm>
            <a:off x="4434840" y="4617720"/>
            <a:ext cx="1481328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800" b="1">
                <a:solidFill>
                  <a:srgbClr val="138A36"/>
                </a:solidFill>
                <a:latin typeface="Calibri"/>
              </a:rPr>
              <a:t>80×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cheaper than AI on every line</a:t>
            </a:r>
          </a:p>
          <a:p>
            <a:pPr algn="ctr"/>
            <a:r>
              <a:rPr sz="1000" b="0">
                <a:solidFill>
                  <a:srgbClr val="1E2530"/>
                </a:solidFill>
                <a:latin typeface="Calibri"/>
              </a:rPr>
              <a:t>and 5× cheaper than manual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99632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36792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Share of logs sent to AI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36792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How many log lines need a paid AI service</a:t>
            </a:r>
          </a:p>
        </p:txBody>
      </p:sp>
      <p:graphicFrame>
        <p:nvGraphicFramePr>
          <p:cNvPr id="94" name="Chart 93"/>
          <p:cNvGraphicFramePr>
            <a:graphicFrameLocks noGrp="1"/>
          </p:cNvGraphicFramePr>
          <p:nvPr/>
        </p:nvGraphicFramePr>
        <p:xfrm>
          <a:off x="658368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95" name="TextBox 94"/>
          <p:cNvSpPr txBox="1"/>
          <p:nvPr/>
        </p:nvSpPr>
        <p:spPr>
          <a:xfrm>
            <a:off x="658368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C0392B"/>
                </a:solidFill>
                <a:latin typeface="Calibri"/>
              </a:rPr>
              <a:t>100%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6364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on every line</a:t>
            </a:r>
          </a:p>
        </p:txBody>
      </p:sp>
      <p:graphicFrame>
        <p:nvGraphicFramePr>
          <p:cNvPr id="97" name="Chart 96"/>
          <p:cNvGraphicFramePr>
            <a:graphicFrameLocks noGrp="1"/>
          </p:cNvGraphicFramePr>
          <p:nvPr/>
        </p:nvGraphicFramePr>
        <p:xfrm>
          <a:off x="822960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7"/>
          </a:graphicData>
        </a:graphic>
      </p:graphicFrame>
      <p:sp>
        <p:nvSpPr>
          <p:cNvPr id="98" name="TextBox 97"/>
          <p:cNvSpPr txBox="1"/>
          <p:nvPr/>
        </p:nvSpPr>
        <p:spPr>
          <a:xfrm>
            <a:off x="822960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138A36"/>
                </a:solidFill>
                <a:latin typeface="Calibri"/>
              </a:rPr>
              <a:t>0.5%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90956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195560" y="4617720"/>
            <a:ext cx="1554480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400" b="1">
                <a:solidFill>
                  <a:srgbClr val="138A36"/>
                </a:solidFill>
                <a:latin typeface="Calibri"/>
              </a:rPr>
              <a:t>99.5%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fewer AI calls</a:t>
            </a:r>
          </a:p>
          <a:p>
            <a:pPr algn="ctr"/>
            <a:r>
              <a:rPr sz="950" b="0">
                <a:solidFill>
                  <a:srgbClr val="1E2530"/>
                </a:solidFill>
                <a:latin typeface="Calibri"/>
              </a:rPr>
              <a:t>AI learns each format once; saved rules do the rest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65760" y="6245352"/>
            <a:ext cx="11503152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F6B7A"/>
                </a:solidFill>
                <a:latin typeface="Calibri"/>
              </a:rPr>
              <a:t>Illustrative estimate for ~50 log sources (engineer ₹5,000/day, typical AI pricing); actual results will vary by organisation.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" name="Rectangle 3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07007"/>
            <a:ext cx="73152" cy="156362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61288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Calibri"/>
              </a:rPr>
              <a:t>Research Papers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627632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 log parsing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He et al., IEEE ICWS 2017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Loghub real-world log datasets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IEEE ISSRE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Log-parser benchmark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ICSE-SEIP 2019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99232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73152" cy="156362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63239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Government &amp;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NCIIPC, NTRO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IT Act Sec. 70A</a:t>
            </a:r>
            <a:r>
              <a:rPr sz="1300" b="0">
                <a:solidFill>
                  <a:srgbClr val="1F5FBF"/>
                </a:solidFill>
                <a:latin typeface="Calibri"/>
                <a:hlinkClick r:id="rId9"/>
              </a:rPr>
              <a:t>  ·  nciipc.gov.in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CERT-In Directions 2022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keep logs 180 days</a:t>
            </a:r>
            <a:r>
              <a:rPr sz="1300" b="0">
                <a:solidFill>
                  <a:srgbClr val="1F5FBF"/>
                </a:solidFill>
                <a:latin typeface="Calibri"/>
                <a:hlinkClick r:id="rId3"/>
              </a:rPr>
              <a:t>  ·  cert-in.org.in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DPDP Act 2023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Govt. of India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901184"/>
            <a:ext cx="731520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010912"/>
            <a:ext cx="73152" cy="122529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965192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38A36"/>
                </a:solidFill>
                <a:latin typeface="Calibri"/>
              </a:rPr>
              <a:t>Standards &amp;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76672"/>
            <a:ext cx="6995160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Syslog (RFC 5424) · ISO 8601 time format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Drain3 library</a:t>
            </a:r>
            <a:r>
              <a:rPr sz="1300" b="0">
                <a:solidFill>
                  <a:srgbClr val="1F5FBF"/>
                </a:solidFill>
                <a:latin typeface="Calibri"/>
                <a:hlinkClick r:id="rId4"/>
              </a:rPr>
              <a:t>  ·  github.com/logpai/Drain3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Scikit-learn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Pedregosa et al., JMLR 2011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1097280"/>
            <a:ext cx="3959352" cy="5248656"/>
          </a:xfrm>
          <a:prstGeom prst="roundRect">
            <a:avLst>
              <a:gd name="adj" fmla="val 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1234440"/>
            <a:ext cx="395935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SCAN TO EXPLORE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828800"/>
            <a:ext cx="1508760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46719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794760"/>
            <a:ext cx="187451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7"/>
              </a:rPr>
              <a:t>sih2026-w6sr.vercel.app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94392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832" y="1828800"/>
            <a:ext cx="1508760" cy="1508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948672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SOURCE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1512" y="3794760"/>
            <a:ext cx="2057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8"/>
              </a:rPr>
              <a:t>github.com/agrwl-utkarsh/sih2026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20" y="4526280"/>
            <a:ext cx="3227832" cy="27432"/>
          </a:xfrm>
          <a:prstGeom prst="rect">
            <a:avLst/>
          </a:prstGeom>
          <a:solidFill>
            <a:srgbClr val="3A5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4754880"/>
            <a:ext cx="395935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5486400"/>
            <a:ext cx="395935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D6EA"/>
                </a:solidFill>
                <a:latin typeface="Calibri"/>
              </a:rPr>
              <a:t>Questions are welcome.</a:t>
            </a:r>
          </a:p>
        </p:txBody>
      </p:sp>
      <p:sp>
        <p:nvSpPr>
          <p:cNvPr id="35" name="Oval 3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36" name="Picture 35" descr="sih_icon_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