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B2A5B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118872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572768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956816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340864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724912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F58220"/>
                </a:solidFill>
                <a:latin typeface="Consolas"/>
              </a:rPr>
              <a:t>10101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108960"/>
            <a:ext cx="29260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F5FBF"/>
                </a:solidFill>
                <a:latin typeface="Consolas"/>
              </a:rPr>
              <a:t>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566160"/>
            <a:ext cx="29260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0B2A5B"/>
                </a:solidFill>
                <a:latin typeface="Times New Roman"/>
              </a:rPr>
              <a:t>SIH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99.5% of lines skip the LLM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Accuracy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36576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91640"/>
            <a:ext cx="336499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Proven technology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Built on free, trusted open-source tools.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Low cost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AI is used only for new log formats, so bills stay small.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Easy to adopt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Connect any log source; no parser writing needed.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available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Uses public log datasets; no private data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5592" y="1097280"/>
            <a:ext cx="370332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691640"/>
            <a:ext cx="341071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CERT-In asks every organisation to keep 180 days of logs.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Can run on Indian / on-premise servers.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Free open-source core + paid support for govt &amp; companies.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More logs do not mean more AI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097280"/>
            <a:ext cx="3776472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19072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1719072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6168" y="1719072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19072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1719072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Switches to a backup AI, then built-in rules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414015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0832" y="2414015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2414015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414015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352" y="2414015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AI runs once per log format, not per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3108960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0832" y="3108960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6168" y="3108960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108960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108960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Held for review, never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803904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0832" y="3803904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3803904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03904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2" y="3803904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Model retrained with one command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681728"/>
            <a:ext cx="11503152" cy="167335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2A5B"/>
                </a:solidFill>
                <a:latin typeface="Calibri"/>
              </a:rPr>
              <a:t>TESTED ON REAL-WORLD LOGS  (public Loghub datasets)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F5FBF"/>
                </a:solidFill>
                <a:latin typeface="Calibri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 formats identified correctly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64992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58220"/>
                </a:solidFill>
                <a:latin typeface="Calibri"/>
              </a:rPr>
              <a:t>95.2%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6432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new, unseen formats caught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81344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81344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38A36"/>
                </a:solidFill>
                <a:latin typeface="Calibri"/>
              </a:rPr>
              <a:t>99.5%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3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logs processed without calling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97696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97696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6A3FB5"/>
                </a:solidFill>
                <a:latin typeface="Calibri"/>
              </a:rPr>
              <a:t>0.28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to process one log 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943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Potential Impact on NTRO &amp; NCIIPC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0759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024128"/>
            <a:ext cx="58338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B6778"/>
                </a:solidFill>
                <a:latin typeface="Calibri"/>
              </a:rPr>
              <a:t>NCIIPC (a unit of NTRO) guards power, banking, telecom, transport &amp; govt systems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One view of all sectors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Logs from power, banking, telecom &amp; govt security centres become one common format.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4408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64408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4408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Faster threat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Analysts search one clean format, not hundreds; attack traces line up by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6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63056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Unusual formats flagged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A never-seen format is flagged automatically: new device, misconfig or tampering.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1704" y="1417320"/>
            <a:ext cx="278892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61704" y="1417320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1417320"/>
            <a:ext cx="278892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Sovereign &amp; air-gap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828800"/>
            <a:ext cx="2606040" cy="8412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2530"/>
                </a:solidFill>
                <a:latin typeface="Calibri"/>
              </a:rPr>
              <a:t>Runs on-premise with no internet; logs never leave India. (Self-hosted AI: planned)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798064"/>
            <a:ext cx="146304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For Govt &amp; PSUs: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F5FBF"/>
                </a:solidFill>
                <a:latin typeface="Calibri"/>
              </a:rPr>
              <a:t>✔ </a:t>
            </a:r>
            <a:r>
              <a:rPr sz="1050" b="1">
                <a:solidFill>
                  <a:srgbClr val="1F5FBF"/>
                </a:solidFill>
                <a:latin typeface="Calibri"/>
              </a:rPr>
              <a:t>Easy CERT-In compliance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34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4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8220"/>
                </a:solidFill>
                <a:latin typeface="Calibri"/>
              </a:rPr>
              <a:t>✔ </a:t>
            </a:r>
            <a:r>
              <a:rPr sz="1050" b="1">
                <a:solidFill>
                  <a:srgbClr val="F58220"/>
                </a:solidFill>
                <a:latin typeface="Calibri"/>
              </a:rPr>
              <a:t>Lower cost, no paid tools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38A36"/>
                </a:solidFill>
                <a:latin typeface="Calibri"/>
              </a:rPr>
              <a:t>✔ </a:t>
            </a:r>
            <a:r>
              <a:rPr sz="1050" b="1">
                <a:solidFill>
                  <a:srgbClr val="138A36"/>
                </a:solidFill>
                <a:latin typeface="Calibri"/>
              </a:rPr>
              <a:t>One format for NCIIPC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798064"/>
            <a:ext cx="2404872" cy="329184"/>
          </a:xfrm>
          <a:prstGeom prst="roundRect">
            <a:avLst>
              <a:gd name="adj" fmla="val 50000"/>
            </a:avLst>
          </a:prstGeom>
          <a:solidFill>
            <a:srgbClr val="F2F5FA"/>
          </a:solidFill>
          <a:ln w="12700">
            <a:solidFill>
              <a:srgbClr val="0E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2798064"/>
            <a:ext cx="2404872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0E8C8C"/>
                </a:solidFill>
                <a:latin typeface="Calibri"/>
              </a:rPr>
              <a:t>✔ </a:t>
            </a:r>
            <a:r>
              <a:rPr sz="1050" b="1">
                <a:solidFill>
                  <a:srgbClr val="0E8C8C"/>
                </a:solidFill>
                <a:latin typeface="Calibri"/>
              </a:rPr>
              <a:t>Self-reliant &amp; open-source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246120"/>
            <a:ext cx="115214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A5B"/>
                </a:solidFill>
                <a:latin typeface="Calibri"/>
              </a:rPr>
              <a:t>SAME WORKLOAD, THREE APPROACHES:  </a:t>
            </a:r>
            <a:r>
              <a:rPr sz="1300" b="0">
                <a:solidFill>
                  <a:srgbClr val="5B6778"/>
                </a:solidFill>
                <a:latin typeface="Calibri"/>
              </a:rPr>
              <a:t>1 million logs / day in a big organisation (~50 log sources)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65760" y="3630168"/>
          <a:ext cx="6720840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72768"/>
                <a:gridCol w="1572768"/>
                <a:gridCol w="1691640"/>
                <a:gridCol w="188366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Manual era</a:t>
                      </a:r>
                    </a:p>
                  </a:txBody>
                  <a:tcPr marL="45720" marR="45720" marT="9144" marB="9144" anchor="ctr">
                    <a:solidFill>
                      <a:srgbClr val="7F8C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AI on every line</a:t>
                      </a:r>
                    </a:p>
                  </a:txBody>
                  <a:tcPr marL="45720" marR="45720" marT="9144" marB="9144" anchor="ctr"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 solution</a:t>
                      </a:r>
                    </a:p>
                  </a:txBody>
                  <a:tcPr marL="45720" marR="45720" marT="9144" marB="9144" anchor="ctr">
                    <a:solidFill>
                      <a:srgbClr val="138A3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Setup before first use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C0392B"/>
                          </a:solidFill>
                          <a:latin typeface="Calibri"/>
                        </a:rPr>
                        <a:t>~2.5 months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~1 day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Time to process 1M logs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B35C00"/>
                          </a:solidFill>
                          <a:latin typeface="Calibri"/>
                        </a:rPr>
                        <a:t>~1 min*</a:t>
                      </a:r>
                    </a:p>
                  </a:txBody>
                  <a:tcPr marL="45720" marR="45720" marT="9144" marB="9144" anchor="ctr"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C0392B"/>
                          </a:solidFill>
                          <a:latin typeface="Calibri"/>
                        </a:rPr>
                        <a:t>~5.5 hours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~5 min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AI calls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Calibri"/>
                        </a:rPr>
                        <a:t>1,000,000 / day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38A36"/>
                          </a:solidFill>
                          <a:latin typeface="Calibri"/>
                        </a:rPr>
                        <a:t>~2,000 once, then ~50 / day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Running cost / day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B35C00"/>
                          </a:solidFill>
                          <a:latin typeface="Calibri"/>
                        </a:rPr>
                        <a:t>~₹1,000</a:t>
                      </a:r>
                    </a:p>
                  </a:txBody>
                  <a:tcPr marL="45720" marR="45720" marT="9144" marB="9144" anchor="ctr"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C0392B"/>
                          </a:solidFill>
                          <a:latin typeface="Calibri"/>
                        </a:rPr>
                        <a:t>~₹29,000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38A36"/>
                          </a:solidFill>
                          <a:latin typeface="Calibri"/>
                        </a:rPr>
                        <a:t>~₹340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B2A5B"/>
                          </a:solidFill>
                          <a:latin typeface="Calibri"/>
                        </a:rPr>
                        <a:t>New log format arrives</a:t>
                      </a:r>
                    </a:p>
                  </a:txBody>
                  <a:tcPr marL="45720" marR="45720" marT="9144" marB="9144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Calibri"/>
                        </a:rPr>
                        <a:t>Breaks until fixed</a:t>
                      </a:r>
                    </a:p>
                  </a:txBody>
                  <a:tcPr marL="45720" marR="45720" marT="9144" marB="9144" anchor="ctr"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B35C00"/>
                          </a:solidFill>
                          <a:latin typeface="Calibri"/>
                        </a:rPr>
                        <a:t>Handled, pays per line</a:t>
                      </a:r>
                    </a:p>
                  </a:txBody>
                  <a:tcPr marL="45720" marR="45720" marT="9144" marB="9144" anchor="ctr"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38A36"/>
                          </a:solidFill>
                          <a:latin typeface="Calibri"/>
                        </a:rPr>
                        <a:t>Learned once, automatically</a:t>
                      </a:r>
                    </a:p>
                  </a:txBody>
                  <a:tcPr marL="45720" marR="45720" marT="9144" marB="9144" anchor="ctr">
                    <a:solidFill>
                      <a:srgbClr val="E8F5E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7269480" y="3593591"/>
          <a:ext cx="4599432" cy="25786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365760" y="6181344"/>
            <a:ext cx="1150315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B6778"/>
                </a:solidFill>
                <a:latin typeface="Calibri"/>
              </a:rPr>
              <a:t>* known formats only. Illustrative estimate: ~2,000 log templates · engineer ₹5,000/day · AI at ~$0.30 / $2.50 per 1M input/output tokens, ~400 tokens per log, ₹85/$ · our speed (0.28 ms/log) and AI-call rate measured in our benchmark.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74320"/>
            <a:ext cx="1737360" cy="50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E253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04120" y="164592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SMART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4120" y="384048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0B2A5B"/>
                </a:solidFill>
                <a:latin typeface="Calibri"/>
              </a:rPr>
              <a:t>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04120" y="603503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932688"/>
            <a:ext cx="11548872" cy="27432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6492240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5B6778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08760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Drain: online log parsing </a:t>
            </a:r>
            <a:r>
              <a:rPr sz="1200" b="0">
                <a:solidFill>
                  <a:srgbClr val="1E2530"/>
                </a:solidFill>
                <a:latin typeface="Calibri"/>
              </a:rPr>
              <a:t>(He et al., IEEE ICWS 2017): the grouping method we use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Benchmarks for automated log parsing </a:t>
            </a:r>
            <a:r>
              <a:rPr sz="1200" b="0">
                <a:solidFill>
                  <a:srgbClr val="1E2530"/>
                </a:solidFill>
                <a:latin typeface="Calibri"/>
              </a:rPr>
              <a:t>(Zhu et al., ICSE-SEIP 2019): how we measure accuracy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Loghub: real-world log datasets </a:t>
            </a:r>
            <a:r>
              <a:rPr sz="1200" b="0">
                <a:solidFill>
                  <a:srgbClr val="1E2530"/>
                </a:solidFill>
                <a:latin typeface="Calibri"/>
              </a:rPr>
              <a:t>(Zhu et al., IEEE ISSRE 2023): our test data · </a:t>
            </a:r>
            <a:r>
              <a:rPr sz="1200" b="0">
                <a:solidFill>
                  <a:srgbClr val="1F5FBF"/>
                </a:solidFill>
                <a:latin typeface="Calibri"/>
                <a:hlinkClick r:id="rId2"/>
              </a:rPr>
              <a:t>github.com/logpai/loghub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5FBF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Scikit-learn </a:t>
            </a:r>
            <a:r>
              <a:rPr sz="1200" b="0">
                <a:solidFill>
                  <a:srgbClr val="1E2530"/>
                </a:solidFill>
                <a:latin typeface="Calibri"/>
              </a:rPr>
              <a:t>(Pedregosa et al., JMLR 2011): our machine-learning library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1071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NCIIPC, a unit of NTRO </a:t>
            </a:r>
            <a:r>
              <a:rPr sz="1200" b="0">
                <a:solidFill>
                  <a:srgbClr val="1E2530"/>
                </a:solidFill>
                <a:latin typeface="Calibri"/>
              </a:rPr>
              <a:t>(IT Act 2000, Section 70A): protects Critical Information Infrastructure · </a:t>
            </a:r>
            <a:r>
              <a:rPr sz="1200" b="0">
                <a:solidFill>
                  <a:srgbClr val="1F5FBF"/>
                </a:solidFill>
                <a:latin typeface="Calibri"/>
                <a:hlinkClick r:id="rId9"/>
              </a:rPr>
              <a:t>nciipc.gov.in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NCIIPC guidelines </a:t>
            </a:r>
            <a:r>
              <a:rPr sz="1200" b="0">
                <a:solidFill>
                  <a:srgbClr val="1E2530"/>
                </a:solidFill>
                <a:latin typeface="Calibri"/>
              </a:rPr>
              <a:t>for protecting Critical Information Infrastructure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CERT-In Directions, 28 Apr 2022: </a:t>
            </a:r>
            <a:r>
              <a:rPr sz="1200" b="0">
                <a:solidFill>
                  <a:srgbClr val="1E2530"/>
                </a:solidFill>
                <a:latin typeface="Calibri"/>
              </a:rPr>
              <a:t>keep 180 days of logs · </a:t>
            </a:r>
            <a:r>
              <a:rPr sz="1200" b="0">
                <a:solidFill>
                  <a:srgbClr val="1F5FBF"/>
                </a:solidFill>
                <a:latin typeface="Calibri"/>
                <a:hlinkClick r:id="rId3"/>
              </a:rPr>
              <a:t>cert-in.org.in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Digital Personal Data Protection Act, 2023 </a:t>
            </a:r>
            <a:r>
              <a:rPr sz="1200" b="0">
                <a:solidFill>
                  <a:srgbClr val="1E2530"/>
                </a:solidFill>
                <a:latin typeface="Calibri"/>
              </a:rPr>
              <a:t>(Govt. of India)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12664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Log standards: </a:t>
            </a:r>
            <a:r>
              <a:rPr sz="1200" b="0">
                <a:solidFill>
                  <a:srgbClr val="1E2530"/>
                </a:solidFill>
                <a:latin typeface="Calibri"/>
              </a:rPr>
              <a:t>Syslog (RFC 5424 / 3164), CEF, ISO 8601 timestamps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Drain3 library: </a:t>
            </a:r>
            <a:r>
              <a:rPr sz="1200" b="0">
                <a:solidFill>
                  <a:srgbClr val="1E2530"/>
                </a:solidFill>
                <a:latin typeface="Calibri"/>
              </a:rPr>
              <a:t/>
            </a:r>
            <a:r>
              <a:rPr sz="1200" b="0">
                <a:solidFill>
                  <a:srgbClr val="1F5FBF"/>
                </a:solidFill>
                <a:latin typeface="Calibri"/>
                <a:hlinkClick r:id="rId4"/>
              </a:rPr>
              <a:t>github.com/logpai/Drain3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38A36"/>
                </a:solidFill>
                <a:latin typeface="Calibri"/>
              </a:rPr>
              <a:t>▪ </a:t>
            </a:r>
            <a:r>
              <a:rPr sz="1200" b="1">
                <a:solidFill>
                  <a:srgbClr val="0B2A5B"/>
                </a:solidFill>
                <a:latin typeface="Calibri"/>
              </a:rPr>
              <a:t>Existing tools studied: </a:t>
            </a:r>
            <a:r>
              <a:rPr sz="1200" b="0">
                <a:solidFill>
                  <a:srgbClr val="1E2530"/>
                </a:solidFill>
                <a:latin typeface="Calibri"/>
              </a:rPr>
              <a:t>Logstash, Fluentd and paid SIEMs; all need manual setup per log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105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02952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5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