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A5B"/>
                </a:solidFill>
              </a:rPr>
              <a:t>12-month total cost (₹ lakh, log scale)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era</c:v>
                </c:pt>
              </c:strCache>
            </c:strRef>
          </c:tx>
          <c:spPr>
            <a:ln w="31750">
              <a:solidFill>
                <a:srgbClr val="7F8C8D"/>
              </a:solidFill>
            </a:ln>
          </c:spPr>
          <c:marker>
            <c:size val="4"/>
            <c:spPr>
              <a:solidFill>
                <a:srgbClr val="7F8C8D"/>
              </a:solidFill>
              <a:ln>
                <a:solidFill>
                  <a:srgbClr val="7F8C8D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7F8C8D"/>
                        </a:solidFill>
                      </a:rPr>
                      <a:t>₹6.1 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2.8</c:v>
                </c:pt>
                <c:pt idx="1">
                  <c:v>3.1</c:v>
                </c:pt>
                <c:pt idx="2">
                  <c:v>3.4</c:v>
                </c:pt>
                <c:pt idx="3">
                  <c:v>3.7</c:v>
                </c:pt>
                <c:pt idx="4">
                  <c:v>4.0</c:v>
                </c:pt>
                <c:pt idx="5">
                  <c:v>4.3</c:v>
                </c:pt>
                <c:pt idx="6">
                  <c:v>4.6</c:v>
                </c:pt>
                <c:pt idx="7">
                  <c:v>4.9</c:v>
                </c:pt>
                <c:pt idx="8">
                  <c:v>5.2</c:v>
                </c:pt>
                <c:pt idx="9">
                  <c:v>5.5</c:v>
                </c:pt>
                <c:pt idx="10">
                  <c:v>5.8</c:v>
                </c:pt>
                <c:pt idx="11">
                  <c:v>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on every line</c:v>
                </c:pt>
              </c:strCache>
            </c:strRef>
          </c:tx>
          <c:spPr>
            <a:ln w="31750">
              <a:solidFill>
                <a:srgbClr val="C0392B"/>
              </a:solidFill>
            </a:ln>
          </c:spPr>
          <c:marker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C0392B"/>
                        </a:solidFill>
                      </a:rPr>
                      <a:t>₹1.04 Cr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8.67</c:v>
                </c:pt>
                <c:pt idx="1">
                  <c:v>17.34</c:v>
                </c:pt>
                <c:pt idx="2">
                  <c:v>26.01</c:v>
                </c:pt>
                <c:pt idx="3">
                  <c:v>34.68</c:v>
                </c:pt>
                <c:pt idx="4">
                  <c:v>43.35</c:v>
                </c:pt>
                <c:pt idx="5">
                  <c:v>52.02</c:v>
                </c:pt>
                <c:pt idx="6">
                  <c:v>60.69</c:v>
                </c:pt>
                <c:pt idx="7">
                  <c:v>69.36</c:v>
                </c:pt>
                <c:pt idx="8">
                  <c:v>78.03</c:v>
                </c:pt>
                <c:pt idx="9">
                  <c:v>86.7</c:v>
                </c:pt>
                <c:pt idx="10">
                  <c:v>95.37</c:v>
                </c:pt>
                <c:pt idx="11">
                  <c:v>104.04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solution</c:v>
                </c:pt>
              </c:strCache>
            </c:strRef>
          </c:tx>
          <c:spPr>
            <a:ln w="31750">
              <a:solidFill>
                <a:srgbClr val="138A36"/>
              </a:solidFill>
            </a:ln>
          </c:spPr>
          <c:marker>
            <c:size val="4"/>
            <c:spPr>
              <a:solidFill>
                <a:srgbClr val="138A36"/>
              </a:solidFill>
              <a:ln>
                <a:solidFill>
                  <a:srgbClr val="138A36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38A36"/>
                        </a:solidFill>
                      </a:rPr>
                      <a:t>₹1.3 L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0.151</c:v>
                </c:pt>
                <c:pt idx="1">
                  <c:v>0.253</c:v>
                </c:pt>
                <c:pt idx="2">
                  <c:v>0.354</c:v>
                </c:pt>
                <c:pt idx="3">
                  <c:v>0.456</c:v>
                </c:pt>
                <c:pt idx="4">
                  <c:v>0.557</c:v>
                </c:pt>
                <c:pt idx="5">
                  <c:v>0.658</c:v>
                </c:pt>
                <c:pt idx="6">
                  <c:v>0.76</c:v>
                </c:pt>
                <c:pt idx="7">
                  <c:v>0.861</c:v>
                </c:pt>
                <c:pt idx="8">
                  <c:v>0.963</c:v>
                </c:pt>
                <c:pt idx="9">
                  <c:v>1.064</c:v>
                </c:pt>
                <c:pt idx="10">
                  <c:v>1.165</c:v>
                </c:pt>
                <c:pt idx="11">
                  <c:v>1.267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.0"/>
          <c:min val="0.1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A5B"/>
                </a:solidFill>
              </a:rPr>
              <a:t>12-month total cost (₹ lakh, log scale)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era</c:v>
                </c:pt>
              </c:strCache>
            </c:strRef>
          </c:tx>
          <c:spPr>
            <a:ln w="31750">
              <a:solidFill>
                <a:srgbClr val="7F8C8D"/>
              </a:solidFill>
            </a:ln>
          </c:spPr>
          <c:marker>
            <c:size val="4"/>
            <c:spPr>
              <a:solidFill>
                <a:srgbClr val="7F8C8D"/>
              </a:solidFill>
              <a:ln>
                <a:solidFill>
                  <a:srgbClr val="7F8C8D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7F8C8D"/>
                        </a:solidFill>
                      </a:rPr>
                      <a:t>₹6.1 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2.8</c:v>
                </c:pt>
                <c:pt idx="1">
                  <c:v>3.1</c:v>
                </c:pt>
                <c:pt idx="2">
                  <c:v>3.4</c:v>
                </c:pt>
                <c:pt idx="3">
                  <c:v>3.7</c:v>
                </c:pt>
                <c:pt idx="4">
                  <c:v>4.0</c:v>
                </c:pt>
                <c:pt idx="5">
                  <c:v>4.3</c:v>
                </c:pt>
                <c:pt idx="6">
                  <c:v>4.6</c:v>
                </c:pt>
                <c:pt idx="7">
                  <c:v>4.9</c:v>
                </c:pt>
                <c:pt idx="8">
                  <c:v>5.2</c:v>
                </c:pt>
                <c:pt idx="9">
                  <c:v>5.5</c:v>
                </c:pt>
                <c:pt idx="10">
                  <c:v>5.8</c:v>
                </c:pt>
                <c:pt idx="11">
                  <c:v>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on every line</c:v>
                </c:pt>
              </c:strCache>
            </c:strRef>
          </c:tx>
          <c:spPr>
            <a:ln w="31750">
              <a:solidFill>
                <a:srgbClr val="C0392B"/>
              </a:solidFill>
            </a:ln>
          </c:spPr>
          <c:marker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C0392B"/>
                        </a:solidFill>
                      </a:rPr>
                      <a:t>₹1.04 Cr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8.67</c:v>
                </c:pt>
                <c:pt idx="1">
                  <c:v>17.34</c:v>
                </c:pt>
                <c:pt idx="2">
                  <c:v>26.01</c:v>
                </c:pt>
                <c:pt idx="3">
                  <c:v>34.68</c:v>
                </c:pt>
                <c:pt idx="4">
                  <c:v>43.35</c:v>
                </c:pt>
                <c:pt idx="5">
                  <c:v>52.02</c:v>
                </c:pt>
                <c:pt idx="6">
                  <c:v>60.69</c:v>
                </c:pt>
                <c:pt idx="7">
                  <c:v>69.36</c:v>
                </c:pt>
                <c:pt idx="8">
                  <c:v>78.03</c:v>
                </c:pt>
                <c:pt idx="9">
                  <c:v>86.7</c:v>
                </c:pt>
                <c:pt idx="10">
                  <c:v>95.37</c:v>
                </c:pt>
                <c:pt idx="11">
                  <c:v>104.04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solution</c:v>
                </c:pt>
              </c:strCache>
            </c:strRef>
          </c:tx>
          <c:spPr>
            <a:ln w="31750">
              <a:solidFill>
                <a:srgbClr val="138A36"/>
              </a:solidFill>
            </a:ln>
          </c:spPr>
          <c:marker>
            <c:size val="4"/>
            <c:spPr>
              <a:solidFill>
                <a:srgbClr val="138A36"/>
              </a:solidFill>
              <a:ln>
                <a:solidFill>
                  <a:srgbClr val="138A36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38A36"/>
                        </a:solidFill>
                      </a:rPr>
                      <a:t>₹1.3 L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0.151</c:v>
                </c:pt>
                <c:pt idx="1">
                  <c:v>0.253</c:v>
                </c:pt>
                <c:pt idx="2">
                  <c:v>0.354</c:v>
                </c:pt>
                <c:pt idx="3">
                  <c:v>0.456</c:v>
                </c:pt>
                <c:pt idx="4">
                  <c:v>0.557</c:v>
                </c:pt>
                <c:pt idx="5">
                  <c:v>0.658</c:v>
                </c:pt>
                <c:pt idx="6">
                  <c:v>0.76</c:v>
                </c:pt>
                <c:pt idx="7">
                  <c:v>0.861</c:v>
                </c:pt>
                <c:pt idx="8">
                  <c:v>0.963</c:v>
                </c:pt>
                <c:pt idx="9">
                  <c:v>1.064</c:v>
                </c:pt>
                <c:pt idx="10">
                  <c:v>1.165</c:v>
                </c:pt>
                <c:pt idx="11">
                  <c:v>1.267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.0"/>
          <c:min val="0.1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7F8C8D"/>
                        </a:solidFill>
                      </a:rPr>
                      <a:t>5×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C0392B"/>
                        </a:solidFill>
                      </a:rPr>
                      <a:t>80×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38A36"/>
                        </a:solidFill>
                      </a:rPr>
                      <a:t>1×  lowest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7F8C8D"/>
                        </a:solidFill>
                      </a:rPr>
                      <a:t>5× faster*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C0392B"/>
                        </a:solidFill>
                      </a:rPr>
                      <a:t>70× slower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38A36"/>
                        </a:solidFill>
                      </a:rPr>
                      <a:t>1×  ~5 min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70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DECE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AI</c:v>
                </c:pt>
                <c:pt idx="1">
                  <c:v>No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F5822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F5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AI</c:v>
                </c:pt>
                <c:pt idx="1">
                  <c:v>No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99.5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7F8C8D"/>
                        </a:solidFill>
                      </a:rPr>
                      <a:t>5×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C0392B"/>
                        </a:solidFill>
                      </a:rPr>
                      <a:t>80×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38A36"/>
                        </a:solidFill>
                      </a:rPr>
                      <a:t>1×  lowest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7F8C8D"/>
                        </a:solidFill>
                      </a:rPr>
                      <a:t>5× faster*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C0392B"/>
                        </a:solidFill>
                      </a:rPr>
                      <a:t>70× slower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38A36"/>
                        </a:solidFill>
                      </a:rPr>
                      <a:t>1×  ~5 min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70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DECE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AI</c:v>
                </c:pt>
                <c:pt idx="1">
                  <c:v>No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F5822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F5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AI</c:v>
                </c:pt>
                <c:pt idx="1">
                  <c:v>No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99.5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7F8C8D"/>
                        </a:solidFill>
                      </a:rPr>
                      <a:t>5×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C0392B"/>
                        </a:solidFill>
                      </a:rPr>
                      <a:t>80×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38A36"/>
                        </a:solidFill>
                      </a:rPr>
                      <a:t>1×  lowest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DECE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F5822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F5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99.5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7F8C8D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138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7F8C8D"/>
                        </a:solidFill>
                      </a:rPr>
                      <a:t>5×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C0392B"/>
                        </a:solidFill>
                      </a:rPr>
                      <a:t>80× costlier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38A36"/>
                        </a:solidFill>
                      </a:rPr>
                      <a:t>1×  lowest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Manual era</c:v>
                </c:pt>
                <c:pt idx="1">
                  <c:v>AI on every line</c:v>
                </c:pt>
                <c:pt idx="2">
                  <c:v>Our solution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80</c:v>
                </c:pt>
                <c:pt idx="2">
                  <c:v>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BE8"/>
            </a:solidFill>
          </a:ln>
        </c:spPr>
        <c:txPr>
          <a:bodyPr/>
          <a:lstStyle/>
          <a:p>
            <a:pPr>
              <a:defRPr b="1">
                <a:solidFill>
                  <a:srgbClr val="0B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DECE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dPt>
            <c:idx val="0"/>
            <c:spPr>
              <a:solidFill>
                <a:srgbClr val="F5822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F5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99.5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ih2026-w6sr.vercel.app" TargetMode="External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h2026-w6sr.vercel.app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Relationship Id="rId9" Type="http://schemas.openxmlformats.org/officeDocument/2006/relationships/chart" Target="../charts/chart9.xml"/><Relationship Id="rId10" Type="http://schemas.openxmlformats.org/officeDocument/2006/relationships/chart" Target="../charts/chart10.xml"/><Relationship Id="rId11" Type="http://schemas.openxmlformats.org/officeDocument/2006/relationships/image" Target="../media/image13.png"/><Relationship Id="rId12" Type="http://schemas.openxmlformats.org/officeDocument/2006/relationships/chart" Target="../charts/chart11.xml"/><Relationship Id="rId13" Type="http://schemas.openxmlformats.org/officeDocument/2006/relationships/chart" Target="../charts/chart12.xml"/><Relationship Id="rId14" Type="http://schemas.openxmlformats.org/officeDocument/2006/relationships/chart" Target="../charts/chart13.xml"/><Relationship Id="rId15" Type="http://schemas.openxmlformats.org/officeDocument/2006/relationships/chart" Target="../charts/chart14.xml"/><Relationship Id="rId16" Type="http://schemas.openxmlformats.org/officeDocument/2006/relationships/chart" Target="../charts/chart15.xml"/><Relationship Id="rId17" Type="http://schemas.openxmlformats.org/officeDocument/2006/relationships/chart" Target="../charts/char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ogpai/loghub" TargetMode="External"/><Relationship Id="rId3" Type="http://schemas.openxmlformats.org/officeDocument/2006/relationships/hyperlink" Target="https://www.cert-in.org.in/PDF/CERT-In_Directions_70B_28.04.2022.pdf" TargetMode="External"/><Relationship Id="rId4" Type="http://schemas.openxmlformats.org/officeDocument/2006/relationships/hyperlink" Target="https://github.com/logpai/Drain3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sih2026-w6sr.vercel.app" TargetMode="External"/><Relationship Id="rId8" Type="http://schemas.openxmlformats.org/officeDocument/2006/relationships/hyperlink" Target="https://github.com/agrwl-utkarsh/sih2026" TargetMode="External"/><Relationship Id="rId9" Type="http://schemas.openxmlformats.org/officeDocument/2006/relationships/hyperlink" Target="https://nciipc.gov.in" TargetMode="External"/><Relationship Id="rId10" Type="http://schemas.openxmlformats.org/officeDocument/2006/relationships/image" Target="../media/image13.png"/><Relationship Id="rId11" Type="http://schemas.openxmlformats.org/officeDocument/2006/relationships/hyperlink" Target="https://www.data.gov.in/resource/year-wise-number-cyber-security-incidents-indian-computer-emergency-response-team-cert" TargetMode="External"/><Relationship Id="rId12" Type="http://schemas.openxmlformats.org/officeDocument/2006/relationships/hyperlink" Target="https://www.pib.gov.in/PressReleasePage.aspx?PRID=2217537" TargetMode="External"/><Relationship Id="rId13" Type="http://schemas.openxmlformats.org/officeDocument/2006/relationships/hyperlink" Target="https://www.indiacode.nic.in/handle/123456789/1999" TargetMode="External"/><Relationship Id="rId14" Type="http://schemas.openxmlformats.org/officeDocument/2006/relationships/hyperlink" Target="https://www.meity.gov.in/static/uploads/2024/06/2bf1f0e9f04e6fb4f8fef35e82c42aa5.pdf" TargetMode="External"/><Relationship Id="rId15" Type="http://schemas.openxmlformats.org/officeDocument/2006/relationships/hyperlink" Target="https://doi.org/10.1109/ICWS.2017.13" TargetMode="External"/><Relationship Id="rId16" Type="http://schemas.openxmlformats.org/officeDocument/2006/relationships/hyperlink" Target="https://arxiv.org/abs/2008.06448" TargetMode="External"/><Relationship Id="rId17" Type="http://schemas.openxmlformats.org/officeDocument/2006/relationships/hyperlink" Target="https://arxiv.org/abs/1811.03509" TargetMode="External"/><Relationship Id="rId18" Type="http://schemas.openxmlformats.org/officeDocument/2006/relationships/hyperlink" Target="https://datatracker.ietf.org/doc/html/rfc5424" TargetMode="External"/><Relationship Id="rId19" Type="http://schemas.openxmlformats.org/officeDocument/2006/relationships/hyperlink" Target="https://scikit-learn.org" TargetMode="External"/><Relationship Id="rId20" Type="http://schemas.openxmlformats.org/officeDocument/2006/relationships/hyperlink" Target="https://fastapi.tiangolo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Hexagon 33"/>
          <p:cNvSpPr/>
          <p:nvPr/>
        </p:nvSpPr>
        <p:spPr>
          <a:xfrm>
            <a:off x="7863840" y="3611880"/>
            <a:ext cx="777240" cy="822960"/>
          </a:xfrm>
          <a:prstGeom prst="hexagon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8412480" y="1280160"/>
            <a:ext cx="3520440" cy="3611880"/>
          </a:xfrm>
          <a:prstGeom prst="hexagon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8001000" y="960120"/>
            <a:ext cx="1097280" cy="1005840"/>
          </a:xfrm>
          <a:prstGeom prst="hexagon">
            <a:avLst/>
          </a:prstGeom>
          <a:noFill/>
          <a:ln w="635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7498079" cy="31089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Problem Statement ID – </a:t>
            </a:r>
            <a:r>
              <a:rPr sz="2000" b="0" i="0">
                <a:solidFill>
                  <a:srgbClr val="F58220"/>
                </a:solidFill>
                <a:latin typeface="Calibri"/>
              </a:rPr>
              <a:t>[Problem Statement ID]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Problem Statement Title – </a:t>
            </a:r>
            <a:r>
              <a:rPr sz="2000" b="0" i="0">
                <a:solidFill>
                  <a:srgbClr val="F58220"/>
                </a:solidFill>
                <a:latin typeface="Calibri"/>
              </a:rPr>
              <a:t>[Problem Statement Title]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Theme – </a:t>
            </a:r>
            <a:r>
              <a:rPr sz="2000" b="0" i="0">
                <a:solidFill>
                  <a:srgbClr val="F58220"/>
                </a:solidFill>
                <a:latin typeface="Calibri"/>
              </a:rPr>
              <a:t>[Theme]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PS Category – </a:t>
            </a:r>
            <a:r>
              <a:rPr sz="2000" b="0" i="0">
                <a:solidFill>
                  <a:srgbClr val="1E2530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Team ID – </a:t>
            </a:r>
            <a:r>
              <a:rPr sz="2000" b="0" i="0">
                <a:solidFill>
                  <a:srgbClr val="F58220"/>
                </a:solidFill>
                <a:latin typeface="Calibri"/>
              </a:rPr>
              <a:t>[Team ID]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B2A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0B2A5B"/>
                </a:solidFill>
                <a:latin typeface="Calibri"/>
              </a:rPr>
              <a:t>Team Name (Registered on portal) – </a:t>
            </a:r>
            <a:r>
              <a:rPr sz="2000" b="0" i="0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07492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38928"/>
            <a:ext cx="8686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58220"/>
                </a:solidFill>
                <a:latin typeface="Calibri"/>
              </a:rPr>
              <a:t>IDEA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13248"/>
            <a:ext cx="89611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Universal Log Pre-processing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8961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C9D6EA"/>
                </a:solidFill>
                <a:latin typeface="Calibri"/>
              </a:rPr>
              <a:t>Any log format in, one clean common format out: AI learns each new format once, then saved rules do the rest.</a:t>
            </a:r>
          </a:p>
        </p:txBody>
      </p:sp>
      <p:pic>
        <p:nvPicPr>
          <p:cNvPr id="28" name="Picture 27" descr="qr_1729944884779286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184648"/>
            <a:ext cx="1005840" cy="1005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8320" y="5303520"/>
            <a:ext cx="10972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Scan to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view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pic>
        <p:nvPicPr>
          <p:cNvPr id="30" name="Picture 29" descr="sih_ico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pic>
        <p:nvPicPr>
          <p:cNvPr id="35" name="Picture 34" descr="si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417320"/>
            <a:ext cx="2747243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Rectangle 5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92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IDEA /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Oval 50"/>
          <p:cNvSpPr/>
          <p:nvPr/>
        </p:nvSpPr>
        <p:spPr>
          <a:xfrm>
            <a:off x="320040" y="182880"/>
            <a:ext cx="1463040" cy="73152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pic>
        <p:nvPicPr>
          <p:cNvPr id="52" name="Picture 51" descr="sih_ico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1024128"/>
            <a:ext cx="11503152" cy="786384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2920" y="1161288"/>
            <a:ext cx="1417320" cy="512064"/>
          </a:xfrm>
          <a:prstGeom prst="roundRect">
            <a:avLst>
              <a:gd name="adj" fmla="val 30000"/>
            </a:avLst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1161288"/>
            <a:ext cx="14173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1042416"/>
            <a:ext cx="969264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Hundreds of log formats in, </a:t>
            </a:r>
            <a:r>
              <a:rPr sz="1600" b="1">
                <a:solidFill>
                  <a:srgbClr val="FFC98A"/>
                </a:solidFill>
                <a:latin typeface="Calibri"/>
              </a:rPr>
              <a:t>one clean format out</a:t>
            </a:r>
            <a:r>
              <a:rPr sz="1600" b="0">
                <a:solidFill>
                  <a:srgbClr val="FFFFFF"/>
                </a:solidFill>
                <a:latin typeface="Calibri"/>
              </a:rPr>
              <a:t>: AI learns each new format </a:t>
            </a:r>
            <a:r>
              <a:rPr sz="1600" b="1">
                <a:solidFill>
                  <a:srgbClr val="FFC98A"/>
                </a:solidFill>
                <a:latin typeface="Calibri"/>
              </a:rPr>
              <a:t>once</a:t>
            </a:r>
            <a:r>
              <a:rPr sz="1600" b="0">
                <a:solidFill>
                  <a:srgbClr val="FFFFFF"/>
                </a:solidFill>
                <a:latin typeface="Calibri"/>
              </a:rPr>
              <a:t>, and saved rules handle it from then on.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48840" y="5632704"/>
            <a:ext cx="2375154" cy="676656"/>
          </a:xfrm>
          <a:prstGeom prst="roundRect">
            <a:avLst>
              <a:gd name="adj" fmla="val 12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48840" y="5724144"/>
            <a:ext cx="64008" cy="493776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0" y="5632704"/>
            <a:ext cx="2192274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5FBF"/>
                </a:solidFill>
                <a:latin typeface="Calibri"/>
              </a:rPr>
              <a:t>Learns by itself</a:t>
            </a:r>
          </a:p>
          <a:p>
            <a:pPr algn="l"/>
            <a:r>
              <a:rPr sz="1100" b="0">
                <a:solidFill>
                  <a:srgbClr val="1E2530"/>
                </a:solidFill>
                <a:latin typeface="Calibri"/>
              </a:rPr>
              <a:t>no hand-written rules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97146" y="5632704"/>
            <a:ext cx="2375154" cy="676656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97146" y="5724144"/>
            <a:ext cx="64008" cy="4937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34306" y="5632704"/>
            <a:ext cx="2192274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Calibri"/>
              </a:rPr>
              <a:t>AI only when needed</a:t>
            </a:r>
          </a:p>
          <a:p>
            <a:pPr algn="l"/>
            <a:r>
              <a:rPr sz="1100" b="0">
                <a:solidFill>
                  <a:srgbClr val="1E2530"/>
                </a:solidFill>
                <a:latin typeface="Calibri"/>
              </a:rPr>
              <a:t>keeps cost 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45452" y="5632704"/>
            <a:ext cx="2375154" cy="676656"/>
          </a:xfrm>
          <a:prstGeom prst="roundRect">
            <a:avLst>
              <a:gd name="adj" fmla="val 12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45452" y="5724144"/>
            <a:ext cx="64008" cy="493776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82612" y="5632704"/>
            <a:ext cx="2192274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6A3FB5"/>
                </a:solidFill>
                <a:latin typeface="Calibri"/>
              </a:rPr>
              <a:t>Flags unknown formats</a:t>
            </a:r>
          </a:p>
          <a:p>
            <a:pPr algn="l"/>
            <a:r>
              <a:rPr sz="1100" b="0">
                <a:solidFill>
                  <a:srgbClr val="1E2530"/>
                </a:solidFill>
                <a:latin typeface="Calibri"/>
              </a:rPr>
              <a:t>sent for human review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93758" y="5632704"/>
            <a:ext cx="2375154" cy="676656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493758" y="5724144"/>
            <a:ext cx="64008" cy="493776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30918" y="5632704"/>
            <a:ext cx="2192274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38A36"/>
                </a:solidFill>
                <a:latin typeface="Calibri"/>
              </a:rPr>
              <a:t>Security-aware</a:t>
            </a:r>
          </a:p>
          <a:p>
            <a:pPr algn="l"/>
            <a:r>
              <a:rPr sz="1100" b="0">
                <a:solidFill>
                  <a:srgbClr val="1E2530"/>
                </a:solidFill>
                <a:latin typeface="Calibri"/>
              </a:rPr>
              <a:t>tags failed logins, IPs &amp; users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5760" y="1901952"/>
            <a:ext cx="7269480" cy="3639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65760" y="1901952"/>
            <a:ext cx="7269480" cy="365760"/>
          </a:xfrm>
          <a:prstGeom prst="roundRect">
            <a:avLst>
              <a:gd name="adj" fmla="val 1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1901952"/>
            <a:ext cx="6995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HOW IT WORKS</a:t>
            </a:r>
            <a:r>
              <a:rPr sz="1100" b="0">
                <a:solidFill>
                  <a:srgbClr val="DCE8FA"/>
                </a:solidFill>
                <a:latin typeface="Calibri"/>
              </a:rPr>
              <a:t>     three simple stages, from raw log to clean record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5488" y="2340864"/>
            <a:ext cx="7050024" cy="10972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5488" y="2340864"/>
            <a:ext cx="1024128" cy="1097280"/>
          </a:xfrm>
          <a:prstGeom prst="roundRect">
            <a:avLst>
              <a:gd name="adj" fmla="val 12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" y="2340864"/>
            <a:ext cx="1024128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COLLECT &amp;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91056" y="2386584"/>
            <a:ext cx="2921508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F5FBF"/>
                </a:solidFill>
                <a:latin typeface="Calibri"/>
              </a:rPr>
              <a:t>Multi-source collection: </a:t>
            </a:r>
            <a:r>
              <a:rPr sz="950" b="0">
                <a:solidFill>
                  <a:srgbClr val="1E2530"/>
                </a:solidFill>
                <a:latin typeface="Calibri"/>
              </a:rPr>
              <a:t>network devices, servers, apps, databases, cloud and IoT via a web API or Bash collector.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F5FBF"/>
                </a:solidFill>
                <a:latin typeface="Calibri"/>
              </a:rPr>
              <a:t>Automatic format identification: </a:t>
            </a:r>
            <a:r>
              <a:rPr sz="950" b="0">
                <a:solidFill>
                  <a:srgbClr val="1E2530"/>
                </a:solidFill>
                <a:latin typeface="Calibri"/>
              </a:rPr>
              <a:t>Syslog, JSON, CSV, CEF, LEEF, web and Java logs are recognised on their own.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67428" y="2386584"/>
            <a:ext cx="2921508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F5FBF"/>
                </a:solidFill>
                <a:latin typeface="Calibri"/>
              </a:rPr>
              <a:t>Unknown format support: </a:t>
            </a:r>
            <a:r>
              <a:rPr sz="950" b="0">
                <a:solidFill>
                  <a:srgbClr val="1E2530"/>
                </a:solidFill>
                <a:latin typeface="Calibri"/>
              </a:rPr>
              <a:t>new or proprietary formats (e.g. XML) are learned once; no parser has to be written.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F5FBF"/>
                </a:solidFill>
                <a:latin typeface="Calibri"/>
              </a:rPr>
              <a:t>Real-time processing: </a:t>
            </a:r>
            <a:r>
              <a:rPr sz="950" b="0">
                <a:solidFill>
                  <a:srgbClr val="1E2530"/>
                </a:solidFill>
                <a:latin typeface="Calibri"/>
              </a:rPr>
              <a:t>live syslog, Docker and Kubernetes streams are cleaned as they arrive.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F5FBF"/>
                </a:solidFill>
                <a:latin typeface="Calibri"/>
              </a:rPr>
              <a:t>Batch processing: </a:t>
            </a:r>
            <a:r>
              <a:rPr sz="950" b="0">
                <a:solidFill>
                  <a:srgbClr val="1E2530"/>
                </a:solidFill>
                <a:latin typeface="Calibri"/>
              </a:rPr>
              <a:t>large existing log files can be sent in bulk for one-time cleanup.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5488" y="3511296"/>
            <a:ext cx="7050024" cy="841248"/>
          </a:xfrm>
          <a:prstGeom prst="roundRect">
            <a:avLst>
              <a:gd name="adj" fmla="val 8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75488" y="3511296"/>
            <a:ext cx="1024128" cy="841248"/>
          </a:xfrm>
          <a:prstGeom prst="roundRect">
            <a:avLst>
              <a:gd name="adj" fmla="val 12000"/>
            </a:avLst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5488" y="3511296"/>
            <a:ext cx="1024128" cy="8412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UNDERSTAND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&amp; MAP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91056" y="3557016"/>
            <a:ext cx="2921508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6A3FB5"/>
                </a:solidFill>
                <a:latin typeface="Calibri"/>
              </a:rPr>
              <a:t>Universal parsing: </a:t>
            </a:r>
            <a:r>
              <a:rPr sz="950" b="0">
                <a:solidFill>
                  <a:srgbClr val="1E2530"/>
                </a:solidFill>
                <a:latin typeface="Calibri"/>
              </a:rPr>
              <a:t>key details are pulled from structured, semi-structured and free-text logs.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6A3FB5"/>
                </a:solidFill>
                <a:latin typeface="Calibri"/>
              </a:rPr>
              <a:t>Pattern extraction: </a:t>
            </a:r>
            <a:r>
              <a:rPr sz="950" b="0">
                <a:solidFill>
                  <a:srgbClr val="1E2530"/>
                </a:solidFill>
                <a:latin typeface="Calibri"/>
              </a:rPr>
              <a:t>repeating lines are grouped into patterns; millions of lines become a few thousand.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67428" y="3557016"/>
            <a:ext cx="2921508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6A3FB5"/>
                </a:solidFill>
                <a:latin typeface="Calibri"/>
              </a:rPr>
              <a:t>Intelligent field mapping: </a:t>
            </a:r>
            <a:r>
              <a:rPr sz="950" b="0">
                <a:solidFill>
                  <a:srgbClr val="1E2530"/>
                </a:solidFill>
                <a:latin typeface="Calibri"/>
              </a:rPr>
              <a:t>'lvl', 'level', 'severity' and other differently named fields land in one field.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6A3FB5"/>
                </a:solidFill>
                <a:latin typeface="Calibri"/>
              </a:rPr>
              <a:t>Field normalisation: </a:t>
            </a:r>
            <a:r>
              <a:rPr sz="950" b="0">
                <a:solidFill>
                  <a:srgbClr val="1E2530"/>
                </a:solidFill>
                <a:latin typeface="Calibri"/>
              </a:rPr>
              <a:t>times become UTC, severity one scale; event type, host, IPs and users are extracted.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5488" y="4425696"/>
            <a:ext cx="7050024" cy="1024128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5488" y="4425696"/>
            <a:ext cx="1024128" cy="1024128"/>
          </a:xfrm>
          <a:prstGeom prst="roundRect">
            <a:avLst>
              <a:gd name="adj" fmla="val 12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5488" y="4425696"/>
            <a:ext cx="1024128" cy="10241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CLEAN &amp;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91056" y="4471416"/>
            <a:ext cx="2921508" cy="9509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Error &amp; anomaly handling: </a:t>
            </a:r>
            <a:r>
              <a:rPr sz="950" b="0">
                <a:solidFill>
                  <a:srgbClr val="1E2530"/>
                </a:solidFill>
                <a:latin typeface="Calibri"/>
              </a:rPr>
              <a:t>missing fields get safe defaults; unusual lines are flagged for review.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Duplicate removal (planned): </a:t>
            </a:r>
            <a:r>
              <a:rPr sz="950" b="0">
                <a:solidFill>
                  <a:srgbClr val="1E2530"/>
                </a:solidFill>
                <a:latin typeface="Calibri"/>
              </a:rPr>
              <a:t>repeated entries are dropped to cut noise and storage.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Common schema: </a:t>
            </a:r>
            <a:r>
              <a:rPr sz="950" b="0">
                <a:solidFill>
                  <a:srgbClr val="1E2530"/>
                </a:solidFill>
                <a:latin typeface="Calibri"/>
              </a:rPr>
              <a:t>every log gets the same fields: time, source, event, severity and message.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7428" y="4471416"/>
            <a:ext cx="2921508" cy="9509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Standardised output: </a:t>
            </a:r>
            <a:r>
              <a:rPr sz="950" b="0">
                <a:solidFill>
                  <a:srgbClr val="1E2530"/>
                </a:solidFill>
                <a:latin typeface="Calibri"/>
              </a:rPr>
              <a:t>clean, machine-readable JSON for SIEM, monitoring &amp; analytics (connectors planned).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Easy integration: </a:t>
            </a:r>
            <a:r>
              <a:rPr sz="950" b="0">
                <a:solidFill>
                  <a:srgbClr val="1E2530"/>
                </a:solidFill>
                <a:latin typeface="Calibri"/>
              </a:rPr>
              <a:t>one simple interface for every downstream tool, whatever the original source.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18120" y="1901952"/>
            <a:ext cx="4050792" cy="3639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818120" y="1901952"/>
            <a:ext cx="4050792" cy="365760"/>
          </a:xfrm>
          <a:prstGeom prst="roundRect">
            <a:avLst>
              <a:gd name="adj" fmla="val 18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27848" y="1901952"/>
            <a:ext cx="38679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46136" y="2359152"/>
            <a:ext cx="3813048" cy="3136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Too many log formats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common formats are recognised instantly and new ones are learned automatically, so any source can be connected.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Parsers keep breaking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no hand-written parser code to write, fix or maintain; rules are created and saved by the system.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Slow, manual investigation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all logs share one clean, time-aligned and security-tagged format, so analysts search one place.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AI is slow &amp; costly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AI is used only once per new format, never per log line; everyday logs run on fast saved rules.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Messy, unreliable data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fields are standardised, gaps get safe defaults and the original line is always kept for audits.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Calibri"/>
              </a:rPr>
              <a:t>✖ </a:t>
            </a:r>
            <a:r>
              <a:rPr sz="1050" b="1">
                <a:solidFill>
                  <a:srgbClr val="C0392B"/>
                </a:solidFill>
                <a:latin typeface="Calibri"/>
              </a:rPr>
              <a:t>Compliance &amp; privacy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38A36"/>
                </a:solidFill>
                <a:latin typeface="Calibri"/>
              </a:rPr>
              <a:t>✔ </a:t>
            </a:r>
            <a:r>
              <a:rPr sz="950" b="0">
                <a:solidFill>
                  <a:srgbClr val="1E2530"/>
                </a:solidFill>
                <a:latin typeface="Calibri"/>
              </a:rPr>
              <a:t>clean records help meet CERT-In's 180-day log rule; can run on-premise with built-in rules (self-hosted AI planned).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5760" y="5632704"/>
            <a:ext cx="1691640" cy="676656"/>
          </a:xfrm>
          <a:prstGeom prst="roundRect">
            <a:avLst>
              <a:gd name="adj" fmla="val 1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5632704"/>
            <a:ext cx="1691640" cy="6766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INNOVATION &amp;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" name="Rectangle 8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92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4937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F5FBF"/>
                </a:solidFill>
                <a:latin typeface="Calibri"/>
              </a:rPr>
              <a:t>Technologies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353312"/>
            <a:ext cx="822960" cy="3200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65760" y="1444752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ytho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420624" cy="42062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2688" y="1499616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Python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1737360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Core language: </a:t>
            </a:r>
            <a:r>
              <a:rPr sz="850" b="0">
                <a:solidFill>
                  <a:srgbClr val="5F6B7A"/>
                </a:solidFill>
                <a:latin typeface="Calibri"/>
              </a:rPr>
              <a:t>simple, huge library support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39112" y="1444752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astap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1627632"/>
            <a:ext cx="420624" cy="42062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606040" y="1499616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FastAPI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1737360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Web API: </a:t>
            </a:r>
            <a:r>
              <a:rPr sz="850" b="0">
                <a:solidFill>
                  <a:srgbClr val="5F6B7A"/>
                </a:solidFill>
                <a:latin typeface="Calibri"/>
              </a:rPr>
              <a:t>fast and easy for any tool to send logs 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12464" y="1444752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803904" y="1627632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79392" y="1499616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Drain3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1737360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Groups similar lines: </a:t>
            </a:r>
            <a:r>
              <a:rPr sz="850" b="0">
                <a:solidFill>
                  <a:srgbClr val="5F6B7A"/>
                </a:solidFill>
                <a:latin typeface="Calibri"/>
              </a:rPr>
              <a:t>learns log patterns on the fly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2295144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cikitlearn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78024"/>
            <a:ext cx="420624" cy="42062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32688" y="2350008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scikit-learn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" y="2587752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ML model: </a:t>
            </a:r>
            <a:r>
              <a:rPr sz="850" b="0">
                <a:solidFill>
                  <a:srgbClr val="5F6B7A"/>
                </a:solidFill>
                <a:latin typeface="Calibri"/>
              </a:rPr>
              <a:t>spots new, unknown log formats cheaply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039112" y="2295144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googlegemini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976" y="2441448"/>
            <a:ext cx="292608" cy="292608"/>
          </a:xfrm>
          <a:prstGeom prst="rect">
            <a:avLst/>
          </a:prstGeom>
        </p:spPr>
      </p:pic>
      <p:pic>
        <p:nvPicPr>
          <p:cNvPr id="65" name="Picture 64" descr="anthropic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6856" y="2660904"/>
            <a:ext cx="292608" cy="2926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2606040" y="2350008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AI (LLM)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2587752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Writes rules: </a:t>
            </a:r>
            <a:r>
              <a:rPr sz="850" b="0">
                <a:solidFill>
                  <a:srgbClr val="5F6B7A"/>
                </a:solidFill>
                <a:latin typeface="Calibri"/>
              </a:rPr>
              <a:t>one rule per new log format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12464" y="2295144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panda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2478024"/>
            <a:ext cx="420624" cy="42062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279392" y="2350008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Pandas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79392" y="2587752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Quality reports: </a:t>
            </a:r>
            <a:r>
              <a:rPr sz="850" b="0">
                <a:solidFill>
                  <a:srgbClr val="5F6B7A"/>
                </a:solidFill>
                <a:latin typeface="Calibri"/>
              </a:rPr>
              <a:t>checks output quality offline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3145536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linux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3291840"/>
            <a:ext cx="292608" cy="292608"/>
          </a:xfrm>
          <a:prstGeom prst="rect">
            <a:avLst/>
          </a:prstGeom>
        </p:spPr>
      </p:pic>
      <p:pic>
        <p:nvPicPr>
          <p:cNvPr id="74" name="Picture 73" descr="gnubash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3511296"/>
            <a:ext cx="292608" cy="2926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32688" y="3200400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Linux / Bash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" y="3438144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Collects logs: </a:t>
            </a:r>
            <a:r>
              <a:rPr sz="850" b="0">
                <a:solidFill>
                  <a:srgbClr val="5F6B7A"/>
                </a:solidFill>
                <a:latin typeface="Calibri"/>
              </a:rPr>
              <a:t>syslog, journalctl, Docker, Kubernetes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039112" y="3145536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vercel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0552" y="3328416"/>
            <a:ext cx="420624" cy="42062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606040" y="3200400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Vercel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06040" y="3438144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Hosting: </a:t>
            </a:r>
            <a:r>
              <a:rPr sz="850" b="0">
                <a:solidFill>
                  <a:srgbClr val="5F6B7A"/>
                </a:solidFill>
                <a:latin typeface="Calibri"/>
              </a:rPr>
              <a:t>quick, free online prototype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712464" y="3145536"/>
            <a:ext cx="1591056" cy="786384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upstash_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03904" y="3328416"/>
            <a:ext cx="420624" cy="42062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279392" y="3200400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B2A5B"/>
                </a:solidFill>
                <a:latin typeface="Calibri"/>
              </a:rPr>
              <a:t>Upstash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79392" y="3438144"/>
            <a:ext cx="104241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5FBF"/>
                </a:solidFill>
                <a:latin typeface="Calibri"/>
              </a:rPr>
              <a:t>Stores learned rules: </a:t>
            </a:r>
            <a:r>
              <a:rPr sz="850" b="0">
                <a:solidFill>
                  <a:srgbClr val="5F6B7A"/>
                </a:solidFill>
                <a:latin typeface="Calibri"/>
              </a:rPr>
              <a:t>fast cloud cache</a:t>
            </a:r>
          </a:p>
        </p:txBody>
      </p:sp>
      <p:sp>
        <p:nvSpPr>
          <p:cNvPr id="87" name="Oval 86"/>
          <p:cNvSpPr/>
          <p:nvPr/>
        </p:nvSpPr>
        <p:spPr>
          <a:xfrm>
            <a:off x="320040" y="182880"/>
            <a:ext cx="1463040" cy="73152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pic>
        <p:nvPicPr>
          <p:cNvPr id="88" name="Picture 87" descr="sih_icon_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40873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B2A5B"/>
                </a:solidFill>
                <a:latin typeface="Calibri"/>
              </a:rPr>
              <a:t>Example: messy logs in → clean logs out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2336" y="4389120"/>
            <a:ext cx="822960" cy="4114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65760" y="4480560"/>
            <a:ext cx="4937760" cy="694944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4498848"/>
            <a:ext cx="47548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8E44AD"/>
                </a:solidFill>
                <a:latin typeface="Consolas"/>
              </a:rPr>
              <a:t>&lt;34&gt;Oct 11 22:14:15 srv1 sshd: Failed password for root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B35C00"/>
                </a:solidFill>
                <a:latin typeface="Consolas"/>
              </a:rPr>
              <a:t>{"t":"22:14:16Z","lvl":"ERROR","msg":"DB connection timeout"}</a:t>
            </a:r>
          </a:p>
          <a:p>
            <a:pPr algn="l"/>
            <a:r>
              <a:rPr sz="900" b="0">
                <a:solidFill>
                  <a:srgbClr val="1F5FBF"/>
                </a:solidFill>
                <a:latin typeface="Consolas"/>
              </a:rPr>
              <a:t>10.0.0.5 - [11/Oct/2026:22:14:17] "GET /login" 500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5175504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38A36"/>
                </a:solidFill>
                <a:latin typeface="Calibri"/>
              </a:rPr>
              <a:t>▼  one common format</a:t>
            </a:r>
          </a:p>
        </p:txBody>
      </p:sp>
      <p:sp>
        <p:nvSpPr>
          <p:cNvPr id="136" name="TextBox 94"/>
          <p:cNvSpPr txBox="1"/>
          <p:nvPr/>
        </p:nvSpPr>
        <p:spPr>
          <a:xfrm>
            <a:off x="365760" y="6153912"/>
            <a:ext cx="49377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555F6D"/>
                </a:solidFill>
                <a:latin typeface="Calibri"/>
              </a:rPr>
              <a:t>Every record also keeps the original line and extra fields (IPs, users, ports) for audits.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394960"/>
            <a:ext cx="713232" cy="201168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5394960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Time (UTC)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8992" y="5394960"/>
            <a:ext cx="640080" cy="201168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8992" y="5394960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19072" y="5394960"/>
            <a:ext cx="777240" cy="201168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99"/>
          <p:cNvSpPr/>
          <p:nvPr/>
        </p:nvSpPr>
        <p:spPr>
          <a:xfrm>
            <a:off x="2496312" y="5394960"/>
            <a:ext cx="1097280" cy="201168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719072" y="5394960"/>
            <a:ext cx="7772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29" name="TextBox 100"/>
          <p:cNvSpPr txBox="1"/>
          <p:nvPr/>
        </p:nvSpPr>
        <p:spPr>
          <a:xfrm>
            <a:off x="2496312" y="539496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Event tag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93592" y="5394960"/>
            <a:ext cx="1709928" cy="201168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3592" y="5394960"/>
            <a:ext cx="170992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596128"/>
            <a:ext cx="713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5596128"/>
            <a:ext cx="7132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22:14:15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8992" y="5596128"/>
            <a:ext cx="6400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78992" y="5596128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sshd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19072" y="5596128"/>
            <a:ext cx="77724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07"/>
          <p:cNvSpPr/>
          <p:nvPr/>
        </p:nvSpPr>
        <p:spPr>
          <a:xfrm>
            <a:off x="2496312" y="5596128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719072" y="5596128"/>
            <a:ext cx="7772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B35C00"/>
                </a:solidFill>
                <a:latin typeface="Calibri"/>
              </a:rPr>
              <a:t>WARNING</a:t>
            </a:r>
          </a:p>
        </p:txBody>
      </p:sp>
      <p:sp>
        <p:nvSpPr>
          <p:cNvPr id="131" name="TextBox 108"/>
          <p:cNvSpPr txBox="1"/>
          <p:nvPr/>
        </p:nvSpPr>
        <p:spPr>
          <a:xfrm>
            <a:off x="2496312" y="5596128"/>
            <a:ext cx="10972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A3FB5"/>
                </a:solidFill>
                <a:latin typeface="Calibri"/>
              </a:rPr>
              <a:t>auth_failure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93592" y="5596128"/>
            <a:ext cx="170992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3592" y="5596128"/>
            <a:ext cx="170992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Failed login (root)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5779008"/>
            <a:ext cx="713232" cy="182880"/>
          </a:xfrm>
          <a:prstGeom prst="rect">
            <a:avLst/>
          </a:prstGeom>
          <a:solidFill>
            <a:srgbClr val="F2F5FA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760" y="5779008"/>
            <a:ext cx="7132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22:14:16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78992" y="5779008"/>
            <a:ext cx="640080" cy="182880"/>
          </a:xfrm>
          <a:prstGeom prst="rect">
            <a:avLst/>
          </a:prstGeom>
          <a:solidFill>
            <a:srgbClr val="F2F5FA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78992" y="5779008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app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719072" y="5779008"/>
            <a:ext cx="777240" cy="182880"/>
          </a:xfrm>
          <a:prstGeom prst="rect">
            <a:avLst/>
          </a:prstGeom>
          <a:solidFill>
            <a:srgbClr val="F2F5FA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15"/>
          <p:cNvSpPr/>
          <p:nvPr/>
        </p:nvSpPr>
        <p:spPr>
          <a:xfrm>
            <a:off x="2496312" y="5779008"/>
            <a:ext cx="1097280" cy="182880"/>
          </a:xfrm>
          <a:prstGeom prst="rect">
            <a:avLst/>
          </a:prstGeom>
          <a:solidFill>
            <a:srgbClr val="F2F5FA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719072" y="5779008"/>
            <a:ext cx="7772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  <a:latin typeface="Calibri"/>
              </a:rPr>
              <a:t>ERROR</a:t>
            </a:r>
          </a:p>
        </p:txBody>
      </p:sp>
      <p:sp>
        <p:nvSpPr>
          <p:cNvPr id="133" name="TextBox 116"/>
          <p:cNvSpPr txBox="1"/>
          <p:nvPr/>
        </p:nvSpPr>
        <p:spPr>
          <a:xfrm>
            <a:off x="2496312" y="5779008"/>
            <a:ext cx="10972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A3FB5"/>
                </a:solidFill>
                <a:latin typeface="Calibri"/>
              </a:rPr>
              <a:t>connection_error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93592" y="5779008"/>
            <a:ext cx="1709928" cy="182880"/>
          </a:xfrm>
          <a:prstGeom prst="rect">
            <a:avLst/>
          </a:prstGeom>
          <a:solidFill>
            <a:srgbClr val="F2F5FA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93592" y="5779008"/>
            <a:ext cx="170992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DB connection timeout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5961888"/>
            <a:ext cx="713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5961888"/>
            <a:ext cx="7132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22:14:17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78992" y="5961888"/>
            <a:ext cx="6400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78992" y="5961888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web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719072" y="5961888"/>
            <a:ext cx="77724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23"/>
          <p:cNvSpPr/>
          <p:nvPr/>
        </p:nvSpPr>
        <p:spPr>
          <a:xfrm>
            <a:off x="2496312" y="5961888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719072" y="5961888"/>
            <a:ext cx="7772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  <a:latin typeface="Calibri"/>
              </a:rPr>
              <a:t>ERROR</a:t>
            </a:r>
          </a:p>
        </p:txBody>
      </p:sp>
      <p:sp>
        <p:nvSpPr>
          <p:cNvPr id="135" name="TextBox 124"/>
          <p:cNvSpPr txBox="1"/>
          <p:nvPr/>
        </p:nvSpPr>
        <p:spPr>
          <a:xfrm>
            <a:off x="2496312" y="5961888"/>
            <a:ext cx="10972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A3FB5"/>
                </a:solidFill>
                <a:latin typeface="Calibri"/>
              </a:rPr>
              <a:t>http_request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593592" y="5961888"/>
            <a:ext cx="170992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593592" y="5961888"/>
            <a:ext cx="170992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530"/>
                </a:solidFill>
                <a:latin typeface="Calibri"/>
              </a:rPr>
              <a:t>GET /login → 500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532120" y="1051560"/>
            <a:ext cx="6336792" cy="53035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669280" y="1106424"/>
            <a:ext cx="603504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r>
              <a:rPr sz="1300" b="1" i="0">
                <a:solidFill>
                  <a:srgbClr val="1F5FBF"/>
                </a:solidFill>
                <a:latin typeface="Calibri"/>
              </a:rPr>
              <a:t>METHODOLOGY: HOW EVERY LOG FLOWS</a:t>
            </a:r>
            <a:r>
              <a:rPr sz="950" b="0" i="1">
                <a:solidFill>
                  <a:srgbClr val="5B6573"/>
                </a:solidFill>
                <a:latin typeface="Calibri"/>
              </a:rPr>
              <a:t>    learn a format once, reuse it every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669280" y="146304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760720" y="155448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409944" y="1536192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1581912"/>
            <a:ext cx="237744" cy="237744"/>
          </a:xfrm>
          <a:prstGeom prst="rect">
            <a:avLst/>
          </a:prstGeom>
        </p:spPr>
      </p:pic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1581912"/>
            <a:ext cx="237744" cy="237744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1581912"/>
            <a:ext cx="237744" cy="237744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5742432" y="1892808"/>
            <a:ext cx="1545336" cy="5760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Logs arrive</a:t>
            </a:r>
          </a:p>
          <a:p>
            <a:r>
              <a:rPr sz="900" b="0" i="0">
                <a:solidFill>
                  <a:srgbClr val="F2F5FA"/>
                </a:solidFill>
                <a:latin typeface="Calibri"/>
              </a:rPr>
              <a:t>from servers, apps &amp; firewalls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854696" y="146304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946136" y="155448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1F5FBF"/>
                </a:solidFill>
                <a:latin typeface="Calibri"/>
              </a:rPr>
              <a:t>2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595360" y="1536192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581912"/>
            <a:ext cx="237744" cy="237744"/>
          </a:xfrm>
          <a:prstGeom prst="rect">
            <a:avLst/>
          </a:prstGeom>
        </p:spPr>
      </p:pic>
      <p:sp>
        <p:nvSpPr>
          <p:cNvPr id="150" name="Oval 149"/>
          <p:cNvSpPr/>
          <p:nvPr/>
        </p:nvSpPr>
        <p:spPr>
          <a:xfrm>
            <a:off x="8915400" y="1581912"/>
            <a:ext cx="237744" cy="23774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720" y="1581912"/>
            <a:ext cx="237744" cy="23774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7927848" y="1892808"/>
            <a:ext cx="1545336" cy="5760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Already known?</a:t>
            </a:r>
          </a:p>
          <a:p>
            <a:r>
              <a:rPr sz="900" b="0" i="0">
                <a:solidFill>
                  <a:srgbClr val="F2F5FA"/>
                </a:solidFill>
                <a:latin typeface="Calibri"/>
              </a:rPr>
              <a:t>is there a saved rule for this line or its pattern?</a:t>
            </a:r>
          </a:p>
        </p:txBody>
      </p:sp>
      <p:sp>
        <p:nvSpPr>
          <p:cNvPr id="153" name="Down Arrow 152"/>
          <p:cNvSpPr/>
          <p:nvPr/>
        </p:nvSpPr>
        <p:spPr>
          <a:xfrm>
            <a:off x="10085832" y="1463040"/>
            <a:ext cx="1600200" cy="2633472"/>
          </a:xfrm>
          <a:prstGeom prst="downArrow">
            <a:avLst>
              <a:gd name="adj1" fmla="val 72000"/>
              <a:gd name="adj2" fmla="val 28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314432" y="1600200"/>
            <a:ext cx="1143000" cy="17373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9F2D4"/>
                </a:solidFill>
                <a:latin typeface="Calibri"/>
              </a:rPr>
              <a:t>YES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FAST PATH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most logs go here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instant · no AI · no cost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596128" y="2688336"/>
            <a:ext cx="4023360" cy="2587752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19050">
            <a:solidFill>
              <a:srgbClr val="F283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5705856" y="5175504"/>
            <a:ext cx="2423160" cy="201168"/>
          </a:xfrm>
          <a:prstGeom prst="roundRect">
            <a:avLst>
              <a:gd name="adj" fmla="val 50000"/>
            </a:avLst>
          </a:prstGeom>
          <a:solidFill>
            <a:srgbClr val="F28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AI PATH · only for new formats, only once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854696" y="2798064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946136" y="288950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6A3FB5"/>
                </a:solidFill>
                <a:latin typeface="Calibri"/>
              </a:rPr>
              <a:t>3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44000" y="28712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916936"/>
            <a:ext cx="237744" cy="237744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927848" y="3227832"/>
            <a:ext cx="1545336" cy="5760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Familiar format?</a:t>
            </a:r>
          </a:p>
          <a:p>
            <a:r>
              <a:rPr sz="900" b="0" i="0">
                <a:solidFill>
                  <a:srgbClr val="F2F5FA"/>
                </a:solidFill>
                <a:latin typeface="Calibri"/>
              </a:rPr>
              <a:t>ML model compares it with known log types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669280" y="2798064"/>
            <a:ext cx="1691640" cy="493776"/>
          </a:xfrm>
          <a:prstGeom prst="roundRect">
            <a:avLst>
              <a:gd name="adj" fmla="val 14000"/>
            </a:avLst>
          </a:prstGeom>
          <a:solidFill>
            <a:srgbClr val="E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742432" y="29077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E07A10"/>
                </a:solidFill>
                <a:latin typeface="Calibri"/>
              </a:rPr>
              <a:t>4a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812280" y="2907792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953512"/>
            <a:ext cx="182880" cy="182880"/>
          </a:xfrm>
          <a:prstGeom prst="rect">
            <a:avLst/>
          </a:prstGeom>
        </p:spPr>
      </p:pic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2953512"/>
            <a:ext cx="182880" cy="18288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6044184" y="2798064"/>
            <a:ext cx="731520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Calibri"/>
              </a:rPr>
              <a:t>AI writes rule</a:t>
            </a:r>
          </a:p>
          <a:p>
            <a:r>
              <a:rPr sz="800" b="0" i="0">
                <a:solidFill>
                  <a:srgbClr val="F2F5FA"/>
                </a:solidFill>
                <a:latin typeface="Calibri"/>
              </a:rPr>
              <a:t>only once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669280" y="3355848"/>
            <a:ext cx="1691640" cy="493776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742432" y="346557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C0392B"/>
                </a:solidFill>
                <a:latin typeface="Calibri"/>
              </a:rPr>
              <a:t>4b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031736" y="34655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511296"/>
            <a:ext cx="182880" cy="18288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6044184" y="3355848"/>
            <a:ext cx="950976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Calibri"/>
              </a:rPr>
              <a:t>Review queue</a:t>
            </a:r>
          </a:p>
          <a:p>
            <a:r>
              <a:rPr sz="800" b="0" i="0">
                <a:solidFill>
                  <a:srgbClr val="F2F5FA"/>
                </a:solidFill>
                <a:latin typeface="Calibri"/>
              </a:rPr>
              <a:t>if it repeats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69280" y="4133088"/>
            <a:ext cx="3877056" cy="1051560"/>
          </a:xfrm>
          <a:prstGeom prst="roundRect">
            <a:avLst>
              <a:gd name="adj" fmla="val 14000"/>
            </a:avLst>
          </a:prstGeom>
          <a:solidFill>
            <a:srgbClr val="0E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742432" y="45217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E8C8C"/>
                </a:solidFill>
                <a:latin typeface="Calibri"/>
              </a:rPr>
              <a:t>5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162288" y="44942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8008" y="4539996"/>
            <a:ext cx="237744" cy="237744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6044184" y="4133088"/>
            <a:ext cx="3081528" cy="10515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Save the rule</a:t>
            </a:r>
          </a:p>
          <a:p>
            <a:r>
              <a:rPr sz="950" b="0" i="0">
                <a:solidFill>
                  <a:srgbClr val="F2F5FA"/>
                </a:solidFill>
                <a:latin typeface="Calibri"/>
              </a:rPr>
              <a:t>stored in the rule store, so next time this format is instant and skips AI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040112" y="4133088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131552" y="42245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138A36"/>
                </a:solidFill>
                <a:latin typeface="Calibri"/>
              </a:rPr>
              <a:t>6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1329416" y="4206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136" y="4251960"/>
            <a:ext cx="237744" cy="237744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0113264" y="4562856"/>
            <a:ext cx="1545336" cy="5760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Clean up</a:t>
            </a:r>
          </a:p>
          <a:p>
            <a:r>
              <a:rPr sz="850" b="0" i="0">
                <a:solidFill>
                  <a:srgbClr val="F2F5FA"/>
                </a:solidFill>
                <a:latin typeface="Calibri"/>
              </a:rPr>
              <a:t>time → UTC, severity unified, IPs &amp; users tagged, original kept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669280" y="5458968"/>
            <a:ext cx="6062472" cy="813816"/>
          </a:xfrm>
          <a:prstGeom prst="roundRect">
            <a:avLst>
              <a:gd name="adj" fmla="val 1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742432" y="572871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B2A5B"/>
                </a:solidFill>
                <a:latin typeface="Calibri"/>
              </a:rPr>
              <a:t>7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1073384" y="5701284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5747004"/>
            <a:ext cx="237744" cy="237744"/>
          </a:xfrm>
          <a:prstGeom prst="rect">
            <a:avLst/>
          </a:prstGeom>
        </p:spPr>
      </p:pic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93424" y="5747004"/>
            <a:ext cx="237744" cy="237744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6044184" y="5458968"/>
            <a:ext cx="4992624" cy="8138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Calibri"/>
              </a:rPr>
              <a:t>One clean, common format out (JSON)</a:t>
            </a:r>
          </a:p>
          <a:p>
            <a:r>
              <a:rPr sz="900" b="0" i="0">
                <a:solidFill>
                  <a:srgbClr val="F2F5FA"/>
                </a:solidFill>
                <a:latin typeface="Calibri"/>
              </a:rPr>
              <a:t>every log looks the same, ready for security tools, dashboards &amp; search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7388352" y="1988820"/>
            <a:ext cx="438912" cy="0"/>
          </a:xfrm>
          <a:prstGeom prst="line">
            <a:avLst/>
          </a:prstGeom>
          <a:ln w="22225">
            <a:solidFill>
              <a:srgbClr val="5B65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9573768" y="1988820"/>
            <a:ext cx="740664" cy="0"/>
          </a:xfrm>
          <a:prstGeom prst="line">
            <a:avLst/>
          </a:prstGeom>
          <a:ln w="28575">
            <a:solidFill>
              <a:srgbClr val="138A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9564624" y="1769364"/>
            <a:ext cx="45720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900" b="1" i="0">
                <a:solidFill>
                  <a:srgbClr val="138A36"/>
                </a:solidFill>
                <a:latin typeface="Calibri"/>
              </a:rPr>
              <a:t>Yes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700516" y="2532888"/>
            <a:ext cx="0" cy="246888"/>
          </a:xfrm>
          <a:prstGeom prst="line">
            <a:avLst/>
          </a:prstGeom>
          <a:ln w="25400">
            <a:solidFill>
              <a:srgbClr val="C06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8755380" y="2542032"/>
            <a:ext cx="128016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50" b="1" i="0">
                <a:solidFill>
                  <a:srgbClr val="C06010"/>
                </a:solidFill>
                <a:latin typeface="Calibri"/>
              </a:rPr>
              <a:t>No, it is new</a:t>
            </a:r>
          </a:p>
        </p:txBody>
      </p:sp>
      <p:cxnSp>
        <p:nvCxnSpPr>
          <p:cNvPr id="194" name="Connector 193"/>
          <p:cNvCxnSpPr/>
          <p:nvPr/>
        </p:nvCxnSpPr>
        <p:spPr>
          <a:xfrm flipH="1">
            <a:off x="7388352" y="3044952"/>
            <a:ext cx="438912" cy="0"/>
          </a:xfrm>
          <a:prstGeom prst="line">
            <a:avLst/>
          </a:prstGeom>
          <a:ln w="22225">
            <a:solidFill>
              <a:srgbClr val="C06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7397496" y="2843784"/>
            <a:ext cx="45720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00" b="1" i="0">
                <a:solidFill>
                  <a:srgbClr val="C06010"/>
                </a:solidFill>
                <a:latin typeface="Calibri"/>
              </a:rPr>
              <a:t>yes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7388352" y="3602736"/>
            <a:ext cx="438912" cy="0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7397496" y="3401568"/>
            <a:ext cx="45720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6515100" y="3867912"/>
            <a:ext cx="0" cy="246888"/>
          </a:xfrm>
          <a:prstGeom prst="line">
            <a:avLst/>
          </a:prstGeom>
          <a:ln w="25400">
            <a:solidFill>
              <a:srgbClr val="0E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573768" y="4658868"/>
            <a:ext cx="438912" cy="0"/>
          </a:xfrm>
          <a:prstGeom prst="line">
            <a:avLst/>
          </a:prstGeom>
          <a:ln w="25400">
            <a:solidFill>
              <a:srgbClr val="0E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0885932" y="5202936"/>
            <a:ext cx="0" cy="237744"/>
          </a:xfrm>
          <a:prstGeom prst="line">
            <a:avLst/>
          </a:prstGeom>
          <a:ln w="25400">
            <a:solidFill>
              <a:srgbClr val="138A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Rectangle 5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92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320040" y="182880"/>
            <a:ext cx="1463040" cy="73152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pic>
        <p:nvPicPr>
          <p:cNvPr id="56" name="Picture 55" descr="sih_ico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1097280"/>
            <a:ext cx="365760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760" y="1097280"/>
            <a:ext cx="3657600" cy="438912"/>
          </a:xfrm>
          <a:prstGeom prst="roundRect">
            <a:avLst>
              <a:gd name="adj" fmla="val 30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1097280"/>
            <a:ext cx="36576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FEASIBILITY  (Can it be built?)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1645920"/>
            <a:ext cx="3401568" cy="3712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38A36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Built on mature open-source tools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Python, FastAPI, Drain3 and scikit-learn are free and widely used, so nothing new has to be invented.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38A36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Low, predictable cost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AI is needed only when a new log format first appears; everyday logs reuse saved rules.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38A36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Fits into existing setups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Works alongside current tools; logs arrive via a web API or Bash collector; a web dashboard shows learned rules and the review queue.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38A36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Open data to build on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Public log datasets from the research community let us develop it without private data.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38A36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Gradual, low-risk adoption</a:t>
            </a:r>
          </a:p>
          <a:p>
            <a:pPr algn="l"/>
            <a:r>
              <a:rPr sz="1150" b="0">
                <a:solidFill>
                  <a:srgbClr val="1E2530"/>
                </a:solidFill>
                <a:latin typeface="Calibri"/>
              </a:rPr>
              <a:t>Can run in watch-only 'shadow mode' next to current tools before teams rely on it.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65592" y="1097280"/>
            <a:ext cx="370332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165592" y="1097280"/>
            <a:ext cx="3703320" cy="438912"/>
          </a:xfrm>
          <a:prstGeom prst="roundRect">
            <a:avLst>
              <a:gd name="adj" fmla="val 3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65592" y="1097280"/>
            <a:ext cx="370332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VIABILITY  (Will it last?)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02752" y="1645920"/>
            <a:ext cx="3447288" cy="3712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F5FBF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Real need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CERT-In requires every organisation to keep 180 days of logs and report incidents within 6 hours.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F5FBF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Can stay in India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A plain Python app that can run on Indian cloud or on-premise; offline with built-in rules (self-hosted AI planned).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F5FBF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Business model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Free open-source core, plus paid setup, support and training for government &amp; PSUs.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F5FBF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Grows easily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E2530"/>
                </a:solidFill>
                <a:latin typeface="Calibri"/>
              </a:rPr>
              <a:t>More logs do not mean more AI cost: each new format is learned only once and reused.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F5FBF"/>
                </a:solidFill>
                <a:latin typeface="Calibri"/>
              </a:rPr>
              <a:t>✔ </a:t>
            </a:r>
            <a:r>
              <a:rPr sz="1300" b="1">
                <a:solidFill>
                  <a:srgbClr val="0B2A5B"/>
                </a:solidFill>
                <a:latin typeface="Calibri"/>
              </a:rPr>
              <a:t>Wide market</a:t>
            </a:r>
          </a:p>
          <a:p>
            <a:pPr algn="l"/>
            <a:r>
              <a:rPr sz="1150" b="0">
                <a:solidFill>
                  <a:srgbClr val="1E2530"/>
                </a:solidFill>
                <a:latin typeface="Calibri"/>
              </a:rPr>
              <a:t>Every bank, power utility, telecom operator and ministry produces huge, mixed logs.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06240" y="1097280"/>
            <a:ext cx="3776472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06240" y="1097280"/>
            <a:ext cx="3776472" cy="438912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1097280"/>
            <a:ext cx="377647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CHALLENGES  →  OUR FIX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1572768"/>
            <a:ext cx="1645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Risk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1572768"/>
            <a:ext cx="16916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38A36"/>
                </a:solidFill>
                <a:latin typeface="Calibri"/>
              </a:rPr>
              <a:t>How we handle it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15968" y="1810512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1810512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AI service goes down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25312" y="1810512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1810512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45352" y="1810512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Switches to a backup AI, then built-in rules; logs keep flowing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15968" y="2400300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43400" y="2400300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AI cost at large scale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25312" y="2400300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2400300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45352" y="2400300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AI runs once per format, not per line; most lines never need AI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15968" y="2990088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43400" y="2990088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A normal log looks 'new'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25312" y="2990088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17920" y="2990088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45352" y="2990088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Held in a review queue, never dropped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15968" y="3579876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43400" y="3579876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Brand-new systems appear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25312" y="3579876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0" y="3579876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45352" y="3579876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The format-check model is retrained with one command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315968" y="4169664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91"/>
          <p:cNvSpPr/>
          <p:nvPr/>
        </p:nvSpPr>
        <p:spPr>
          <a:xfrm>
            <a:off x="4315968" y="4759452"/>
            <a:ext cx="1627632" cy="530352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43400" y="4169664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Personal data inside logs</a:t>
            </a:r>
          </a:p>
        </p:txBody>
      </p:sp>
      <p:sp>
        <p:nvSpPr>
          <p:cNvPr id="110" name="TextBox 92"/>
          <p:cNvSpPr txBox="1"/>
          <p:nvPr/>
        </p:nvSpPr>
        <p:spPr>
          <a:xfrm>
            <a:off x="4343400" y="4759452"/>
            <a:ext cx="157276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Junk or flood of logs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25312" y="4169664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111" name="TextBox 93"/>
          <p:cNvSpPr txBox="1"/>
          <p:nvPr/>
        </p:nvSpPr>
        <p:spPr>
          <a:xfrm>
            <a:off x="5925312" y="4759452"/>
            <a:ext cx="292608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5F6B7A"/>
                </a:solidFill>
                <a:latin typeface="Calibri"/>
              </a:rPr>
              <a:t>→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17920" y="4169664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94"/>
          <p:cNvSpPr/>
          <p:nvPr/>
        </p:nvSpPr>
        <p:spPr>
          <a:xfrm>
            <a:off x="6217920" y="4759452"/>
            <a:ext cx="1664208" cy="530352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45352" y="4169664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On-premise with built-in rules; masking &amp; self-hosted AI planned</a:t>
            </a:r>
          </a:p>
        </p:txBody>
      </p:sp>
      <p:sp>
        <p:nvSpPr>
          <p:cNvPr id="113" name="TextBox 95"/>
          <p:cNvSpPr txBox="1"/>
          <p:nvPr/>
        </p:nvSpPr>
        <p:spPr>
          <a:xfrm>
            <a:off x="6245352" y="4759452"/>
            <a:ext cx="1609344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38A36"/>
                </a:solidFill>
                <a:latin typeface="Calibri"/>
              </a:rPr>
              <a:t>Optional access key and size limits on every batch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5522976"/>
            <a:ext cx="11503152" cy="768096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5522976"/>
            <a:ext cx="11430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2A5B"/>
                </a:solidFill>
                <a:latin typeface="Calibri"/>
              </a:rPr>
              <a:t>ROADMAP</a:t>
            </a:r>
          </a:p>
        </p:txBody>
      </p:sp>
      <p:sp>
        <p:nvSpPr>
          <p:cNvPr id="99" name="Pentagon 98"/>
          <p:cNvSpPr/>
          <p:nvPr/>
        </p:nvSpPr>
        <p:spPr>
          <a:xfrm>
            <a:off x="1481328" y="5614416"/>
            <a:ext cx="1783080" cy="585216"/>
          </a:xfrm>
          <a:prstGeom prst="homePlate">
            <a:avLst>
              <a:gd name="adj" fmla="val 25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91056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1  Core pipeline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collect · group · learn</a:t>
            </a:r>
          </a:p>
        </p:txBody>
      </p:sp>
      <p:sp>
        <p:nvSpPr>
          <p:cNvPr id="101" name="Chevron 100"/>
          <p:cNvSpPr/>
          <p:nvPr/>
        </p:nvSpPr>
        <p:spPr>
          <a:xfrm>
            <a:off x="3200400" y="5614416"/>
            <a:ext cx="1783080" cy="585216"/>
          </a:xfrm>
          <a:prstGeom prst="chevron">
            <a:avLst>
              <a:gd name="adj" fmla="val 25000"/>
            </a:avLst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56432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2  Privacy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masking + self-hosted AI</a:t>
            </a:r>
          </a:p>
        </p:txBody>
      </p:sp>
      <p:sp>
        <p:nvSpPr>
          <p:cNvPr id="103" name="Chevron 102"/>
          <p:cNvSpPr/>
          <p:nvPr/>
        </p:nvSpPr>
        <p:spPr>
          <a:xfrm>
            <a:off x="4919472" y="5614416"/>
            <a:ext cx="1783080" cy="585216"/>
          </a:xfrm>
          <a:prstGeom prst="chevron">
            <a:avLst>
              <a:gd name="adj" fmla="val 25000"/>
            </a:avLst>
          </a:prstGeom>
          <a:solidFill>
            <a:srgbClr val="0E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75504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3  On-premise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one-command Docker</a:t>
            </a:r>
          </a:p>
        </p:txBody>
      </p:sp>
      <p:sp>
        <p:nvSpPr>
          <p:cNvPr id="105" name="Chevron 104"/>
          <p:cNvSpPr/>
          <p:nvPr/>
        </p:nvSpPr>
        <p:spPr>
          <a:xfrm>
            <a:off x="6638544" y="5614416"/>
            <a:ext cx="1783080" cy="585216"/>
          </a:xfrm>
          <a:prstGeom prst="chevron">
            <a:avLst>
              <a:gd name="adj" fmla="val 25000"/>
            </a:avLst>
          </a:prstGeom>
          <a:solidFill>
            <a:srgbClr val="2C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94576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4  Connectors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Splunk · ELK · Wazuh</a:t>
            </a:r>
          </a:p>
        </p:txBody>
      </p:sp>
      <p:sp>
        <p:nvSpPr>
          <p:cNvPr id="107" name="Chevron 106"/>
          <p:cNvSpPr/>
          <p:nvPr/>
        </p:nvSpPr>
        <p:spPr>
          <a:xfrm>
            <a:off x="8357616" y="5614416"/>
            <a:ext cx="1783080" cy="585216"/>
          </a:xfrm>
          <a:prstGeom prst="chevron">
            <a:avLst>
              <a:gd name="adj" fmla="val 25000"/>
            </a:avLst>
          </a:prstGeom>
          <a:solidFill>
            <a:srgbClr val="F28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Chevron 106"/>
          <p:cNvSpPr/>
          <p:nvPr/>
        </p:nvSpPr>
        <p:spPr>
          <a:xfrm>
            <a:off x="10076688" y="5614416"/>
            <a:ext cx="1783080" cy="585216"/>
          </a:xfrm>
          <a:prstGeom prst="chevron">
            <a:avLst>
              <a:gd name="adj" fmla="val 25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13648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5  PSU pilot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feedback &amp; tuning</a:t>
            </a:r>
          </a:p>
        </p:txBody>
      </p:sp>
      <p:sp>
        <p:nvSpPr>
          <p:cNvPr id="115" name="TextBox 107"/>
          <p:cNvSpPr txBox="1"/>
          <p:nvPr/>
        </p:nvSpPr>
        <p:spPr>
          <a:xfrm>
            <a:off x="10332720" y="5614416"/>
            <a:ext cx="132588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6  Scale up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sector SOCs → NCIIPC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Rectangle 6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92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Oval 59"/>
          <p:cNvSpPr/>
          <p:nvPr/>
        </p:nvSpPr>
        <p:spPr>
          <a:xfrm>
            <a:off x="320040" y="182880"/>
            <a:ext cx="1463040" cy="73152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pic>
        <p:nvPicPr>
          <p:cNvPr id="61" name="Picture 60" descr="sih_icon_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1051560"/>
            <a:ext cx="56692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2A5B"/>
                </a:solidFill>
                <a:latin typeface="Calibri"/>
              </a:rPr>
              <a:t>Impact</a:t>
            </a:r>
            <a:r>
              <a:rPr sz="1200" b="0">
                <a:solidFill>
                  <a:srgbClr val="5F6B7A"/>
                </a:solidFill>
                <a:latin typeface="Calibri"/>
              </a:rPr>
              <a:t>   for NTRO, NCIIPC &amp; sector security teams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336" y="1371600"/>
            <a:ext cx="822960" cy="457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1545336"/>
            <a:ext cx="64008" cy="36576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1517904"/>
            <a:ext cx="5577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F5FBF"/>
                </a:solidFill>
                <a:latin typeface="Calibri"/>
              </a:rPr>
              <a:t>Sharper security analysis: </a:t>
            </a:r>
            <a:r>
              <a:rPr sz="1050" b="0">
                <a:solidFill>
                  <a:srgbClr val="1E2530"/>
                </a:solidFill>
                <a:latin typeface="Calibri"/>
              </a:rPr>
              <a:t>logs from every system share one structure, so failed logins, errors and unusual events stand out.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2002536"/>
            <a:ext cx="64008" cy="365760"/>
          </a:xfrm>
          <a:prstGeom prst="rect">
            <a:avLst/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1975104"/>
            <a:ext cx="5577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38A36"/>
                </a:solidFill>
                <a:latin typeface="Calibri"/>
              </a:rPr>
              <a:t>Faster processing: </a:t>
            </a:r>
            <a:r>
              <a:rPr sz="1050" b="0">
                <a:solidFill>
                  <a:srgbClr val="1E2530"/>
                </a:solidFill>
                <a:latin typeface="Calibri"/>
              </a:rPr>
              <a:t>parsing and cleanup are automatic; saved rules handle everyday logs instantly.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459736"/>
            <a:ext cx="64008" cy="3657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2432304"/>
            <a:ext cx="5577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58220"/>
                </a:solidFill>
                <a:latin typeface="Calibri"/>
              </a:rPr>
              <a:t>Cleaner, reliable data: </a:t>
            </a:r>
            <a:r>
              <a:rPr sz="1050" b="0">
                <a:solidFill>
                  <a:srgbClr val="1E2530"/>
                </a:solidFill>
                <a:latin typeface="Calibri"/>
              </a:rPr>
              <a:t>missing fields get safe defaults, all times become UTC, and the original line is always kept.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2916936"/>
            <a:ext cx="64008" cy="365760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71"/>
          <p:cNvSpPr/>
          <p:nvPr/>
        </p:nvSpPr>
        <p:spPr>
          <a:xfrm>
            <a:off x="365760" y="3374136"/>
            <a:ext cx="64008" cy="365760"/>
          </a:xfrm>
          <a:prstGeom prst="rect">
            <a:avLst/>
          </a:prstGeom>
          <a:solidFill>
            <a:srgbClr val="0E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2889504"/>
            <a:ext cx="5577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6A3FB5"/>
                </a:solidFill>
                <a:latin typeface="Calibri"/>
              </a:rPr>
              <a:t>Less operational effort: </a:t>
            </a:r>
            <a:r>
              <a:rPr sz="1050" b="0">
                <a:solidFill>
                  <a:srgbClr val="1E2530"/>
                </a:solidFill>
                <a:latin typeface="Calibri"/>
              </a:rPr>
              <a:t>one pipeline replaces a separate hand-written parser for every log source.</a:t>
            </a:r>
          </a:p>
        </p:txBody>
      </p:sp>
      <p:sp>
        <p:nvSpPr>
          <p:cNvPr id="103" name="TextBox 72"/>
          <p:cNvSpPr txBox="1"/>
          <p:nvPr/>
        </p:nvSpPr>
        <p:spPr>
          <a:xfrm>
            <a:off x="502920" y="3346704"/>
            <a:ext cx="5577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0E8C8C"/>
                </a:solidFill>
                <a:latin typeface="Calibri"/>
              </a:rPr>
              <a:t>Scales with growth: </a:t>
            </a:r>
            <a:r>
              <a:rPr sz="1050" b="0">
                <a:solidFill>
                  <a:srgbClr val="1E2530"/>
                </a:solidFill>
                <a:latin typeface="Calibri"/>
              </a:rPr>
              <a:t>more logs do not mean more work; each format is learned once and reused.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1051560"/>
            <a:ext cx="55778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2A5B"/>
                </a:solidFill>
                <a:latin typeface="Calibri"/>
              </a:rPr>
              <a:t>Benefits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00216" y="1371600"/>
            <a:ext cx="822960" cy="457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263640" y="15544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F5FBF"/>
                </a:solidFill>
                <a:latin typeface="Calibri"/>
              </a:rPr>
              <a:t>Any format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26680" y="1517904"/>
            <a:ext cx="4160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E2530"/>
                </a:solidFill>
                <a:latin typeface="Calibri"/>
              </a:rPr>
              <a:t>Standard formats work at once; new and custom formats are learned automatically.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20116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B35C00"/>
                </a:solidFill>
                <a:latin typeface="Calibri"/>
              </a:rPr>
              <a:t>No parser code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26680" y="1975104"/>
            <a:ext cx="4160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E2530"/>
                </a:solidFill>
                <a:latin typeface="Calibri"/>
              </a:rPr>
              <a:t>Time, source, severity, IPs and users are found and mapped automatically.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63640" y="24688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38A36"/>
                </a:solidFill>
                <a:latin typeface="Calibri"/>
              </a:rPr>
              <a:t>One schema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6680" y="2432304"/>
            <a:ext cx="4160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E2530"/>
                </a:solidFill>
                <a:latin typeface="Calibri"/>
              </a:rPr>
              <a:t>Every log leaves in the same clean, common JSON format.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29260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6A3FB5"/>
                </a:solidFill>
                <a:latin typeface="Calibri"/>
              </a:rPr>
              <a:t>Easy to plug in</a:t>
            </a:r>
          </a:p>
        </p:txBody>
      </p:sp>
      <p:sp>
        <p:nvSpPr>
          <p:cNvPr id="104" name="Rounded Rectangle 81"/>
          <p:cNvSpPr/>
          <p:nvPr/>
        </p:nvSpPr>
        <p:spPr>
          <a:xfrm>
            <a:off x="6263640" y="3383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Future-ready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26680" y="2889504"/>
            <a:ext cx="4160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E2530"/>
                </a:solidFill>
                <a:latin typeface="Calibri"/>
              </a:rPr>
              <a:t>Output is ready for SIEM, monitoring &amp; analytics tools (connectors planned).</a:t>
            </a:r>
          </a:p>
        </p:txBody>
      </p:sp>
      <p:sp>
        <p:nvSpPr>
          <p:cNvPr id="105" name="TextBox 82"/>
          <p:cNvSpPr txBox="1"/>
          <p:nvPr/>
        </p:nvSpPr>
        <p:spPr>
          <a:xfrm>
            <a:off x="7726680" y="3346704"/>
            <a:ext cx="4160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E2530"/>
                </a:solidFill>
                <a:latin typeface="Calibri"/>
              </a:rPr>
              <a:t>New formats, rules and smarter methods can be added without redesign.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3840480"/>
            <a:ext cx="11430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2A5B"/>
                </a:solidFill>
                <a:latin typeface="Calibri"/>
              </a:rPr>
              <a:t>Same workload, three approaches</a:t>
            </a:r>
            <a:r>
              <a:rPr sz="1200" b="0">
                <a:solidFill>
                  <a:srgbClr val="5F6B7A"/>
                </a:solidFill>
                <a:latin typeface="Calibri"/>
              </a:rPr>
              <a:t>   a big organisation producing 1 million logs every day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" y="4160520"/>
            <a:ext cx="822960" cy="457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5760" y="4297680"/>
            <a:ext cx="566928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343400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B2A5B"/>
                </a:solidFill>
                <a:latin typeface="Calibri"/>
              </a:rPr>
              <a:t>Cost for one year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4572000"/>
            <a:ext cx="39319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Total spend to process the logs for 12 months</a:t>
            </a:r>
          </a:p>
        </p:txBody>
      </p:sp>
      <p:graphicFrame>
        <p:nvGraphicFramePr>
          <p:cNvPr id="89" name="Chart 88"/>
          <p:cNvGraphicFramePr>
            <a:graphicFrameLocks noGrp="1"/>
          </p:cNvGraphicFramePr>
          <p:nvPr/>
        </p:nvGraphicFramePr>
        <p:xfrm>
          <a:off x="457200" y="4800600"/>
          <a:ext cx="3886200" cy="1389888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90" name="Rounded Rectangle 89"/>
          <p:cNvSpPr/>
          <p:nvPr/>
        </p:nvSpPr>
        <p:spPr>
          <a:xfrm>
            <a:off x="4434840" y="4617720"/>
            <a:ext cx="1481328" cy="1481328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800" b="1">
                <a:solidFill>
                  <a:srgbClr val="138A36"/>
                </a:solidFill>
                <a:latin typeface="Calibri"/>
              </a:rPr>
              <a:t>80×</a:t>
            </a:r>
          </a:p>
          <a:p>
            <a:pPr algn="ctr"/>
            <a:r>
              <a:rPr sz="1050" b="1">
                <a:solidFill>
                  <a:srgbClr val="1E2530"/>
                </a:solidFill>
                <a:latin typeface="Calibri"/>
              </a:rPr>
              <a:t>cheaper than AI on every line</a:t>
            </a:r>
          </a:p>
          <a:p>
            <a:pPr algn="ctr"/>
            <a:r>
              <a:rPr sz="1000" b="0">
                <a:solidFill>
                  <a:srgbClr val="1E2530"/>
                </a:solidFill>
                <a:latin typeface="Calibri"/>
              </a:rPr>
              <a:t>and 5× cheaper than manual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99632" y="4297680"/>
            <a:ext cx="566928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36792" y="4343400"/>
            <a:ext cx="3931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B2A5B"/>
                </a:solidFill>
                <a:latin typeface="Calibri"/>
              </a:rPr>
              <a:t>Share of logs sent to AI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36792" y="4572000"/>
            <a:ext cx="39319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How many log lines need a paid AI service</a:t>
            </a:r>
          </a:p>
        </p:txBody>
      </p:sp>
      <p:graphicFrame>
        <p:nvGraphicFramePr>
          <p:cNvPr id="94" name="Chart 93"/>
          <p:cNvGraphicFramePr>
            <a:graphicFrameLocks noGrp="1"/>
          </p:cNvGraphicFramePr>
          <p:nvPr/>
        </p:nvGraphicFramePr>
        <p:xfrm>
          <a:off x="6583680" y="4828032"/>
          <a:ext cx="1115568" cy="1115568"/>
        </p:xfrm>
        <a:graphic>
          <a:graphicData uri="http://schemas.openxmlformats.org/drawingml/2006/chart">
            <c:chart xmlns:c="http://schemas.openxmlformats.org/drawingml/2006/chart" r:id="rId16"/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6583680" y="5184648"/>
            <a:ext cx="1115568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Calibri"/>
              </a:rPr>
              <a:t>100%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5943600"/>
            <a:ext cx="17556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AI on every line</a:t>
            </a:r>
          </a:p>
        </p:txBody>
      </p:sp>
      <p:graphicFrame>
        <p:nvGraphicFramePr>
          <p:cNvPr id="97" name="Chart 96"/>
          <p:cNvGraphicFramePr>
            <a:graphicFrameLocks noGrp="1"/>
          </p:cNvGraphicFramePr>
          <p:nvPr/>
        </p:nvGraphicFramePr>
        <p:xfrm>
          <a:off x="8229600" y="4828032"/>
          <a:ext cx="1115568" cy="1115568"/>
        </p:xfrm>
        <a:graphic>
          <a:graphicData uri="http://schemas.openxmlformats.org/drawingml/2006/chart">
            <c:chart xmlns:c="http://schemas.openxmlformats.org/drawingml/2006/chart" r:id="rId17"/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8229600" y="5184648"/>
            <a:ext cx="1115568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38A36"/>
                </a:solidFill>
                <a:latin typeface="Calibri"/>
              </a:rPr>
              <a:t>~0.5%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09560" y="5943600"/>
            <a:ext cx="175564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38A36"/>
                </a:solidFill>
                <a:latin typeface="Calibri"/>
              </a:rPr>
              <a:t>Our solution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195560" y="4617720"/>
            <a:ext cx="1554480" cy="1481328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138A36"/>
                </a:solidFill>
                <a:latin typeface="Calibri"/>
              </a:rPr>
              <a:t>Almost all</a:t>
            </a:r>
          </a:p>
          <a:p>
            <a:pPr algn="ctr"/>
            <a:r>
              <a:rPr sz="1050" b="1">
                <a:solidFill>
                  <a:srgbClr val="1E2530"/>
                </a:solidFill>
                <a:latin typeface="Calibri"/>
              </a:rPr>
              <a:t>logs need no AI</a:t>
            </a:r>
          </a:p>
          <a:p>
            <a:pPr algn="ctr"/>
            <a:r>
              <a:rPr sz="950" b="0">
                <a:solidFill>
                  <a:srgbClr val="1E2530"/>
                </a:solidFill>
                <a:latin typeface="Calibri"/>
              </a:rPr>
              <a:t>AI learns each format once; saved rules do the rest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6245352"/>
            <a:ext cx="115031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Calibri"/>
              </a:rPr>
              <a:t>Illustrative estimate for ~50 log sources (engineer ₹5,000/day, typical AI pricing); actual results will vary by organisation.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" name="Rectangle 3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80924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097280"/>
            <a:ext cx="3959352" cy="5248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234440"/>
            <a:ext cx="39593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SCAN TO EXPLORE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73736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1828800"/>
            <a:ext cx="1508760" cy="1508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46719" y="3520440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79476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u="sng">
                <a:solidFill>
                  <a:srgbClr val="0563C1"/>
                </a:solidFill>
                <a:latin typeface="Calibri"/>
                <a:hlinkClick r:id="rId7"/>
              </a:rPr>
              <a:t/>
            </a:r>
            <a:r>
              <a:rPr sz="900" b="1" u="sng">
                <a:solidFill>
                  <a:srgbClr val="0563C1"/>
                </a:solidFill>
                <a:latin typeface="Calibri"/>
                <a:hlinkClick r:id="rId7"/>
              </a:rPr>
              <a:t>sih2026-w6sr.vercel.app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94392" y="173736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1828800"/>
            <a:ext cx="1508760" cy="1508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48672" y="3520440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SOURCE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3794760"/>
            <a:ext cx="2057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u="sng">
                <a:solidFill>
                  <a:srgbClr val="0563C1"/>
                </a:solidFill>
                <a:latin typeface="Calibri"/>
                <a:hlinkClick r:id="rId8"/>
              </a:rPr>
              <a:t/>
            </a:r>
            <a:r>
              <a:rPr sz="900" b="1" u="sng">
                <a:solidFill>
                  <a:srgbClr val="0563C1"/>
                </a:solidFill>
                <a:latin typeface="Calibri"/>
                <a:hlinkClick r:id="rId8"/>
              </a:rPr>
              <a:t>github.com/agrwl-utkarsh/sih2026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4526280"/>
            <a:ext cx="3227832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4754880"/>
            <a:ext cx="395935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Thank you!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5486400"/>
            <a:ext cx="39593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Calibri"/>
              </a:rPr>
              <a:t>Questions are welcome.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" y="182880"/>
            <a:ext cx="1463040" cy="73152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58220"/>
                </a:solidFill>
                <a:latin typeface="Calibri"/>
              </a:rPr>
              <a:t>[Team Name]</a:t>
            </a:r>
          </a:p>
        </p:txBody>
      </p:sp>
      <p:pic>
        <p:nvPicPr>
          <p:cNvPr id="36" name="Picture 35" descr="sih_icon_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6688" y="91440"/>
            <a:ext cx="676894" cy="822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0" y="109728"/>
            <a:ext cx="1371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SMART INDIA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HACKATHON</a:t>
            </a:r>
          </a:p>
          <a:p>
            <a:pPr algn="ctr"/>
            <a:r>
              <a:rPr sz="1250" b="1">
                <a:solidFill>
                  <a:srgbClr val="455A64"/>
                </a:solidFill>
                <a:latin typeface="Calibri"/>
              </a:rPr>
              <a:t>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1051560"/>
            <a:ext cx="7406640" cy="530352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❖  </a:t>
            </a:r>
            <a:r>
              <a:rPr sz="1400" b="1" i="0" u="sng">
                <a:solidFill>
                  <a:srgbClr val="1F4E79"/>
                </a:solidFill>
                <a:latin typeface="Arial"/>
              </a:rPr>
              <a:t>Research Papers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[1]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P. He, J. Zhu, Z. Zheng, M. R. Lyu, "Drain: An Online Log Parsing Approach with Fixed Depth Tree," IEEE ICWS, 2017.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5"/>
              </a:rPr>
              <a:t>https://doi.org/10.1109/ICWS.2017.13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[2]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J. Zhu et al., "Tools and Benchmarks for Automated Log Parsing," IEEE/ACM ICSE-SEIP, 2019.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7"/>
              </a:rPr>
              <a:t>https://arxiv.org/abs/1811.03509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[3]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J. Zhu, S. He, P. He, J. Liu, M. R. Lyu, "Loghub: A Large Collection of System Log Datasets for AI-driven Log Analytics," IEEE ISSRE, 2023.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6"/>
              </a:rPr>
              <a:t>https://arxiv.org/abs/2008.06448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❖  </a:t>
            </a:r>
            <a:r>
              <a:rPr sz="1400" b="1" i="0" u="sng">
                <a:solidFill>
                  <a:srgbClr val="1F4E79"/>
                </a:solidFill>
                <a:latin typeface="Arial"/>
              </a:rPr>
              <a:t>Government of India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[4]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CERT-In, Directions under Section 70B(6) of the IT Act, 2000 (log retention &amp; incident reporting), 28 April 2022.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3"/>
              </a:rPr>
              <a:t>https://www.cert-in.org.in/PDF/CERT-In_Directions_70B_28.04.2022.pdf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[5]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Open Government Data Platform India, "Year-wise Number of Cyber Security Incidents as per CERT-In, 2020–2024."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1"/>
              </a:rPr>
              <a:t>https://www.data.gov.in/resource/year-wise-number-cyber-security-incidents-indian-computer-emergency-response-team-cert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[6]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PIB, "CERT-In: India's Frontline Defender against Cyber Threats," 23 January 2026.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2"/>
              </a:rPr>
              <a:t>https://www.pib.gov.in/PressReleasePage.aspx?PRID=2217537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[7]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National Critical Information Infrastructure Protection Centre (NCIIPC), NTRO.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9"/>
              </a:rPr>
              <a:t>https://nciipc.gov.in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[8]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The Information Technology Act, 2000, India Code.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3"/>
              </a:rPr>
              <a:t>https://www.indiacode.nic.in/handle/123456789/1999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[9]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The Digital Personal Data Protection Act, 2023, MeitY.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4"/>
              </a:rPr>
              <a:t>https://www.meity.gov.in/static/uploads/2024/06/2bf1f0e9f04e6fb4f8fef35e82c42aa5.pdf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❖  </a:t>
            </a:r>
            <a:r>
              <a:rPr sz="1400" b="1" i="0" u="sng">
                <a:solidFill>
                  <a:srgbClr val="1F4E79"/>
                </a:solidFill>
                <a:latin typeface="Arial"/>
              </a:rPr>
              <a:t>Datasets, Standards &amp; Tools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[10]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Loghub, real-world system log datasets (LogPAI).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2"/>
              </a:rPr>
              <a:t>https://github.com/logpai/loghub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[11]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Drain3, streaming log template miner (LogPAI).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4"/>
              </a:rPr>
              <a:t>https://github.com/logpai/Drain3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[12]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R. Gerhards, "The Syslog Protocol," IETF RFC 5424, 2009.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8"/>
              </a:rPr>
              <a:t>https://datatracker.ietf.org/doc/html/rfc5424</a:t>
            </a:r>
          </a:p>
          <a:p>
            <a:pPr>
              <a:spcAft>
                <a:spcPts val="45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[13] 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F. Pedregosa et al., "Scikit-learn: Machine Learning in Python," JMLR 12, 2011. </a:t>
            </a:r>
            <a:r>
              <a:rPr sz="1000" b="0" i="0" u="sng">
                <a:solidFill>
                  <a:srgbClr val="0563C1"/>
                </a:solidFill>
                <a:latin typeface="Arial"/>
                <a:hlinkClick r:id="rId19"/>
              </a:rPr>
              <a:t>https://scikit-learn.org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