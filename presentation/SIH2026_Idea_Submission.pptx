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Relationship Id="rId15" Type="http://schemas.openxmlformats.org/officeDocument/2006/relationships/chart" Target="../charts/chart14.xml"/><Relationship Id="rId16" Type="http://schemas.openxmlformats.org/officeDocument/2006/relationships/chart" Target="../charts/chart15.xml"/><Relationship Id="rId17" Type="http://schemas.openxmlformats.org/officeDocument/2006/relationships/chart" Target="../charts/char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format out: AI learns each new format once, then saved rules do the rest.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1024128"/>
            <a:ext cx="11503152" cy="786384"/>
          </a:xfrm>
          <a:prstGeom prst="roundRect">
            <a:avLst>
              <a:gd name="adj" fmla="val 12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1161288"/>
            <a:ext cx="1417320" cy="512064"/>
          </a:xfrm>
          <a:prstGeom prst="roundRect">
            <a:avLst>
              <a:gd name="adj" fmla="val 3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1161288"/>
            <a:ext cx="14173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IDEA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1042416"/>
            <a:ext cx="9692640" cy="7498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Hundreds of log formats in, </a:t>
            </a:r>
            <a:r>
              <a:rPr sz="1600" b="1">
                <a:solidFill>
                  <a:srgbClr val="FFC98A"/>
                </a:solidFill>
                <a:latin typeface="Calibri"/>
              </a:rPr>
              <a:t>one clean format out</a:t>
            </a:r>
            <a:r>
              <a:rPr sz="1600" b="0">
                <a:solidFill>
                  <a:srgbClr val="FFFFFF"/>
                </a:solidFill>
                <a:latin typeface="Calibri"/>
              </a:rPr>
              <a:t>: AI learns each new format </a:t>
            </a:r>
            <a:r>
              <a:rPr sz="1600" b="1">
                <a:solidFill>
                  <a:srgbClr val="FFC98A"/>
                </a:solidFill>
                <a:latin typeface="Calibri"/>
              </a:rPr>
              <a:t>once</a:t>
            </a:r>
            <a:r>
              <a:rPr sz="1600" b="0">
                <a:solidFill>
                  <a:srgbClr val="FFFFFF"/>
                </a:solidFill>
                <a:latin typeface="Calibri"/>
              </a:rPr>
              <a:t>, and saved rules handle it from then on.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148840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48840" y="5724144"/>
            <a:ext cx="64008" cy="493776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286000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F5FBF"/>
                </a:solidFill>
                <a:latin typeface="Calibri"/>
              </a:rPr>
              <a:t>Learns by itself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no hand-written rules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97146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597146" y="5724144"/>
            <a:ext cx="64008" cy="4937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34306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58220"/>
                </a:solidFill>
                <a:latin typeface="Calibri"/>
              </a:rPr>
              <a:t>AI only when needed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keeps cost low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045452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045452" y="5724144"/>
            <a:ext cx="64008" cy="493776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82612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6A3FB5"/>
                </a:solidFill>
                <a:latin typeface="Calibri"/>
              </a:rPr>
              <a:t>Flags unknown formats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sent for human review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493758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493758" y="5724144"/>
            <a:ext cx="64008" cy="49377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630918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38A36"/>
                </a:solidFill>
                <a:latin typeface="Calibri"/>
              </a:rPr>
              <a:t>Security-aware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tags failed logins, IPs &amp; users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5760" y="1901952"/>
            <a:ext cx="7269480" cy="36393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65760" y="1901952"/>
            <a:ext cx="7269480" cy="36576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920" y="1901952"/>
            <a:ext cx="6995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HOW IT WORKS</a:t>
            </a:r>
            <a:r>
              <a:rPr sz="1100" b="0">
                <a:solidFill>
                  <a:srgbClr val="DCE8FA"/>
                </a:solidFill>
                <a:latin typeface="Calibri"/>
              </a:rPr>
              <a:t>     three simple stages, from raw log to clean record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75488" y="2340864"/>
            <a:ext cx="7050024" cy="109728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75488" y="2340864"/>
            <a:ext cx="1024128" cy="1097280"/>
          </a:xfrm>
          <a:prstGeom prst="roundRect">
            <a:avLst>
              <a:gd name="adj" fmla="val 12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75488" y="2340864"/>
            <a:ext cx="1024128" cy="10972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COLLECT &amp;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IDENTIFY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91056" y="2386584"/>
            <a:ext cx="2921508" cy="10241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Multi-source collection: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network devices, servers, apps, databases, cloud and IoT via a web API or Bash collector.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Automatic format identification: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Syslog, JSON, CSV, CEF, LEEF, web and Java logs are recognised on their own.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67428" y="2386584"/>
            <a:ext cx="2921508" cy="10241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Unknown format support: </a:t>
            </a:r>
            <a:r>
              <a:rPr sz="950" b="0">
                <a:solidFill>
                  <a:srgbClr val="1E2530"/>
                </a:solidFill>
                <a:latin typeface="Calibri"/>
              </a:rPr>
              <a:t>new or proprietary formats (e.g. XML) are learned once; no parser has to be written.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Real-time processing: </a:t>
            </a:r>
            <a:r>
              <a:rPr sz="950" b="0">
                <a:solidFill>
                  <a:srgbClr val="1E2530"/>
                </a:solidFill>
                <a:latin typeface="Calibri"/>
              </a:rPr>
              <a:t>live syslog, Docker and Kubernetes streams are cleaned as they arrive.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Batch processing: </a:t>
            </a:r>
            <a:r>
              <a:rPr sz="950" b="0">
                <a:solidFill>
                  <a:srgbClr val="1E2530"/>
                </a:solidFill>
                <a:latin typeface="Calibri"/>
              </a:rPr>
              <a:t>large existing log files can be sent in bulk for one-time cleanup.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75488" y="3511296"/>
            <a:ext cx="7050024" cy="841248"/>
          </a:xfrm>
          <a:prstGeom prst="roundRect">
            <a:avLst>
              <a:gd name="adj" fmla="val 8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75488" y="3511296"/>
            <a:ext cx="1024128" cy="841248"/>
          </a:xfrm>
          <a:prstGeom prst="roundRect">
            <a:avLst>
              <a:gd name="adj" fmla="val 12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5488" y="3511296"/>
            <a:ext cx="1024128" cy="8412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UNDERSTAND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&amp; MAP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591056" y="3557016"/>
            <a:ext cx="2921508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Universal parsing: </a:t>
            </a:r>
            <a:r>
              <a:rPr sz="950" b="0">
                <a:solidFill>
                  <a:srgbClr val="1E2530"/>
                </a:solidFill>
                <a:latin typeface="Calibri"/>
              </a:rPr>
              <a:t>key details are pulled from structured, semi-structured and free-text logs.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Pattern extraction: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repeating lines are grouped into patterns; millions of lines become a few thousand.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67428" y="3557016"/>
            <a:ext cx="2921508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Intelligent field mapping: </a:t>
            </a:r>
            <a:r>
              <a:rPr sz="950" b="0">
                <a:solidFill>
                  <a:srgbClr val="1E2530"/>
                </a:solidFill>
                <a:latin typeface="Calibri"/>
              </a:rPr>
              <a:t>'lvl', 'level', 'severity' and other differently named fields land in one field.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Field normalisation: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times become UTC, severity one scale; event type, host, IPs and users are extracted.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75488" y="4425696"/>
            <a:ext cx="7050024" cy="1024128"/>
          </a:xfrm>
          <a:prstGeom prst="roundRect">
            <a:avLst>
              <a:gd name="adj" fmla="val 8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75488" y="4425696"/>
            <a:ext cx="1024128" cy="1024128"/>
          </a:xfrm>
          <a:prstGeom prst="roundRect">
            <a:avLst>
              <a:gd name="adj" fmla="val 12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75488" y="4425696"/>
            <a:ext cx="1024128" cy="10241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CLEAN &amp;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DELIVER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91056" y="4471416"/>
            <a:ext cx="2921508" cy="9509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Error &amp; anomaly handling: </a:t>
            </a:r>
            <a:r>
              <a:rPr sz="950" b="0">
                <a:solidFill>
                  <a:srgbClr val="1E2530"/>
                </a:solidFill>
                <a:latin typeface="Calibri"/>
              </a:rPr>
              <a:t>missing fields get safe defaults; unusual lines are flagged for review.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Duplicate removal (planned): </a:t>
            </a:r>
            <a:r>
              <a:rPr sz="950" b="0">
                <a:solidFill>
                  <a:srgbClr val="1E2530"/>
                </a:solidFill>
                <a:latin typeface="Calibri"/>
              </a:rPr>
              <a:t>repeated entries are dropped to cut noise and storage.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Common schema: </a:t>
            </a:r>
            <a:r>
              <a:rPr sz="950" b="0">
                <a:solidFill>
                  <a:srgbClr val="1E2530"/>
                </a:solidFill>
                <a:latin typeface="Calibri"/>
              </a:rPr>
              <a:t>every log gets the same fields: time, source, event, severity and message.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67428" y="4471416"/>
            <a:ext cx="2921508" cy="9509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Standardised output: </a:t>
            </a:r>
            <a:r>
              <a:rPr sz="950" b="0">
                <a:solidFill>
                  <a:srgbClr val="1E2530"/>
                </a:solidFill>
                <a:latin typeface="Calibri"/>
              </a:rPr>
              <a:t>clean, machine-readable JSON for SIEM, monitoring &amp; analytics (connectors planned).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Easy integration: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one simple interface for every downstream tool, whatever the original source.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818120" y="1901952"/>
            <a:ext cx="4050792" cy="36393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7818120" y="1901952"/>
            <a:ext cx="4050792" cy="36576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27848" y="1901952"/>
            <a:ext cx="38679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46136" y="2359152"/>
            <a:ext cx="3813048" cy="31363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Too many log formats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common formats are recognised instantly and new ones are learned automatically, so any source can be connected.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Parsers keep breaking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no hand-written parser code to write, fix or maintain; rules are created and saved by the system.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Slow, manual investigation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all logs share one clean, time-aligned and security-tagged format, so analysts search one place.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AI is slow &amp; costly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AI is used only once per new format, never per log line; everyday logs run on fast saved rules.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Messy, unreliable data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fields are standardised, gaps get safe defaults and the original line is always kept for audits.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Compliance &amp; privacy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clean records help meet CERT-In's 180-day log rule; can run on-premise with built-in rules (self-hosted AI planned).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65760" y="5632704"/>
            <a:ext cx="1691640" cy="676656"/>
          </a:xfrm>
          <a:prstGeom prst="roundRect">
            <a:avLst>
              <a:gd name="adj" fmla="val 1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65760" y="5632704"/>
            <a:ext cx="1691640" cy="6766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INNOVATION &amp;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UNIQUENESS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65760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Core language: </a:t>
            </a:r>
            <a:r>
              <a:rPr sz="850" b="0">
                <a:solidFill>
                  <a:srgbClr val="5F6B7A"/>
                </a:solidFill>
                <a:latin typeface="Calibri"/>
              </a:rPr>
              <a:t>simple, huge library support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627632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Web API: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and easy for any tool to send logs to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627632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Groups similar lines: </a:t>
            </a:r>
            <a:r>
              <a:rPr sz="850" b="0">
                <a:solidFill>
                  <a:srgbClr val="5F6B7A"/>
                </a:solidFill>
                <a:latin typeface="Calibri"/>
              </a:rPr>
              <a:t>learns log patterns on the fly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478024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ML model: </a:t>
            </a:r>
            <a:r>
              <a:rPr sz="850" b="0">
                <a:solidFill>
                  <a:srgbClr val="5F6B7A"/>
                </a:solidFill>
                <a:latin typeface="Calibri"/>
              </a:rPr>
              <a:t>spots new, unknown log formats cheaply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441448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660904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Writes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one rule per new log format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478024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Quality reports: </a:t>
            </a:r>
            <a:r>
              <a:rPr sz="850" b="0">
                <a:solidFill>
                  <a:srgbClr val="5F6B7A"/>
                </a:solidFill>
                <a:latin typeface="Calibri"/>
              </a:rPr>
              <a:t>checks output quality offline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291840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511296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Collects logs: </a:t>
            </a:r>
            <a:r>
              <a:rPr sz="850" b="0">
                <a:solidFill>
                  <a:srgbClr val="5F6B7A"/>
                </a:solidFill>
                <a:latin typeface="Calibri"/>
              </a:rPr>
              <a:t>syslog, journalctl, Docker, Kubernetes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328416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Hosting: </a:t>
            </a:r>
            <a:r>
              <a:rPr sz="850" b="0">
                <a:solidFill>
                  <a:srgbClr val="5F6B7A"/>
                </a:solidFill>
                <a:latin typeface="Calibri"/>
              </a:rPr>
              <a:t>quick, free online prototype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328416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Stores learned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cloud cache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4087368"/>
            <a:ext cx="49377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0B2A5B"/>
                </a:solidFill>
                <a:latin typeface="Calibri"/>
              </a:rPr>
              <a:t>Example: messy logs in → clean logs out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02336" y="4389120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65760" y="4480560"/>
            <a:ext cx="4937760" cy="694944"/>
          </a:xfrm>
          <a:prstGeom prst="roundRect">
            <a:avLst>
              <a:gd name="adj" fmla="val 6000"/>
            </a:avLst>
          </a:prstGeom>
          <a:solidFill>
            <a:srgbClr val="FBFBFC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200" y="4498848"/>
            <a:ext cx="47548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8E44AD"/>
                </a:solidFill>
                <a:latin typeface="Consolas"/>
              </a:rPr>
              <a:t>&lt;34&gt;Oct 11 22:14:15 srv1 sshd: Failed password for root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35C00"/>
                </a:solidFill>
                <a:latin typeface="Consolas"/>
              </a:rPr>
              <a:t>{"t":"22:14:16Z","lvl":"ERROR","msg":"DB connection timeout"}</a:t>
            </a:r>
          </a:p>
          <a:p>
            <a:pPr algn="l"/>
            <a:r>
              <a:rPr sz="900" b="0">
                <a:solidFill>
                  <a:srgbClr val="1F5FBF"/>
                </a:solidFill>
                <a:latin typeface="Consolas"/>
              </a:rPr>
              <a:t>10.0.0.5 - [11/Oct/2026:22:14:17] "GET /login" 500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5175504"/>
            <a:ext cx="49377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138A36"/>
                </a:solidFill>
                <a:latin typeface="Calibri"/>
              </a:rPr>
              <a:t>▼  one common format</a:t>
            </a:r>
          </a:p>
        </p:txBody>
      </p:sp>
      <p:sp>
        <p:nvSpPr>
          <p:cNvPr id="136" name="TextBox 94"/>
          <p:cNvSpPr txBox="1"/>
          <p:nvPr/>
        </p:nvSpPr>
        <p:spPr>
          <a:xfrm>
            <a:off x="365760" y="6153912"/>
            <a:ext cx="49377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 i="1">
                <a:solidFill>
                  <a:srgbClr val="555F6D"/>
                </a:solidFill>
                <a:latin typeface="Calibri"/>
              </a:rPr>
              <a:t>Every record also keeps the original line and extra fields (IPs, users, ports) for audits.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Time (UTC)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99"/>
          <p:cNvSpPr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129" name="TextBox 100"/>
          <p:cNvSpPr txBox="1"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Event tag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Message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sshd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07"/>
          <p:cNvSpPr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B35C00"/>
                </a:solidFill>
                <a:latin typeface="Calibri"/>
              </a:rPr>
              <a:t>WARNING</a:t>
            </a:r>
          </a:p>
        </p:txBody>
      </p:sp>
      <p:sp>
        <p:nvSpPr>
          <p:cNvPr id="131" name="TextBox 108"/>
          <p:cNvSpPr txBox="1"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auth_failure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Failed login (root)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app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15"/>
          <p:cNvSpPr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3" name="TextBox 116"/>
          <p:cNvSpPr txBox="1"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connection_error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DB connection timeout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web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23"/>
          <p:cNvSpPr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5" name="TextBox 124"/>
          <p:cNvSpPr txBox="1"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http_request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GET /login → 500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669280" y="1106424"/>
            <a:ext cx="6035040" cy="2743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1300" b="1" i="0">
                <a:solidFill>
                  <a:srgbClr val="1F5FBF"/>
                </a:solidFill>
                <a:latin typeface="Calibri"/>
              </a:rPr>
              <a:t>METHODOLOGY: HOW EVERY LOG FLOWS</a:t>
            </a:r>
            <a:r>
              <a:rPr sz="950" b="0" i="1">
                <a:solidFill>
                  <a:srgbClr val="5B6573"/>
                </a:solidFill>
                <a:latin typeface="Calibri"/>
              </a:rPr>
              <a:t>    learn a format once, reuse it every time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669280" y="146304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5760720" y="155448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409944" y="1536192"/>
            <a:ext cx="87782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5664" y="1581912"/>
            <a:ext cx="237744" cy="237744"/>
          </a:xfrm>
          <a:prstGeom prst="rect">
            <a:avLst/>
          </a:prstGeom>
        </p:spPr>
      </p:pic>
      <p:pic>
        <p:nvPicPr>
          <p:cNvPr id="143" name="Picture 14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9984" y="1581912"/>
            <a:ext cx="237744" cy="237744"/>
          </a:xfrm>
          <a:prstGeom prst="rect">
            <a:avLst/>
          </a:prstGeom>
        </p:spPr>
      </p:pic>
      <p:pic>
        <p:nvPicPr>
          <p:cNvPr id="144" name="Picture 1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4304" y="1581912"/>
            <a:ext cx="237744" cy="237744"/>
          </a:xfrm>
          <a:prstGeom prst="rect">
            <a:avLst/>
          </a:prstGeom>
        </p:spPr>
      </p:pic>
      <p:sp>
        <p:nvSpPr>
          <p:cNvPr id="145" name="TextBox 144"/>
          <p:cNvSpPr txBox="1"/>
          <p:nvPr/>
        </p:nvSpPr>
        <p:spPr>
          <a:xfrm>
            <a:off x="5742432" y="1892808"/>
            <a:ext cx="1545336" cy="57607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Calibri"/>
              </a:rPr>
              <a:t>Logs arrive</a:t>
            </a:r>
          </a:p>
          <a:p>
            <a:r>
              <a:rPr sz="900" b="0" i="0">
                <a:solidFill>
                  <a:srgbClr val="F2F5FA"/>
                </a:solidFill>
                <a:latin typeface="Calibri"/>
              </a:rPr>
              <a:t>from servers, apps &amp; firewalls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7854696" y="146304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946136" y="155448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F5FBF"/>
                </a:solidFill>
                <a:latin typeface="Calibri"/>
              </a:rPr>
              <a:t>2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8595360" y="1536192"/>
            <a:ext cx="87782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581912"/>
            <a:ext cx="237744" cy="237744"/>
          </a:xfrm>
          <a:prstGeom prst="rect">
            <a:avLst/>
          </a:prstGeom>
        </p:spPr>
      </p:pic>
      <p:sp>
        <p:nvSpPr>
          <p:cNvPr id="150" name="Oval 149"/>
          <p:cNvSpPr/>
          <p:nvPr/>
        </p:nvSpPr>
        <p:spPr>
          <a:xfrm>
            <a:off x="8915400" y="1581912"/>
            <a:ext cx="237744" cy="23774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pic>
        <p:nvPicPr>
          <p:cNvPr id="151" name="Picture 15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89720" y="1581912"/>
            <a:ext cx="237744" cy="237744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7927848" y="1892808"/>
            <a:ext cx="1545336" cy="57607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Calibri"/>
              </a:rPr>
              <a:t>Already known?</a:t>
            </a:r>
          </a:p>
          <a:p>
            <a:r>
              <a:rPr sz="900" b="0" i="0">
                <a:solidFill>
                  <a:srgbClr val="F2F5FA"/>
                </a:solidFill>
                <a:latin typeface="Calibri"/>
              </a:rPr>
              <a:t>is there a saved rule for this line or its pattern?</a:t>
            </a:r>
          </a:p>
        </p:txBody>
      </p:sp>
      <p:sp>
        <p:nvSpPr>
          <p:cNvPr id="153" name="Down Arrow 152"/>
          <p:cNvSpPr/>
          <p:nvPr/>
        </p:nvSpPr>
        <p:spPr>
          <a:xfrm>
            <a:off x="10085832" y="1463040"/>
            <a:ext cx="1600200" cy="2633472"/>
          </a:xfrm>
          <a:prstGeom prst="downArrow">
            <a:avLst>
              <a:gd name="adj1" fmla="val 72000"/>
              <a:gd name="adj2" fmla="val 2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314432" y="1600200"/>
            <a:ext cx="1143000" cy="17373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C9F2D4"/>
                </a:solidFill>
                <a:latin typeface="Calibri"/>
              </a:rPr>
              <a:t>YES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FAST PATH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most logs go here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instant · no AI · no cost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596128" y="2688336"/>
            <a:ext cx="4023360" cy="2587752"/>
          </a:xfrm>
          <a:prstGeom prst="roundRect">
            <a:avLst>
              <a:gd name="adj" fmla="val 5000"/>
            </a:avLst>
          </a:prstGeom>
          <a:solidFill>
            <a:srgbClr val="FFF8F0"/>
          </a:solidFill>
          <a:ln w="19050">
            <a:solidFill>
              <a:srgbClr val="F283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705856" y="5175504"/>
            <a:ext cx="2423160" cy="201168"/>
          </a:xfrm>
          <a:prstGeom prst="roundRect">
            <a:avLst>
              <a:gd name="adj" fmla="val 50000"/>
            </a:avLst>
          </a:prstGeom>
          <a:solidFill>
            <a:srgbClr val="F28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AI PATH · only for new formats, only once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854696" y="2798064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946136" y="288950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6A3FB5"/>
                </a:solidFill>
                <a:latin typeface="Calibri"/>
              </a:rPr>
              <a:t>3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9144000" y="2871216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0" name="Picture 15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2916936"/>
            <a:ext cx="237744" cy="237744"/>
          </a:xfrm>
          <a:prstGeom prst="rect">
            <a:avLst/>
          </a:prstGeom>
        </p:spPr>
      </p:pic>
      <p:sp>
        <p:nvSpPr>
          <p:cNvPr id="161" name="TextBox 160"/>
          <p:cNvSpPr txBox="1"/>
          <p:nvPr/>
        </p:nvSpPr>
        <p:spPr>
          <a:xfrm>
            <a:off x="7927848" y="3227832"/>
            <a:ext cx="1545336" cy="57607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Calibri"/>
              </a:rPr>
              <a:t>Familiar format?</a:t>
            </a:r>
          </a:p>
          <a:p>
            <a:r>
              <a:rPr sz="900" b="0" i="0">
                <a:solidFill>
                  <a:srgbClr val="F2F5FA"/>
                </a:solidFill>
                <a:latin typeface="Calibri"/>
              </a:rPr>
              <a:t>ML model compares it with known log types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5669280" y="2798064"/>
            <a:ext cx="1691640" cy="493776"/>
          </a:xfrm>
          <a:prstGeom prst="roundRect">
            <a:avLst>
              <a:gd name="adj" fmla="val 14000"/>
            </a:avLst>
          </a:prstGeom>
          <a:solidFill>
            <a:srgbClr val="E07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5742432" y="29077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E07A10"/>
                </a:solidFill>
                <a:latin typeface="Calibri"/>
              </a:rPr>
              <a:t>4a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812280" y="2907792"/>
            <a:ext cx="4937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5" name="Picture 16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2953512"/>
            <a:ext cx="182880" cy="182880"/>
          </a:xfrm>
          <a:prstGeom prst="rect">
            <a:avLst/>
          </a:prstGeom>
        </p:spPr>
      </p:pic>
      <p:pic>
        <p:nvPicPr>
          <p:cNvPr id="166" name="Picture 16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7456" y="2953512"/>
            <a:ext cx="182880" cy="182880"/>
          </a:xfrm>
          <a:prstGeom prst="rect">
            <a:avLst/>
          </a:prstGeom>
        </p:spPr>
      </p:pic>
      <p:sp>
        <p:nvSpPr>
          <p:cNvPr id="167" name="TextBox 166"/>
          <p:cNvSpPr txBox="1"/>
          <p:nvPr/>
        </p:nvSpPr>
        <p:spPr>
          <a:xfrm>
            <a:off x="6044184" y="2798064"/>
            <a:ext cx="731520" cy="4937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950" b="1" i="0">
                <a:solidFill>
                  <a:srgbClr val="FFFFFF"/>
                </a:solidFill>
                <a:latin typeface="Calibri"/>
              </a:rPr>
              <a:t>AI writes rule</a:t>
            </a:r>
          </a:p>
          <a:p>
            <a:r>
              <a:rPr sz="800" b="0" i="0">
                <a:solidFill>
                  <a:srgbClr val="F2F5FA"/>
                </a:solidFill>
                <a:latin typeface="Calibri"/>
              </a:rPr>
              <a:t>only once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5669280" y="3355848"/>
            <a:ext cx="1691640" cy="493776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5742432" y="346557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C0392B"/>
                </a:solidFill>
                <a:latin typeface="Calibri"/>
              </a:rPr>
              <a:t>4b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7031736" y="346557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1" name="Picture 17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456" y="3511296"/>
            <a:ext cx="182880" cy="182880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6044184" y="3355848"/>
            <a:ext cx="950976" cy="4937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950" b="1" i="0">
                <a:solidFill>
                  <a:srgbClr val="FFFFFF"/>
                </a:solidFill>
                <a:latin typeface="Calibri"/>
              </a:rPr>
              <a:t>Review queue</a:t>
            </a:r>
          </a:p>
          <a:p>
            <a:r>
              <a:rPr sz="800" b="0" i="0">
                <a:solidFill>
                  <a:srgbClr val="F2F5FA"/>
                </a:solidFill>
                <a:latin typeface="Calibri"/>
              </a:rPr>
              <a:t>if it repeats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669280" y="4133088"/>
            <a:ext cx="3877056" cy="1051560"/>
          </a:xfrm>
          <a:prstGeom prst="roundRect">
            <a:avLst>
              <a:gd name="adj" fmla="val 14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5742432" y="452170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0E8C8C"/>
                </a:solidFill>
                <a:latin typeface="Calibri"/>
              </a:rPr>
              <a:t>5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9162288" y="4494276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6" name="Picture 17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8008" y="4539996"/>
            <a:ext cx="237744" cy="237744"/>
          </a:xfrm>
          <a:prstGeom prst="rect">
            <a:avLst/>
          </a:prstGeom>
        </p:spPr>
      </p:pic>
      <p:sp>
        <p:nvSpPr>
          <p:cNvPr id="177" name="TextBox 176"/>
          <p:cNvSpPr txBox="1"/>
          <p:nvPr/>
        </p:nvSpPr>
        <p:spPr>
          <a:xfrm>
            <a:off x="6044184" y="4133088"/>
            <a:ext cx="3081528" cy="10515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Save the rule</a:t>
            </a:r>
          </a:p>
          <a:p>
            <a:r>
              <a:rPr sz="950" b="0" i="0">
                <a:solidFill>
                  <a:srgbClr val="F2F5FA"/>
                </a:solidFill>
                <a:latin typeface="Calibri"/>
              </a:rPr>
              <a:t>stored in the rule store, so next time this format is instant and skips AI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10040112" y="4133088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0131552" y="422452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38A36"/>
                </a:solidFill>
                <a:latin typeface="Calibri"/>
              </a:rPr>
              <a:t>6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11329416" y="4206240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1" name="Picture 18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5136" y="4251960"/>
            <a:ext cx="237744" cy="237744"/>
          </a:xfrm>
          <a:prstGeom prst="rect">
            <a:avLst/>
          </a:prstGeom>
        </p:spPr>
      </p:pic>
      <p:sp>
        <p:nvSpPr>
          <p:cNvPr id="182" name="TextBox 181"/>
          <p:cNvSpPr txBox="1"/>
          <p:nvPr/>
        </p:nvSpPr>
        <p:spPr>
          <a:xfrm>
            <a:off x="10113264" y="4562856"/>
            <a:ext cx="1545336" cy="57607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Calibri"/>
              </a:rPr>
              <a:t>Clean up</a:t>
            </a:r>
          </a:p>
          <a:p>
            <a:r>
              <a:rPr sz="850" b="0" i="0">
                <a:solidFill>
                  <a:srgbClr val="F2F5FA"/>
                </a:solidFill>
                <a:latin typeface="Calibri"/>
              </a:rPr>
              <a:t>time → UTC, severity unified, IPs &amp; users tagged, original kept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5669280" y="5458968"/>
            <a:ext cx="6062472" cy="813816"/>
          </a:xfrm>
          <a:prstGeom prst="roundRect">
            <a:avLst>
              <a:gd name="adj" fmla="val 1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5742432" y="572871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0B2A5B"/>
                </a:solidFill>
                <a:latin typeface="Calibri"/>
              </a:rPr>
              <a:t>7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11073384" y="5701284"/>
            <a:ext cx="60350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6" name="Picture 18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9104" y="5747004"/>
            <a:ext cx="237744" cy="237744"/>
          </a:xfrm>
          <a:prstGeom prst="rect">
            <a:avLst/>
          </a:prstGeom>
        </p:spPr>
      </p:pic>
      <p:pic>
        <p:nvPicPr>
          <p:cNvPr id="187" name="Picture 18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393424" y="5747004"/>
            <a:ext cx="237744" cy="237744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6044184" y="5458968"/>
            <a:ext cx="4992624" cy="81381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Calibri"/>
              </a:rPr>
              <a:t>One clean, common format out (JSON)</a:t>
            </a:r>
          </a:p>
          <a:p>
            <a:r>
              <a:rPr sz="900" b="0" i="0">
                <a:solidFill>
                  <a:srgbClr val="F2F5FA"/>
                </a:solidFill>
                <a:latin typeface="Calibri"/>
              </a:rPr>
              <a:t>every log looks the same, ready for security tools, dashboards &amp; search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388352" y="1988820"/>
            <a:ext cx="438912" cy="0"/>
          </a:xfrm>
          <a:prstGeom prst="line">
            <a:avLst/>
          </a:prstGeom>
          <a:ln w="22225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9573768" y="1988820"/>
            <a:ext cx="740664" cy="0"/>
          </a:xfrm>
          <a:prstGeom prst="line">
            <a:avLst/>
          </a:prstGeom>
          <a:ln w="28575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TextBox 190"/>
          <p:cNvSpPr txBox="1"/>
          <p:nvPr/>
        </p:nvSpPr>
        <p:spPr>
          <a:xfrm>
            <a:off x="9564624" y="1769364"/>
            <a:ext cx="457200" cy="18288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9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8700516" y="2532888"/>
            <a:ext cx="0" cy="246888"/>
          </a:xfrm>
          <a:prstGeom prst="line">
            <a:avLst/>
          </a:prstGeom>
          <a:ln w="25400">
            <a:solidFill>
              <a:srgbClr val="C0601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TextBox 192"/>
          <p:cNvSpPr txBox="1"/>
          <p:nvPr/>
        </p:nvSpPr>
        <p:spPr>
          <a:xfrm>
            <a:off x="8755380" y="2542032"/>
            <a:ext cx="1280160" cy="18288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850" b="1" i="0">
                <a:solidFill>
                  <a:srgbClr val="C06010"/>
                </a:solidFill>
                <a:latin typeface="Calibri"/>
              </a:rPr>
              <a:t>No, it is new</a:t>
            </a:r>
          </a:p>
        </p:txBody>
      </p:sp>
      <p:cxnSp>
        <p:nvCxnSpPr>
          <p:cNvPr id="194" name="Connector 193"/>
          <p:cNvCxnSpPr/>
          <p:nvPr/>
        </p:nvCxnSpPr>
        <p:spPr>
          <a:xfrm flipH="1">
            <a:off x="7388352" y="3044952"/>
            <a:ext cx="438912" cy="0"/>
          </a:xfrm>
          <a:prstGeom prst="line">
            <a:avLst/>
          </a:prstGeom>
          <a:ln w="22225">
            <a:solidFill>
              <a:srgbClr val="C0601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TextBox 194"/>
          <p:cNvSpPr txBox="1"/>
          <p:nvPr/>
        </p:nvSpPr>
        <p:spPr>
          <a:xfrm>
            <a:off x="7397496" y="2843784"/>
            <a:ext cx="457200" cy="18288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800" b="1" i="0">
                <a:solidFill>
                  <a:srgbClr val="C06010"/>
                </a:solidFill>
                <a:latin typeface="Calibri"/>
              </a:rPr>
              <a:t>yes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7388352" y="3602736"/>
            <a:ext cx="438912" cy="0"/>
          </a:xfrm>
          <a:prstGeom prst="line">
            <a:avLst/>
          </a:prstGeom>
          <a:ln w="22225">
            <a:solidFill>
              <a:srgbClr val="C039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TextBox 196"/>
          <p:cNvSpPr txBox="1"/>
          <p:nvPr/>
        </p:nvSpPr>
        <p:spPr>
          <a:xfrm>
            <a:off x="7397496" y="3401568"/>
            <a:ext cx="457200" cy="18288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6515100" y="3867912"/>
            <a:ext cx="0" cy="246888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9573768" y="4658868"/>
            <a:ext cx="438912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10885932" y="5202936"/>
            <a:ext cx="0" cy="237744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097280"/>
            <a:ext cx="365760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097280"/>
            <a:ext cx="3657600" cy="438912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1097280"/>
            <a:ext cx="36576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1645920"/>
            <a:ext cx="340156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Built on mature open-source tools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Python, FastAPI, Drain3 and scikit-learn are free and widely used, so nothing new has to be invented.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Low, predictable cost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AI is needed only when a new log format first appears; everyday logs reuse saved rules.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Fits into existing setups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Works alongside current tools; logs arrive via a web API or Bash collector; a web dashboard shows learned rules and the review queue.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Open data to build on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Public log datasets from the research community let us develop it without private data.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Gradual, low-risk adoption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Can run in watch-only 'shadow mode' next to current tools before teams rely on it.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65592" y="1097280"/>
            <a:ext cx="370332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65592" y="1097280"/>
            <a:ext cx="3703320" cy="438912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65592" y="1097280"/>
            <a:ext cx="370332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02752" y="1645920"/>
            <a:ext cx="344728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CERT-In requires every organisation to keep 180 days of logs and report incidents within 6 hours.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Can stay in India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 plain Python app that can run on Indian cloud or on-premise; offline with built-in rules (self-hosted AI planned).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Free open-source core, plus paid setup, support and training for government &amp; PSUs.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More logs do not mean more AI cost: each new format is learned only once and reused.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Wide market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Every bank, power utility, telecom operator and ministry produces huge, mixed logs.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06240" y="1097280"/>
            <a:ext cx="3776472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206240" y="1097280"/>
            <a:ext cx="3776472" cy="438912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1097280"/>
            <a:ext cx="3776472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1572768"/>
            <a:ext cx="164592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Risk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1572768"/>
            <a:ext cx="16916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How we handle it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15968" y="181051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43400" y="181051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25312" y="181051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181051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45352" y="181051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Switches to a backup AI, then built-in rules; logs keep flowing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15968" y="2400300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43400" y="2400300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25312" y="2400300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2400300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5352" y="2400300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AI runs once per format, not per line; most lines never need AI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15968" y="2990088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43400" y="2990088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25312" y="2990088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17920" y="2990088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45352" y="2990088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Held in a review queue, never dropped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315968" y="3579876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43400" y="3579876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25312" y="3579876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17920" y="3579876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5352" y="3579876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The format-check model is retrained with one command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15968" y="4169664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91"/>
          <p:cNvSpPr/>
          <p:nvPr/>
        </p:nvSpPr>
        <p:spPr>
          <a:xfrm>
            <a:off x="4315968" y="475945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43400" y="4169664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Personal data inside logs</a:t>
            </a:r>
          </a:p>
        </p:txBody>
      </p:sp>
      <p:sp>
        <p:nvSpPr>
          <p:cNvPr id="110" name="TextBox 92"/>
          <p:cNvSpPr txBox="1"/>
          <p:nvPr/>
        </p:nvSpPr>
        <p:spPr>
          <a:xfrm>
            <a:off x="4343400" y="475945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Junk or flood of logs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25312" y="4169664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111" name="TextBox 93"/>
          <p:cNvSpPr txBox="1"/>
          <p:nvPr/>
        </p:nvSpPr>
        <p:spPr>
          <a:xfrm>
            <a:off x="5925312" y="475945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17920" y="4169664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94"/>
          <p:cNvSpPr/>
          <p:nvPr/>
        </p:nvSpPr>
        <p:spPr>
          <a:xfrm>
            <a:off x="6217920" y="475945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45352" y="4169664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On-premise with built-in rules; masking &amp; self-hosted AI planned</a:t>
            </a:r>
          </a:p>
        </p:txBody>
      </p:sp>
      <p:sp>
        <p:nvSpPr>
          <p:cNvPr id="113" name="TextBox 95"/>
          <p:cNvSpPr txBox="1"/>
          <p:nvPr/>
        </p:nvSpPr>
        <p:spPr>
          <a:xfrm>
            <a:off x="6245352" y="475945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Optional access key and size limits on every batch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5522976"/>
            <a:ext cx="11503152" cy="768096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57200" y="5522976"/>
            <a:ext cx="1143000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0B2A5B"/>
                </a:solidFill>
                <a:latin typeface="Calibri"/>
              </a:rPr>
              <a:t>ROADMAP</a:t>
            </a:r>
          </a:p>
        </p:txBody>
      </p:sp>
      <p:sp>
        <p:nvSpPr>
          <p:cNvPr id="99" name="Pentagon 98"/>
          <p:cNvSpPr/>
          <p:nvPr/>
        </p:nvSpPr>
        <p:spPr>
          <a:xfrm>
            <a:off x="1481328" y="5614416"/>
            <a:ext cx="1783080" cy="585216"/>
          </a:xfrm>
          <a:prstGeom prst="homePlate">
            <a:avLst>
              <a:gd name="adj" fmla="val 2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59105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1  Core pipeline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collect · group · learn</a:t>
            </a:r>
          </a:p>
        </p:txBody>
      </p:sp>
      <p:sp>
        <p:nvSpPr>
          <p:cNvPr id="101" name="Chevron 100"/>
          <p:cNvSpPr/>
          <p:nvPr/>
        </p:nvSpPr>
        <p:spPr>
          <a:xfrm>
            <a:off x="3200400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456432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2  Privacy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masking + self-hosted AI</a:t>
            </a:r>
          </a:p>
        </p:txBody>
      </p:sp>
      <p:sp>
        <p:nvSpPr>
          <p:cNvPr id="103" name="Chevron 102"/>
          <p:cNvSpPr/>
          <p:nvPr/>
        </p:nvSpPr>
        <p:spPr>
          <a:xfrm>
            <a:off x="4919472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75504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3  On-premise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one-command Docker</a:t>
            </a:r>
          </a:p>
        </p:txBody>
      </p:sp>
      <p:sp>
        <p:nvSpPr>
          <p:cNvPr id="105" name="Chevron 104"/>
          <p:cNvSpPr/>
          <p:nvPr/>
        </p:nvSpPr>
        <p:spPr>
          <a:xfrm>
            <a:off x="6638544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2C7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89457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4  Connectors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Splunk · ELK · Wazuh</a:t>
            </a:r>
          </a:p>
        </p:txBody>
      </p:sp>
      <p:sp>
        <p:nvSpPr>
          <p:cNvPr id="107" name="Chevron 106"/>
          <p:cNvSpPr/>
          <p:nvPr/>
        </p:nvSpPr>
        <p:spPr>
          <a:xfrm>
            <a:off x="8357616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F28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Chevron 106"/>
          <p:cNvSpPr/>
          <p:nvPr/>
        </p:nvSpPr>
        <p:spPr>
          <a:xfrm>
            <a:off x="10076688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613648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5  PSU pilot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feedback &amp; tuning</a:t>
            </a:r>
          </a:p>
        </p:txBody>
      </p:sp>
      <p:sp>
        <p:nvSpPr>
          <p:cNvPr id="115" name="TextBox 107"/>
          <p:cNvSpPr txBox="1"/>
          <p:nvPr/>
        </p:nvSpPr>
        <p:spPr>
          <a:xfrm>
            <a:off x="10332720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6  Scale up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sector SOCs → NCIIPC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51560"/>
            <a:ext cx="56692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</a:t>
            </a:r>
            <a:r>
              <a:rPr sz="1200" b="0">
                <a:solidFill>
                  <a:srgbClr val="5F6B7A"/>
                </a:solidFill>
                <a:latin typeface="Calibri"/>
              </a:rPr>
              <a:t>   for NTRO, NCIIPC &amp; sector security teams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545336"/>
            <a:ext cx="64008" cy="36576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5179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1F5FBF"/>
                </a:solidFill>
                <a:latin typeface="Calibri"/>
              </a:rPr>
              <a:t>Sharper security analysis: </a:t>
            </a:r>
            <a:r>
              <a:rPr sz="1050" b="0">
                <a:solidFill>
                  <a:srgbClr val="1E2530"/>
                </a:solidFill>
                <a:latin typeface="Calibri"/>
              </a:rPr>
              <a:t>logs from every system share one structure, so failed logins, errors and unusual events stand out.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002536"/>
            <a:ext cx="64008" cy="36576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19751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138A36"/>
                </a:solidFill>
                <a:latin typeface="Calibri"/>
              </a:rPr>
              <a:t>Faster processing: </a:t>
            </a:r>
            <a:r>
              <a:rPr sz="1050" b="0">
                <a:solidFill>
                  <a:srgbClr val="1E2530"/>
                </a:solidFill>
                <a:latin typeface="Calibri"/>
              </a:rPr>
              <a:t>parsing and cleanup are automatic; saved rules handle everyday logs instantly.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459736"/>
            <a:ext cx="64008" cy="3657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4323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58220"/>
                </a:solidFill>
                <a:latin typeface="Calibri"/>
              </a:rPr>
              <a:t>Cleaner, reliable data: </a:t>
            </a:r>
            <a:r>
              <a:rPr sz="1050" b="0">
                <a:solidFill>
                  <a:srgbClr val="1E2530"/>
                </a:solidFill>
                <a:latin typeface="Calibri"/>
              </a:rPr>
              <a:t>missing fields get safe defaults, all times become UTC, and the original line is always kept.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2916936"/>
            <a:ext cx="64008" cy="36576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71"/>
          <p:cNvSpPr/>
          <p:nvPr/>
        </p:nvSpPr>
        <p:spPr>
          <a:xfrm>
            <a:off x="365760" y="3374136"/>
            <a:ext cx="64008" cy="365760"/>
          </a:xfrm>
          <a:prstGeom prst="rect">
            <a:avLst/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28895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6A3FB5"/>
                </a:solidFill>
                <a:latin typeface="Calibri"/>
              </a:rPr>
              <a:t>Less operational effort: </a:t>
            </a:r>
            <a:r>
              <a:rPr sz="1050" b="0">
                <a:solidFill>
                  <a:srgbClr val="1E2530"/>
                </a:solidFill>
                <a:latin typeface="Calibri"/>
              </a:rPr>
              <a:t>one pipeline replaces a separate hand-written parser for every log source.</a:t>
            </a:r>
          </a:p>
        </p:txBody>
      </p:sp>
      <p:sp>
        <p:nvSpPr>
          <p:cNvPr id="103" name="TextBox 72"/>
          <p:cNvSpPr txBox="1"/>
          <p:nvPr/>
        </p:nvSpPr>
        <p:spPr>
          <a:xfrm>
            <a:off x="502920" y="33467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0E8C8C"/>
                </a:solidFill>
                <a:latin typeface="Calibri"/>
              </a:rPr>
              <a:t>Scales with growth: </a:t>
            </a:r>
            <a:r>
              <a:rPr sz="1050" b="0">
                <a:solidFill>
                  <a:srgbClr val="1E2530"/>
                </a:solidFill>
                <a:latin typeface="Calibri"/>
              </a:rPr>
              <a:t>more logs do not mean more work; each format is learned once and reused.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51560"/>
            <a:ext cx="5577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5544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1F5FBF"/>
                </a:solidFill>
                <a:latin typeface="Calibri"/>
              </a:rPr>
              <a:t>Any format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6680" y="15179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Standard formats work at once; new and custom formats are learned automatically.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0116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B35C00"/>
                </a:solidFill>
                <a:latin typeface="Calibri"/>
              </a:rPr>
              <a:t>No parser code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80" y="19751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Time, source, severity, IPs and users are found and mapped automatically.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4688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138A36"/>
                </a:solidFill>
                <a:latin typeface="Calibri"/>
              </a:rPr>
              <a:t>One schema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6680" y="24323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Every log leaves in the same clean, common JSON format.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29260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6A3FB5"/>
                </a:solidFill>
                <a:latin typeface="Calibri"/>
              </a:rPr>
              <a:t>Easy to plug in</a:t>
            </a:r>
          </a:p>
        </p:txBody>
      </p:sp>
      <p:sp>
        <p:nvSpPr>
          <p:cNvPr id="104" name="Rounded Rectangle 81"/>
          <p:cNvSpPr/>
          <p:nvPr/>
        </p:nvSpPr>
        <p:spPr>
          <a:xfrm>
            <a:off x="6263640" y="33832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3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0E8C8C"/>
                </a:solidFill>
                <a:latin typeface="Calibri"/>
              </a:rPr>
              <a:t>Future-ready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26680" y="28895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Output is ready for SIEM, monitoring &amp; analytics tools (connectors planned).</a:t>
            </a:r>
          </a:p>
        </p:txBody>
      </p:sp>
      <p:sp>
        <p:nvSpPr>
          <p:cNvPr id="105" name="TextBox 82"/>
          <p:cNvSpPr txBox="1"/>
          <p:nvPr/>
        </p:nvSpPr>
        <p:spPr>
          <a:xfrm>
            <a:off x="7726680" y="33467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New formats, rules and smarter methods can be added without redesign.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840480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a big organisation producing 1 million logs every day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416052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Total spend to process the logs for 12 months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457200" y="4800600"/>
          <a:ext cx="3886200" cy="1389888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90" name="Rounded Rectangle 89"/>
          <p:cNvSpPr/>
          <p:nvPr/>
        </p:nvSpPr>
        <p:spPr>
          <a:xfrm>
            <a:off x="4434840" y="4617720"/>
            <a:ext cx="1481328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8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cheaper than AI on every line</a:t>
            </a:r>
          </a:p>
          <a:p>
            <a:pPr algn="ctr"/>
            <a:r>
              <a:rPr sz="1000" b="0">
                <a:solidFill>
                  <a:srgbClr val="1E2530"/>
                </a:solidFill>
                <a:latin typeface="Calibri"/>
              </a:rPr>
              <a:t>and 5× cheaper than manual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99632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36792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36792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How many log lines need a paid AI service</a:t>
            </a:r>
          </a:p>
        </p:txBody>
      </p:sp>
      <p:graphicFrame>
        <p:nvGraphicFramePr>
          <p:cNvPr id="94" name="Chart 93"/>
          <p:cNvGraphicFramePr>
            <a:graphicFrameLocks noGrp="1"/>
          </p:cNvGraphicFramePr>
          <p:nvPr/>
        </p:nvGraphicFramePr>
        <p:xfrm>
          <a:off x="658368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95" name="TextBox 94"/>
          <p:cNvSpPr txBox="1"/>
          <p:nvPr/>
        </p:nvSpPr>
        <p:spPr>
          <a:xfrm>
            <a:off x="658368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6364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7" name="Chart 96"/>
          <p:cNvGraphicFramePr>
            <a:graphicFrameLocks noGrp="1"/>
          </p:cNvGraphicFramePr>
          <p:nvPr/>
        </p:nvGraphicFramePr>
        <p:xfrm>
          <a:off x="822960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822960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Calibri"/>
              </a:rPr>
              <a:t>~0.5%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0956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95560" y="4617720"/>
            <a:ext cx="1554480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138A36"/>
                </a:solidFill>
                <a:latin typeface="Calibri"/>
              </a:rPr>
              <a:t>Almost all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logs need no AI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AI learns each format once; saved rules do the rest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 (engineer ₹5,000/day, typical AI pricing); actual results will vary by organisation.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CEF / LEEF · ISO 8601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