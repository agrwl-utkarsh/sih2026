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B2A5B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118872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572768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956816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340864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724912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10896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566160"/>
            <a:ext cx="29260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B2A5B"/>
                </a:solidFill>
                <a:latin typeface="Times New Roman"/>
              </a:rPr>
              <a:t>SIH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99.5% of lines skip the LLM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Accuracy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36576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91640"/>
            <a:ext cx="336499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Proven technology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Built on free, trusted open-source tools.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Low cost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AI is used only for new log formats, so bills stay small.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Easy to adopt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Connect any log source; no parser writing needed.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available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Uses public log datasets; no private data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5592" y="1097280"/>
            <a:ext cx="370332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691640"/>
            <a:ext cx="341071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CERT-In asks every organisation to keep 180 days of logs.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Can run on Indian / on-premise servers.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Free open-source core + paid support for govt &amp; companies.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More logs do not mean more AI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097280"/>
            <a:ext cx="3776472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19072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1719072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6168" y="1719072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19072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1719072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Switches to a backup AI, then built-in rules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414015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0832" y="2414015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2414015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414015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352" y="2414015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AI runs once per log format, not per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3108960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0832" y="3108960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6168" y="3108960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108960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108960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Held for review, never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803904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0832" y="3803904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3803904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03904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2" y="3803904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Model retrained with one command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681728"/>
            <a:ext cx="11503152" cy="167335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2A5B"/>
                </a:solidFill>
                <a:latin typeface="Calibri"/>
              </a:rPr>
              <a:t>TESTED ON REAL-WORLD LOGS  (public Loghub datasets)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F5FBF"/>
                </a:solidFill>
                <a:latin typeface="Calibri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 formats identified correctly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64992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58220"/>
                </a:solidFill>
                <a:latin typeface="Calibri"/>
              </a:rPr>
              <a:t>95.2%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6432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new, unseen formats caught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81344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81344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38A36"/>
                </a:solidFill>
                <a:latin typeface="Calibri"/>
              </a:rPr>
              <a:t>99.5%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3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logs processed without calling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97696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97696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6A3FB5"/>
                </a:solidFill>
                <a:latin typeface="Calibri"/>
              </a:rPr>
              <a:t>0.28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to process one log 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Potential Impact on NTRO &amp; NCIIPC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0759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024128"/>
            <a:ext cx="58338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778"/>
                </a:solidFill>
                <a:latin typeface="Calibri"/>
              </a:rPr>
              <a:t>NCIIPC (a unit of NTRO) guards power, banking, telecom, transport &amp; govt systems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One view of all sectors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Logs from power, banking, telecom &amp; govt security centres become one common format.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4408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64408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Faster threat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Analysts search one clean format, not hundreds; attack traces line up by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6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Unusual formats flagged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A never-seen format is flagged automatically: new device, misconfig or tampering.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704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61704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Sovereign &amp; air-gap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Runs on-premise with no internet; logs never leave India. (Self-hosted AI: planned)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798064"/>
            <a:ext cx="146304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For Govt &amp; PSUs: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5FBF"/>
                </a:solidFill>
                <a:latin typeface="Calibri"/>
              </a:rPr>
              <a:t>✔ </a:t>
            </a:r>
            <a:r>
              <a:rPr sz="1050" b="1">
                <a:solidFill>
                  <a:srgbClr val="1F5FBF"/>
                </a:solidFill>
                <a:latin typeface="Calibri"/>
              </a:rPr>
              <a:t>Easy CERT-In compliance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34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4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8220"/>
                </a:solidFill>
                <a:latin typeface="Calibri"/>
              </a:rPr>
              <a:t>✔ </a:t>
            </a:r>
            <a:r>
              <a:rPr sz="1050" b="1">
                <a:solidFill>
                  <a:srgbClr val="F58220"/>
                </a:solidFill>
                <a:latin typeface="Calibri"/>
              </a:rPr>
              <a:t>Lower cost, no paid tools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✔ </a:t>
            </a:r>
            <a:r>
              <a:rPr sz="1050" b="1">
                <a:solidFill>
                  <a:srgbClr val="138A36"/>
                </a:solidFill>
                <a:latin typeface="Calibri"/>
              </a:rPr>
              <a:t>One format for NCIIPC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0E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E8C8C"/>
                </a:solidFill>
                <a:latin typeface="Calibri"/>
              </a:rPr>
              <a:t>✔ </a:t>
            </a:r>
            <a:r>
              <a:rPr sz="1050" b="1">
                <a:solidFill>
                  <a:srgbClr val="0E8C8C"/>
                </a:solidFill>
                <a:latin typeface="Calibri"/>
              </a:rPr>
              <a:t>Self-reliant &amp; open-source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246120"/>
            <a:ext cx="11503152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SAME WORKLOAD, THREE APPROACHES:  </a:t>
            </a:r>
            <a:r>
              <a:rPr sz="1300" b="0">
                <a:solidFill>
                  <a:srgbClr val="5F6B7A"/>
                </a:solidFill>
                <a:latin typeface="Calibri"/>
              </a:rPr>
              <a:t>1 million logs / day in a big organisation  ·  compared with our solution (= 1×)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3611880"/>
            <a:ext cx="374904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75488" y="3666744"/>
            <a:ext cx="35295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graphicFrame>
        <p:nvGraphicFramePr>
          <p:cNvPr id="41" name="Chart 40"/>
          <p:cNvGraphicFramePr>
            <a:graphicFrameLocks noGrp="1"/>
          </p:cNvGraphicFramePr>
          <p:nvPr/>
        </p:nvGraphicFramePr>
        <p:xfrm>
          <a:off x="411480" y="3977640"/>
          <a:ext cx="3657600" cy="1673352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42" name="Rounded Rectangle 41"/>
          <p:cNvSpPr/>
          <p:nvPr/>
        </p:nvSpPr>
        <p:spPr>
          <a:xfrm>
            <a:off x="457200" y="5696712"/>
            <a:ext cx="3566160" cy="365760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5696712"/>
            <a:ext cx="35661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✔ 80× cheaper than AI · 5× vs manual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42816" y="3611880"/>
            <a:ext cx="374904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352544" y="3666744"/>
            <a:ext cx="35295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Time to process 1M logs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4288536" y="3977640"/>
          <a:ext cx="3657600" cy="1673352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7" name="Rounded Rectangle 46"/>
          <p:cNvSpPr/>
          <p:nvPr/>
        </p:nvSpPr>
        <p:spPr>
          <a:xfrm>
            <a:off x="4334256" y="5696712"/>
            <a:ext cx="3566160" cy="365760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334256" y="5696712"/>
            <a:ext cx="35661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✔ 70× faster than AI on every line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19872" y="3611880"/>
            <a:ext cx="374904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229600" y="3666744"/>
            <a:ext cx="35295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graphicFrame>
        <p:nvGraphicFramePr>
          <p:cNvPr id="51" name="Chart 50"/>
          <p:cNvGraphicFramePr>
            <a:graphicFrameLocks noGrp="1"/>
          </p:cNvGraphicFramePr>
          <p:nvPr/>
        </p:nvGraphicFramePr>
        <p:xfrm>
          <a:off x="8348472" y="3995928"/>
          <a:ext cx="1481328" cy="1481328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8348472" y="4535424"/>
            <a:ext cx="148132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11312" y="5477256"/>
            <a:ext cx="175564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10158984" y="3995928"/>
          <a:ext cx="1481328" cy="1481328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10158984" y="4535424"/>
            <a:ext cx="148132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21824" y="5477256"/>
            <a:ext cx="175564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11312" y="5696712"/>
            <a:ext cx="3566160" cy="365760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11312" y="5696712"/>
            <a:ext cx="35661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✔ 99.5% fewer AI calls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181344"/>
            <a:ext cx="1150315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F6B7A"/>
                </a:solidFill>
                <a:latin typeface="Calibri"/>
              </a:rPr>
              <a:t>Illustrative estimate for ~50 log sources; our speed (0.28 ms/log) and AI-call rate are measured in our benchmark.  * Manual parsers are fast only for formats already written by hand; a new format breaks until an engineer fixes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