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303520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568696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65099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733288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650992"/>
            <a:ext cx="2578608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65099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733288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650992"/>
            <a:ext cx="2578608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65099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733288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650992"/>
            <a:ext cx="2578608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65099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733288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650992"/>
            <a:ext cx="2578608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20240"/>
            <a:ext cx="3651504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20240"/>
            <a:ext cx="3651504" cy="384048"/>
          </a:xfrm>
          <a:prstGeom prst="roundRect">
            <a:avLst>
              <a:gd name="adj" fmla="val 2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1920240"/>
            <a:ext cx="3651504" cy="38404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1   COLLECT &amp; IDENTIFY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2377440"/>
            <a:ext cx="3450336" cy="28072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1F5FBF"/>
                </a:solidFill>
                <a:latin typeface="Calibri"/>
              </a:rPr>
              <a:t>■ </a:t>
            </a:r>
            <a:r>
              <a:rPr sz="1150" b="1">
                <a:solidFill>
                  <a:srgbClr val="1F5FBF"/>
                </a:solidFill>
                <a:latin typeface="Calibri"/>
              </a:rPr>
              <a:t>Multi-source collection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Network devices, servers, apps, databases, cloud and IoT send logs via a web API or Bash collector.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F5FBF"/>
                </a:solidFill>
                <a:latin typeface="Calibri"/>
              </a:rPr>
              <a:t>■ </a:t>
            </a:r>
            <a:r>
              <a:rPr sz="1150" b="1">
                <a:solidFill>
                  <a:srgbClr val="1F5FBF"/>
                </a:solidFill>
                <a:latin typeface="Calibri"/>
              </a:rPr>
              <a:t>Automatic format identification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Recognises Syslog, JSON, CSV, CEF, LEEF, web-server and Java logs on its own.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F5FBF"/>
                </a:solidFill>
                <a:latin typeface="Calibri"/>
              </a:rPr>
              <a:t>■ </a:t>
            </a:r>
            <a:r>
              <a:rPr sz="1150" b="1">
                <a:solidFill>
                  <a:srgbClr val="1F5FBF"/>
                </a:solidFill>
                <a:latin typeface="Calibri"/>
              </a:rPr>
              <a:t>Unknown format support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New and proprietary formats (e.g. XML) are learned once, with no parser to write.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F5FBF"/>
                </a:solidFill>
                <a:latin typeface="Calibri"/>
              </a:rPr>
              <a:t>■ </a:t>
            </a:r>
            <a:r>
              <a:rPr sz="1150" b="1">
                <a:solidFill>
                  <a:srgbClr val="1F5FBF"/>
                </a:solidFill>
                <a:latin typeface="Calibri"/>
              </a:rPr>
              <a:t>Real-time processing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Live streams (syslog, Docker, Kubernetes) are cleaned as they arrive.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F5FBF"/>
                </a:solidFill>
                <a:latin typeface="Calibri"/>
              </a:rPr>
              <a:t>■ </a:t>
            </a:r>
            <a:r>
              <a:rPr sz="1150" b="1">
                <a:solidFill>
                  <a:srgbClr val="1F5FBF"/>
                </a:solidFill>
                <a:latin typeface="Calibri"/>
              </a:rPr>
              <a:t>Batch processing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Large existing log files can be sent in bulk batches for one-time cleanup.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4053840" y="3392424"/>
            <a:ext cx="201168" cy="365760"/>
          </a:xfrm>
          <a:prstGeom prst="rightArrow">
            <a:avLst/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291584" y="1920240"/>
            <a:ext cx="3651504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291584" y="1920240"/>
            <a:ext cx="3651504" cy="384048"/>
          </a:xfrm>
          <a:prstGeom prst="roundRect">
            <a:avLst>
              <a:gd name="adj" fmla="val 2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1584" y="1920240"/>
            <a:ext cx="3651504" cy="38404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2   UNDERSTAND &amp; MAP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1312" y="2377440"/>
            <a:ext cx="3450336" cy="28072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6A3FB5"/>
                </a:solidFill>
                <a:latin typeface="Calibri"/>
              </a:rPr>
              <a:t>■ </a:t>
            </a:r>
            <a:r>
              <a:rPr sz="1150" b="1">
                <a:solidFill>
                  <a:srgbClr val="6A3FB5"/>
                </a:solidFill>
                <a:latin typeface="Calibri"/>
              </a:rPr>
              <a:t>Universal parsing</a:t>
            </a:r>
          </a:p>
          <a:p>
            <a:pPr>
              <a:spcAft>
                <a:spcPts val="110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Pulls key details out of structured, semi-structured and free-text logs.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6A3FB5"/>
                </a:solidFill>
                <a:latin typeface="Calibri"/>
              </a:rPr>
              <a:t>■ </a:t>
            </a:r>
            <a:r>
              <a:rPr sz="1150" b="1">
                <a:solidFill>
                  <a:srgbClr val="6A3FB5"/>
                </a:solidFill>
                <a:latin typeface="Calibri"/>
              </a:rPr>
              <a:t>Pattern extraction</a:t>
            </a:r>
          </a:p>
          <a:p>
            <a:pPr>
              <a:spcAft>
                <a:spcPts val="110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Groups repeating lines into patterns, so millions of lines become a few thousand.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6A3FB5"/>
                </a:solidFill>
                <a:latin typeface="Calibri"/>
              </a:rPr>
              <a:t>■ </a:t>
            </a:r>
            <a:r>
              <a:rPr sz="1150" b="1">
                <a:solidFill>
                  <a:srgbClr val="6A3FB5"/>
                </a:solidFill>
                <a:latin typeface="Calibri"/>
              </a:rPr>
              <a:t>Intelligent field mapping</a:t>
            </a:r>
          </a:p>
          <a:p>
            <a:pPr>
              <a:spcAft>
                <a:spcPts val="110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'lvl', 'level', 'severity': differently named fields land in one common field.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6A3FB5"/>
                </a:solidFill>
                <a:latin typeface="Calibri"/>
              </a:rPr>
              <a:t>■ </a:t>
            </a:r>
            <a:r>
              <a:rPr sz="1150" b="1">
                <a:solidFill>
                  <a:srgbClr val="6A3FB5"/>
                </a:solidFill>
                <a:latin typeface="Calibri"/>
              </a:rPr>
              <a:t>Field normalisation</a:t>
            </a:r>
          </a:p>
          <a:p>
            <a:pPr>
              <a:spcAft>
                <a:spcPts val="110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Times become UTC and severity one scale; event type, host, IPs and users are extracted.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79664" y="3392424"/>
            <a:ext cx="201168" cy="365760"/>
          </a:xfrm>
          <a:prstGeom prst="rightArrow">
            <a:avLst/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217408" y="1920240"/>
            <a:ext cx="3651504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217408" y="1920240"/>
            <a:ext cx="3651504" cy="384048"/>
          </a:xfrm>
          <a:prstGeom prst="roundRect">
            <a:avLst>
              <a:gd name="adj" fmla="val 2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17408" y="1920240"/>
            <a:ext cx="3651504" cy="38404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3   CLEAN &amp; DELIVER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7136" y="2377440"/>
            <a:ext cx="3450336" cy="280720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138A36"/>
                </a:solidFill>
                <a:latin typeface="Calibri"/>
              </a:rPr>
              <a:t>■ </a:t>
            </a:r>
            <a:r>
              <a:rPr sz="1150" b="1">
                <a:solidFill>
                  <a:srgbClr val="138A36"/>
                </a:solidFill>
                <a:latin typeface="Calibri"/>
              </a:rPr>
              <a:t>Error &amp; anomaly handling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38A36"/>
                </a:solidFill>
                <a:latin typeface="Calibri"/>
              </a:rPr>
              <a:t>■ </a:t>
            </a:r>
            <a:r>
              <a:rPr sz="1150" b="1">
                <a:solidFill>
                  <a:srgbClr val="138A36"/>
                </a:solidFill>
                <a:latin typeface="Calibri"/>
              </a:rPr>
              <a:t>Duplicate removal (planned)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Repeated entries dropped to cut noise and storage.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38A36"/>
                </a:solidFill>
                <a:latin typeface="Calibri"/>
              </a:rPr>
              <a:t>■ </a:t>
            </a:r>
            <a:r>
              <a:rPr sz="1150" b="1">
                <a:solidFill>
                  <a:srgbClr val="138A36"/>
                </a:solidFill>
                <a:latin typeface="Calibri"/>
              </a:rPr>
              <a:t>Common schema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Every log gets the same fields: time, source, event, severity, message.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38A36"/>
                </a:solidFill>
                <a:latin typeface="Calibri"/>
              </a:rPr>
              <a:t>■ </a:t>
            </a:r>
            <a:r>
              <a:rPr sz="1150" b="1">
                <a:solidFill>
                  <a:srgbClr val="138A36"/>
                </a:solidFill>
                <a:latin typeface="Calibri"/>
              </a:rPr>
              <a:t>Standardised output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138A36"/>
                </a:solidFill>
                <a:latin typeface="Calibri"/>
              </a:rPr>
              <a:t>■ </a:t>
            </a:r>
            <a:r>
              <a:rPr sz="1150" b="1">
                <a:solidFill>
                  <a:srgbClr val="138A36"/>
                </a:solidFill>
                <a:latin typeface="Calibri"/>
              </a:rPr>
              <a:t>Easy integration</a:t>
            </a:r>
          </a:p>
          <a:p>
            <a:pPr>
              <a:spcAft>
                <a:spcPts val="550"/>
              </a:spcAft>
            </a:pPr>
            <a:r>
              <a:rPr sz="100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learned once it repeats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