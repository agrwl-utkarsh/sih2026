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image" Target="../media/image13.png"/><Relationship Id="rId12" Type="http://schemas.openxmlformats.org/officeDocument/2006/relationships/chart" Target="../charts/chart11.xml"/><Relationship Id="rId13" Type="http://schemas.openxmlformats.org/officeDocument/2006/relationships/chart" Target="../charts/chart12.xml"/><Relationship Id="rId14" Type="http://schemas.openxmlformats.org/officeDocument/2006/relationships/chart" Target="../charts/char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Relationship Id="rId10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" name="Hexagon 33"/>
          <p:cNvSpPr/>
          <p:nvPr/>
        </p:nvSpPr>
        <p:spPr>
          <a:xfrm>
            <a:off x="7863840" y="3611880"/>
            <a:ext cx="777240" cy="82296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8412480" y="1280160"/>
            <a:ext cx="3520440" cy="361188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001000" y="960120"/>
            <a:ext cx="1097280" cy="1005840"/>
          </a:xfrm>
          <a:prstGeom prst="hexagon">
            <a:avLst/>
          </a:prstGeom>
          <a:noFill/>
          <a:ln w="635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schema out: learned once by AI, then parsed at regex speed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pic>
        <p:nvPicPr>
          <p:cNvPr id="30" name="Picture 29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pic>
        <p:nvPicPr>
          <p:cNvPr id="35" name="Picture 34" descr="sih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417320"/>
            <a:ext cx="2747243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" name="Rectangle 53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53949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C0392B"/>
                </a:solidFill>
                <a:latin typeface="Calibri"/>
              </a:rPr>
              <a:t>Understanding the Problem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051560"/>
            <a:ext cx="5852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7161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069080"/>
            <a:ext cx="8229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Innovation &amp; Uniqueness (USPs)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437083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480560"/>
            <a:ext cx="2011680" cy="10972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F5FBF"/>
                </a:solidFill>
                <a:latin typeface="Calibri"/>
              </a:rPr>
              <a:t>LLM flexibility,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F5FBF"/>
                </a:solidFill>
                <a:latin typeface="Calibri"/>
              </a:rPr>
              <a:t>regex speed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99.5% of lines never touch the AI engine; 0.28 ms/line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96312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96312" y="4480560"/>
            <a:ext cx="2011680" cy="1097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87752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98% fewer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LLM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on a flood of new formats, thanks to quarantine + graduation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26864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26864" y="4480560"/>
            <a:ext cx="2011680" cy="10972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18304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Catches never-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seen formats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36592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95.2% recall on real systems it was never trained 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57416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57416" y="4480560"/>
            <a:ext cx="2011680" cy="109728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6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Zero-risk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rollout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67144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shadow mode first; works with no API key (heuristic fallback)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4114800"/>
            <a:ext cx="2907792" cy="21488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4315968"/>
            <a:ext cx="1188720" cy="11887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405872" y="4315968"/>
            <a:ext cx="1417320" cy="11887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SCAN TO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VIEW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5577840"/>
            <a:ext cx="2697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  <a:hlinkClick r:id="rId3"/>
              </a:rPr>
              <a:t>sih2026-w6sr.vercel.app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5852160"/>
            <a:ext cx="2697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C9D6EA"/>
                </a:solidFill>
                <a:latin typeface="Calibri"/>
              </a:rPr>
              <a:t>Try it with your own log lines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1444752"/>
            <a:ext cx="53949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Too many formats: </a:t>
            </a:r>
            <a:r>
              <a:rPr sz="1250" b="0">
                <a:solidFill>
                  <a:srgbClr val="1E2530"/>
                </a:solidFill>
                <a:latin typeface="Calibri"/>
              </a:rPr>
              <a:t>Syslog, JSON, CEF, K8s, Java, free text, all in one stream.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Manual parsers break: </a:t>
            </a:r>
            <a:r>
              <a:rPr sz="1250" b="0">
                <a:solidFill>
                  <a:srgbClr val="1E2530"/>
                </a:solidFill>
                <a:latin typeface="Calibri"/>
              </a:rPr>
              <a:t>every new source needs a hand-written regex.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AI on every line is too costly: </a:t>
            </a:r>
            <a:r>
              <a:rPr sz="1250" b="0">
                <a:solidFill>
                  <a:srgbClr val="1E2530"/>
                </a:solidFill>
                <a:latin typeface="Calibri"/>
              </a:rPr>
              <a:t>slow and expensive at millions of lines/day.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Compliance: </a:t>
            </a:r>
            <a:r>
              <a:rPr sz="1250" b="0">
                <a:solidFill>
                  <a:srgbClr val="1E2530"/>
                </a:solidFill>
                <a:latin typeface="Calibri"/>
              </a:rPr>
              <a:t>CERT-In requires 180-day, searchable logs of all ICT systems.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1444752"/>
            <a:ext cx="58521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Tiered pipeline: </a:t>
            </a:r>
            <a:r>
              <a:rPr sz="1250" b="0">
                <a:solidFill>
                  <a:srgbClr val="1E2530"/>
                </a:solidFill>
                <a:latin typeface="Calibri"/>
              </a:rPr>
              <a:t>the cheapest tier answers first; the LLM is the last resort.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Learn once: </a:t>
            </a:r>
            <a:r>
              <a:rPr sz="1250" b="0">
                <a:solidFill>
                  <a:srgbClr val="1E2530"/>
                </a:solidFill>
                <a:latin typeface="Calibri"/>
              </a:rPr>
              <a:t>the LLM writes one rule per template; reused with zero AI calls.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ML novelty gate: </a:t>
            </a:r>
            <a:r>
              <a:rPr sz="1250" b="0">
                <a:solidFill>
                  <a:srgbClr val="1E2530"/>
                </a:solidFill>
                <a:latin typeface="Calibri"/>
              </a:rPr>
              <a:t>spots never-seen formats and quarantines floods.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One schema: </a:t>
            </a:r>
            <a:r>
              <a:rPr sz="1250" b="0">
                <a:solidFill>
                  <a:srgbClr val="1E2530"/>
                </a:solidFill>
                <a:latin typeface="Calibri"/>
              </a:rPr>
              <a:t>timestamp · source · event_type · severity · message · extra.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Ready to use: </a:t>
            </a:r>
            <a:r>
              <a:rPr sz="1250" b="0">
                <a:solidFill>
                  <a:srgbClr val="1E2530"/>
                </a:solidFill>
                <a:latin typeface="Calibri"/>
              </a:rPr>
              <a:t>REST API, web console and a Bash log collector.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2971800"/>
            <a:ext cx="11430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B2A5B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" y="327355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5760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Too many formats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1F5FBF"/>
                </a:solidFill>
                <a:latin typeface="Calibri"/>
              </a:rPr>
              <a:t>Rules auto-learned per template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64408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37560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Manual parsers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F58220"/>
                </a:solidFill>
                <a:latin typeface="Calibri"/>
              </a:rPr>
              <a:t>Zero hand-written regex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3056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6208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AI cost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138A36"/>
                </a:solidFill>
                <a:latin typeface="Calibri"/>
              </a:rPr>
              <a:t>99.5% of lines skip the LLM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61704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4856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Compliance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6A3FB5"/>
                </a:solidFill>
                <a:latin typeface="Calibri"/>
              </a:rPr>
              <a:t>UTC-normalised, searchable schema</a:t>
            </a:r>
          </a:p>
        </p:txBody>
      </p:sp>
      <p:sp>
        <p:nvSpPr>
          <p:cNvPr id="51" name="Oval 50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2" name="Picture 51" descr="sih_ico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" name="Rectangle 8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Methodology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0965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5833872"/>
            <a:ext cx="4937760" cy="502920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833872"/>
            <a:ext cx="47548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38A36"/>
                </a:solidFill>
                <a:latin typeface="Calibri"/>
              </a:rPr>
              <a:t>Prototype: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view it at </a:t>
            </a:r>
            <a:r>
              <a:rPr sz="1050" b="1" i="0">
                <a:solidFill>
                  <a:srgbClr val="1F5FBF"/>
                </a:solidFill>
                <a:latin typeface="Calibri"/>
                <a:hlinkClick r:id="rId2"/>
              </a:rPr>
              <a:t>sih2026-w6sr.vercel.app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1143000"/>
            <a:ext cx="3063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F5FBF"/>
                </a:solidFill>
                <a:latin typeface="Calibri"/>
              </a:rPr>
              <a:t>PIPELINE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389888"/>
            <a:ext cx="3063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Solid path = every line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LLM is reached only for new templates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2344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Log Ingestion / Buffering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874519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1: Fingerprint Cache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regex fast path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25146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2a: Drain3 Template Mining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~0.016 ms / line</a:t>
            </a:r>
          </a:p>
        </p:txBody>
      </p:sp>
      <p:sp>
        <p:nvSpPr>
          <p:cNvPr id="24" name="Diamond 23"/>
          <p:cNvSpPr/>
          <p:nvPr/>
        </p:nvSpPr>
        <p:spPr>
          <a:xfrm>
            <a:off x="5852159" y="3127248"/>
            <a:ext cx="2514600" cy="822960"/>
          </a:xfrm>
          <a:prstGeom prst="diamond">
            <a:avLst/>
          </a:prstGeom>
          <a:solidFill>
            <a:srgbClr val="FFF4E0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1E2530"/>
                </a:solidFill>
                <a:latin typeface="Calibri"/>
              </a:rPr>
              <a:t>Template already has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1E2530"/>
                </a:solidFill>
                <a:latin typeface="Calibri"/>
              </a:rPr>
              <a:t>a learned rule?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310128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scikit-learn FormatGate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known vs novel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3a: LLM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Discovery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once per template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3b: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Quarantine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LLM only on graduation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5120640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Store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fingerprint + template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51206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2b: Execute Cached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zero LLM calls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5779008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4: Normalize to Common Schema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9460" y="1691640"/>
            <a:ext cx="0" cy="182879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109460" y="2331720"/>
            <a:ext cx="0" cy="18288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55180" y="2286000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B6778"/>
                </a:solidFill>
                <a:latin typeface="Calibri"/>
              </a:rPr>
              <a:t>miss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09460" y="2971800"/>
            <a:ext cx="0" cy="15544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09460" y="3950208"/>
            <a:ext cx="0" cy="1170432"/>
          </a:xfrm>
          <a:prstGeom prst="line">
            <a:avLst/>
          </a:prstGeom>
          <a:ln w="25400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82612" y="438912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66760" y="3538728"/>
            <a:ext cx="640080" cy="0"/>
          </a:xfrm>
          <a:prstGeom prst="line">
            <a:avLst/>
          </a:prstGeom>
          <a:ln w="25400">
            <a:solidFill>
              <a:srgbClr val="F58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0" y="329184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58220"/>
                </a:solidFill>
                <a:latin typeface="Calibri"/>
              </a:rPr>
              <a:t>No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445752" y="376732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84180" y="376732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0" y="3840480"/>
            <a:ext cx="14630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known / shadow mode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3840480"/>
            <a:ext cx="1234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novel + enforce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45752" y="472744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584180" y="472744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458200" y="5349240"/>
            <a:ext cx="548640" cy="0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109460" y="5577840"/>
            <a:ext cx="0" cy="20116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365760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72768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Core language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572768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REST API backend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572768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Groups similar log lines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31720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ML: spots new formats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295144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5146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Gemini · Groq · Claude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331720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Accuracy reports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054096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273552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Collects system logs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090672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Live deployment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090672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Stores learned rules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5760" y="4178808"/>
            <a:ext cx="4937760" cy="1600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① </a:t>
            </a:r>
            <a:r>
              <a:rPr sz="1300" b="1">
                <a:solidFill>
                  <a:srgbClr val="0B2A5B"/>
                </a:solidFill>
                <a:latin typeface="Calibri"/>
              </a:rPr>
              <a:t>Collect: </a:t>
            </a:r>
            <a:r>
              <a:rPr sz="1300" b="0">
                <a:solidFill>
                  <a:srgbClr val="1E2530"/>
                </a:solidFill>
                <a:latin typeface="Calibri"/>
              </a:rPr>
              <a:t>logs come in through the API or a Bash script.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② </a:t>
            </a:r>
            <a:r>
              <a:rPr sz="1300" b="1">
                <a:solidFill>
                  <a:srgbClr val="0B2A5B"/>
                </a:solidFill>
                <a:latin typeface="Calibri"/>
              </a:rPr>
              <a:t>Group: </a:t>
            </a:r>
            <a:r>
              <a:rPr sz="1300" b="0">
                <a:solidFill>
                  <a:srgbClr val="1E2530"/>
                </a:solidFill>
                <a:latin typeface="Calibri"/>
              </a:rPr>
              <a:t>similar lines are grouped into templates.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③ </a:t>
            </a:r>
            <a:r>
              <a:rPr sz="1300" b="1">
                <a:solidFill>
                  <a:srgbClr val="0B2A5B"/>
                </a:solidFill>
                <a:latin typeface="Calibri"/>
              </a:rPr>
              <a:t>Check: </a:t>
            </a:r>
            <a:r>
              <a:rPr sz="1300" b="0">
                <a:solidFill>
                  <a:srgbClr val="1E2530"/>
                </a:solidFill>
                <a:latin typeface="Calibri"/>
              </a:rPr>
              <a:t>ML decides: known format or brand new?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④ </a:t>
            </a:r>
            <a:r>
              <a:rPr sz="1300" b="1">
                <a:solidFill>
                  <a:srgbClr val="0B2A5B"/>
                </a:solidFill>
                <a:latin typeface="Calibri"/>
              </a:rPr>
              <a:t>Learn: </a:t>
            </a:r>
            <a:r>
              <a:rPr sz="1300" b="0">
                <a:solidFill>
                  <a:srgbClr val="1E2530"/>
                </a:solidFill>
                <a:latin typeface="Calibri"/>
              </a:rPr>
              <a:t>AI writes a rule once; it is reused forever.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⑤ </a:t>
            </a:r>
            <a:r>
              <a:rPr sz="1300" b="1">
                <a:solidFill>
                  <a:srgbClr val="0B2A5B"/>
                </a:solidFill>
                <a:latin typeface="Calibri"/>
              </a:rPr>
              <a:t>Output: </a:t>
            </a:r>
            <a:r>
              <a:rPr sz="1300" b="0">
                <a:solidFill>
                  <a:srgbClr val="1E2530"/>
                </a:solidFill>
                <a:latin typeface="Calibri"/>
              </a:rPr>
              <a:t>every log leaves in one clean, common format.</a:t>
            </a:r>
          </a:p>
        </p:txBody>
      </p:sp>
      <p:sp>
        <p:nvSpPr>
          <p:cNvPr id="87" name="Oval 86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88" name="Picture 87" descr="sih_icon_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" name="Rectangle 5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365760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097280"/>
            <a:ext cx="3657600" cy="457200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097280"/>
            <a:ext cx="3657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691640"/>
            <a:ext cx="3364992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Proven technology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Built on free, trusted open-source tools.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Low cost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AI is used only for new log formats, so bills stay small.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Easy to adopt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Connect any log source; no parser writing needed.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Data available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Uses public log datasets; no private data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65592" y="1097280"/>
            <a:ext cx="370332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65592" y="1097280"/>
            <a:ext cx="3703320" cy="457200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1097280"/>
            <a:ext cx="37033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3" y="1691640"/>
            <a:ext cx="3410712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F5FBF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Real need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CERT-In asks every organisation to keep 180 days of logs.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F5FBF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Data stays in India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Can run on Indian / on-premise servers.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F5FBF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Business model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Free open-source core + paid support for govt &amp; companies.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F5FBF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Grows easily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More logs do not mean more AI cost.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1097280"/>
            <a:ext cx="3776472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06240" y="1097280"/>
            <a:ext cx="3776472" cy="457200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1097280"/>
            <a:ext cx="3776472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719072"/>
            <a:ext cx="1600200" cy="603504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70832" y="1719072"/>
            <a:ext cx="154533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16168" y="1719072"/>
            <a:ext cx="27432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719072"/>
            <a:ext cx="1645920" cy="603504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2" y="1719072"/>
            <a:ext cx="159105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Switches to a backup AI, then built-in rules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2414015"/>
            <a:ext cx="1600200" cy="603504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70832" y="2414015"/>
            <a:ext cx="154533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C0392B"/>
                </a:solidFill>
                <a:latin typeface="Calibri"/>
              </a:rPr>
              <a:t>AI cost at large 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16168" y="2414015"/>
            <a:ext cx="27432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2414015"/>
            <a:ext cx="1645920" cy="603504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45352" y="2414015"/>
            <a:ext cx="159105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AI runs once per log format, not per line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3108960"/>
            <a:ext cx="1600200" cy="603504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70832" y="3108960"/>
            <a:ext cx="154533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C0392B"/>
                </a:solidFill>
                <a:latin typeface="Calibri"/>
              </a:rPr>
              <a:t>A normal log looks 'new'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16168" y="3108960"/>
            <a:ext cx="27432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108960"/>
            <a:ext cx="1645920" cy="603504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45352" y="3108960"/>
            <a:ext cx="159105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Held for review, never lost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43400" y="3803904"/>
            <a:ext cx="1600200" cy="603504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70832" y="3803904"/>
            <a:ext cx="154533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C0392B"/>
                </a:solidFill>
                <a:latin typeface="Calibri"/>
              </a:rPr>
              <a:t>Brand-new systems appear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16168" y="3803904"/>
            <a:ext cx="27432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803904"/>
            <a:ext cx="1645920" cy="603504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45352" y="3803904"/>
            <a:ext cx="159105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Model retrained with one command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4681728"/>
            <a:ext cx="11503152" cy="1673352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736592"/>
            <a:ext cx="109728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B2A5B"/>
                </a:solidFill>
                <a:latin typeface="Calibri"/>
              </a:rPr>
              <a:t>TESTED ON REAL-WORLD LOGS  (public Loghub datasets)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074920"/>
            <a:ext cx="267004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102352"/>
            <a:ext cx="2670048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1F5FBF"/>
                </a:solidFill>
                <a:latin typeface="Calibri"/>
              </a:rPr>
              <a:t>100%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687568"/>
            <a:ext cx="248716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log formats identified correctly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64992" y="5074920"/>
            <a:ext cx="267004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64992" y="5102352"/>
            <a:ext cx="2670048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58220"/>
                </a:solidFill>
                <a:latin typeface="Calibri"/>
              </a:rPr>
              <a:t>95.2%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56432" y="5687568"/>
            <a:ext cx="248716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new, unseen formats caught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81344" y="5074920"/>
            <a:ext cx="267004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81344" y="5102352"/>
            <a:ext cx="2670048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138A36"/>
                </a:solidFill>
                <a:latin typeface="Calibri"/>
              </a:rPr>
              <a:t>99.5%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2783" y="5687568"/>
            <a:ext cx="248716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logs processed without calling AI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997696" y="5074920"/>
            <a:ext cx="267004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97696" y="5102352"/>
            <a:ext cx="2670048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6A3FB5"/>
                </a:solidFill>
                <a:latin typeface="Calibri"/>
              </a:rPr>
              <a:t>0.28 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89136" y="5687568"/>
            <a:ext cx="248716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to process one log line</a:t>
            </a:r>
          </a:p>
        </p:txBody>
      </p:sp>
      <p:sp>
        <p:nvSpPr>
          <p:cNvPr id="55" name="Oval 5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6" name="Picture 55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Rectangle 6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0" name="Oval 59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61" name="Picture 60" descr="sih_icon_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097280"/>
            <a:ext cx="5669280" cy="3291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Impact on NTRO &amp; NCIIPC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2336" y="1435608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5760" y="1627632"/>
            <a:ext cx="73152" cy="38404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0352" y="1609344"/>
            <a:ext cx="548640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50" b="1">
                <a:solidFill>
                  <a:srgbClr val="1F5FBF"/>
                </a:solidFill>
                <a:latin typeface="Calibri"/>
              </a:rPr>
              <a:t>One view of all sectors</a:t>
            </a:r>
            <a:r>
              <a:rPr sz="1250" b="0">
                <a:solidFill>
                  <a:srgbClr val="1E2530"/>
                </a:solidFill>
                <a:latin typeface="Calibri"/>
              </a:rPr>
              <a:t>  —  power, banking, telecom &amp; govt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103120"/>
            <a:ext cx="73152" cy="38404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0352" y="2084832"/>
            <a:ext cx="548640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50" b="1">
                <a:solidFill>
                  <a:srgbClr val="138A36"/>
                </a:solidFill>
                <a:latin typeface="Calibri"/>
              </a:rPr>
              <a:t>Faster threat detection</a:t>
            </a:r>
            <a:r>
              <a:rPr sz="1250" b="0">
                <a:solidFill>
                  <a:srgbClr val="1E2530"/>
                </a:solidFill>
                <a:latin typeface="Calibri"/>
              </a:rPr>
              <a:t>  —  search one clean format, not hundreds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578608"/>
            <a:ext cx="73152" cy="3840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30352" y="2560320"/>
            <a:ext cx="548640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50" b="1">
                <a:solidFill>
                  <a:srgbClr val="F58220"/>
                </a:solidFill>
                <a:latin typeface="Calibri"/>
              </a:rPr>
              <a:t>Unusual logs flagged</a:t>
            </a:r>
            <a:r>
              <a:rPr sz="1250" b="0">
                <a:solidFill>
                  <a:srgbClr val="1E2530"/>
                </a:solidFill>
                <a:latin typeface="Calibri"/>
              </a:rPr>
              <a:t>  —  new device, misconfig or tampering spotted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3054096"/>
            <a:ext cx="73152" cy="384048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0352" y="3035808"/>
            <a:ext cx="548640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50" b="1">
                <a:solidFill>
                  <a:srgbClr val="6A3FB5"/>
                </a:solidFill>
                <a:latin typeface="Calibri"/>
              </a:rPr>
              <a:t>Sovereign &amp; offline</a:t>
            </a:r>
            <a:r>
              <a:rPr sz="1250" b="0">
                <a:solidFill>
                  <a:srgbClr val="1E2530"/>
                </a:solidFill>
                <a:latin typeface="Calibri"/>
              </a:rPr>
              <a:t>  —  runs on-premise; logs never leave India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63640" y="1097280"/>
            <a:ext cx="5577840" cy="3291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Benefits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0216" y="1435608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63640" y="1627632"/>
            <a:ext cx="1417320" cy="384048"/>
          </a:xfrm>
          <a:prstGeom prst="roundRect">
            <a:avLst>
              <a:gd name="adj" fmla="val 30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>
                <a:solidFill>
                  <a:srgbClr val="1F5FBF"/>
                </a:solidFill>
                <a:latin typeface="Calibri"/>
              </a:rPr>
              <a:t>Social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72400" y="1609344"/>
            <a:ext cx="411480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50" b="0">
                <a:solidFill>
                  <a:srgbClr val="1E2530"/>
                </a:solidFill>
                <a:latin typeface="Calibri"/>
              </a:rPr>
              <a:t>safer power, banking &amp; telecom for citizens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63640" y="2103120"/>
            <a:ext cx="1417320" cy="384048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>
                <a:solidFill>
                  <a:srgbClr val="B35C00"/>
                </a:solidFill>
                <a:latin typeface="Calibri"/>
              </a:rPr>
              <a:t>Economic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72400" y="2084832"/>
            <a:ext cx="411480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50" b="0">
                <a:solidFill>
                  <a:srgbClr val="1E2530"/>
                </a:solidFill>
                <a:latin typeface="Calibri"/>
              </a:rPr>
              <a:t>no costly paid tools; tiny AI bill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63640" y="2578608"/>
            <a:ext cx="1417320" cy="384048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>
                <a:solidFill>
                  <a:srgbClr val="138A36"/>
                </a:solidFill>
                <a:latin typeface="Calibri"/>
              </a:rPr>
              <a:t>Environmental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72400" y="2560320"/>
            <a:ext cx="411480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50" b="0">
                <a:solidFill>
                  <a:srgbClr val="1E2530"/>
                </a:solidFill>
                <a:latin typeface="Calibri"/>
              </a:rPr>
              <a:t>99.5% fewer AI calls = less energy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63640" y="3054096"/>
            <a:ext cx="1417320" cy="384048"/>
          </a:xfrm>
          <a:prstGeom prst="roundRect">
            <a:avLst>
              <a:gd name="adj" fmla="val 3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>
                <a:solidFill>
                  <a:srgbClr val="6A3FB5"/>
                </a:solidFill>
                <a:latin typeface="Calibri"/>
              </a:rPr>
              <a:t>Strategic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72400" y="3035808"/>
            <a:ext cx="411480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50" b="0">
                <a:solidFill>
                  <a:srgbClr val="1E2530"/>
                </a:solidFill>
                <a:latin typeface="Calibri"/>
              </a:rPr>
              <a:t>self-reliant, open-source, CERT-In ready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3611880"/>
            <a:ext cx="11430000" cy="3291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Same workload, three approaches</a:t>
            </a:r>
            <a:r>
              <a:rPr sz="1200" b="0">
                <a:solidFill>
                  <a:srgbClr val="5F6B7A"/>
                </a:solidFill>
                <a:latin typeface="Calibri"/>
              </a:rPr>
              <a:t>   1 million logs / day in a big organisation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02336" y="3950208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5760" y="4114800"/>
            <a:ext cx="566928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169664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Cost for one year</a:t>
            </a:r>
          </a:p>
        </p:txBody>
      </p:sp>
      <p:graphicFrame>
        <p:nvGraphicFramePr>
          <p:cNvPr id="88" name="Chart 87"/>
          <p:cNvGraphicFramePr>
            <a:graphicFrameLocks noGrp="1"/>
          </p:cNvGraphicFramePr>
          <p:nvPr/>
        </p:nvGraphicFramePr>
        <p:xfrm>
          <a:off x="457200" y="4434840"/>
          <a:ext cx="3840480" cy="1691640"/>
        </p:xfrm>
        <a:graphic>
          <a:graphicData uri="http://schemas.openxmlformats.org/drawingml/2006/chart">
            <c:chart xmlns:c="http://schemas.openxmlformats.org/drawingml/2006/chart" r:id="rId12"/>
          </a:graphicData>
        </a:graphic>
      </p:graphicFrame>
      <p:sp>
        <p:nvSpPr>
          <p:cNvPr id="89" name="Rounded Rectangle 88"/>
          <p:cNvSpPr/>
          <p:nvPr/>
        </p:nvSpPr>
        <p:spPr>
          <a:xfrm>
            <a:off x="4389120" y="4526280"/>
            <a:ext cx="1508760" cy="1463040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3000" b="1">
                <a:solidFill>
                  <a:srgbClr val="138A36"/>
                </a:solidFill>
                <a:latin typeface="Calibri"/>
              </a:rPr>
              <a:t>80×</a:t>
            </a:r>
          </a:p>
          <a:p>
            <a:pPr algn="ctr"/>
            <a:r>
              <a:rPr sz="1100" b="0">
                <a:solidFill>
                  <a:srgbClr val="1E2530"/>
                </a:solidFill>
                <a:latin typeface="Calibri"/>
              </a:rPr>
              <a:t>cheaper than</a:t>
            </a:r>
          </a:p>
          <a:p>
            <a:pPr algn="ctr"/>
            <a:r>
              <a:rPr sz="1100" b="1">
                <a:solidFill>
                  <a:srgbClr val="1E2530"/>
                </a:solidFill>
                <a:latin typeface="Calibri"/>
              </a:rPr>
              <a:t>AI on every line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99632" y="4114800"/>
            <a:ext cx="566928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36792" y="4169664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Share of logs sent to AI</a:t>
            </a:r>
          </a:p>
        </p:txBody>
      </p:sp>
      <p:graphicFrame>
        <p:nvGraphicFramePr>
          <p:cNvPr id="92" name="Chart 91"/>
          <p:cNvGraphicFramePr>
            <a:graphicFrameLocks noGrp="1"/>
          </p:cNvGraphicFramePr>
          <p:nvPr/>
        </p:nvGraphicFramePr>
        <p:xfrm>
          <a:off x="6446520" y="4462272"/>
          <a:ext cx="1371600" cy="1371600"/>
        </p:xfrm>
        <a:graphic>
          <a:graphicData uri="http://schemas.openxmlformats.org/drawingml/2006/chart">
            <c:chart xmlns:c="http://schemas.openxmlformats.org/drawingml/2006/chart" r:id="rId13"/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6446520" y="4928616"/>
            <a:ext cx="13716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700" b="1">
                <a:solidFill>
                  <a:srgbClr val="C0392B"/>
                </a:solidFill>
                <a:latin typeface="Calibri"/>
              </a:rPr>
              <a:t>100%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172200" y="5852160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Calibri"/>
              </a:rPr>
              <a:t>AI on every line</a:t>
            </a:r>
          </a:p>
        </p:txBody>
      </p:sp>
      <p:graphicFrame>
        <p:nvGraphicFramePr>
          <p:cNvPr id="95" name="Chart 94"/>
          <p:cNvGraphicFramePr>
            <a:graphicFrameLocks noGrp="1"/>
          </p:cNvGraphicFramePr>
          <p:nvPr/>
        </p:nvGraphicFramePr>
        <p:xfrm>
          <a:off x="8092440" y="4462272"/>
          <a:ext cx="1371600" cy="1371600"/>
        </p:xfrm>
        <a:graphic>
          <a:graphicData uri="http://schemas.openxmlformats.org/drawingml/2006/chart">
            <c:chart xmlns:c="http://schemas.openxmlformats.org/drawingml/2006/chart" r:id="rId14"/>
          </a:graphicData>
        </a:graphic>
      </p:graphicFrame>
      <p:sp>
        <p:nvSpPr>
          <p:cNvPr id="96" name="TextBox 95"/>
          <p:cNvSpPr txBox="1"/>
          <p:nvPr/>
        </p:nvSpPr>
        <p:spPr>
          <a:xfrm>
            <a:off x="8092440" y="4928616"/>
            <a:ext cx="13716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700" b="1">
                <a:solidFill>
                  <a:srgbClr val="138A36"/>
                </a:solidFill>
                <a:latin typeface="Calibri"/>
              </a:rPr>
              <a:t>0.5%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818120" y="5852160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0195560" y="4526280"/>
            <a:ext cx="1508760" cy="1463040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2600" b="1">
                <a:solidFill>
                  <a:srgbClr val="138A36"/>
                </a:solidFill>
                <a:latin typeface="Calibri"/>
              </a:rPr>
              <a:t>99.5%</a:t>
            </a:r>
          </a:p>
          <a:p>
            <a:pPr algn="ctr"/>
            <a:r>
              <a:rPr sz="1100" b="1">
                <a:solidFill>
                  <a:srgbClr val="1E2530"/>
                </a:solidFill>
                <a:latin typeface="Calibri"/>
              </a:rPr>
              <a:t>fewer AI calls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5760" y="6245352"/>
            <a:ext cx="1150315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F6B7A"/>
                </a:solidFill>
                <a:latin typeface="Calibri"/>
              </a:rPr>
              <a:t>Illustrative estimate for ~50 log sources; our AI-call rate is measured in our benchmark.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7"/>
            <a:ext cx="73152" cy="156362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61288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Calibri"/>
              </a:rPr>
              <a:t>Research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627632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 log parsing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He et al., IEEE ICWS 2017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Loghub real-world log datasets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IEEE ISSRE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Log-parser benchmark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ICSE-SEIP 2019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99232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3152" cy="156362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63239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Government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NCIIPC, NTRO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IT Act Sec. 70A</a:t>
            </a:r>
            <a:r>
              <a:rPr sz="1300" b="0">
                <a:solidFill>
                  <a:srgbClr val="1F5FBF"/>
                </a:solidFill>
                <a:latin typeface="Calibri"/>
                <a:hlinkClick r:id="rId9"/>
              </a:rPr>
              <a:t>  ·  nciipc.gov.in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CERT-In Directions 2022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keep logs 180 days</a:t>
            </a:r>
            <a:r>
              <a:rPr sz="1300" b="0">
                <a:solidFill>
                  <a:srgbClr val="1F5FBF"/>
                </a:solidFill>
                <a:latin typeface="Calibri"/>
                <a:hlinkClick r:id="rId3"/>
              </a:rPr>
              <a:t>  ·  cert-in.org.in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DPDP Act 2023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Govt. of India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901184"/>
            <a:ext cx="731520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10912"/>
            <a:ext cx="73152" cy="122529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65192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38A36"/>
                </a:solidFill>
                <a:latin typeface="Calibri"/>
              </a:rPr>
              <a:t>Standards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76672"/>
            <a:ext cx="6995160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Syslog (RFC 5424) · ISO 8601 time format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Drain3 library</a:t>
            </a:r>
            <a:r>
              <a:rPr sz="1300" b="0">
                <a:solidFill>
                  <a:srgbClr val="1F5FBF"/>
                </a:solidFill>
                <a:latin typeface="Calibri"/>
                <a:hlinkClick r:id="rId4"/>
              </a:rPr>
              <a:t>  ·  github.com/logpai/Drain3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Scikit-learn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Pedregosa et al., JMLR 2011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2" y="3794760"/>
            <a:ext cx="2057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  <p:sp>
        <p:nvSpPr>
          <p:cNvPr id="35" name="Oval 3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36" name="Picture 35" descr="sih_icon_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