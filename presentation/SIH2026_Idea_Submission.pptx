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138A36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50" b="1">
                        <a:solidFill>
                          <a:srgbClr val="C0392B"/>
                        </a:solidFill>
                      </a:rPr>
                      <a:t>~1,000 ms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50" b="1">
                        <a:solidFill>
                          <a:srgbClr val="138A36"/>
                        </a:solidFill>
                      </a:rPr>
                      <a:t>0.28 ms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Asking AI</c:v>
                </c:pt>
                <c:pt idx="1">
                  <c:v>Our saved rule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</c:v>
                </c:pt>
                <c:pt idx="1">
                  <c:v>0.28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5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1F5FBF"/>
              </a:solidFill>
            </c:spPr>
          </c:dPt>
          <c:dPt>
            <c:idx val="1"/>
            <c:spPr>
              <a:solidFill>
                <a:srgbClr val="0E8C8C"/>
              </a:solidFill>
            </c:spPr>
          </c:dPt>
          <c:dPt>
            <c:idx val="2"/>
            <c:spPr>
              <a:solidFill>
                <a:srgbClr val="F58220"/>
              </a:solidFill>
            </c:spPr>
          </c:dPt>
          <c:dPt>
            <c:idx val="3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F5FBF"/>
                        </a:solidFill>
                      </a:rPr>
                      <a:t>100%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0E8C8C"/>
                        </a:solidFill>
                      </a:rPr>
                      <a:t>97.2%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F58220"/>
                        </a:solidFill>
                      </a:rPr>
                      <a:t>95.2%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38A36"/>
                        </a:solidFill>
                      </a:rPr>
                      <a:t>99.5%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Log type identified</c:v>
                </c:pt>
                <c:pt idx="1">
                  <c:v>Similar lines grouped</c:v>
                </c:pt>
                <c:pt idx="2">
                  <c:v>New formats caught</c:v>
                </c:pt>
                <c:pt idx="3">
                  <c:v>Logs handled without AI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97.2</c:v>
                </c:pt>
                <c:pt idx="2">
                  <c:v>95.2</c:v>
                </c:pt>
                <c:pt idx="3">
                  <c:v>99.5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5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5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5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5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5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5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Relationship Id="rId6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109/ICWS.2017.13" TargetMode="External"/><Relationship Id="rId4" Type="http://schemas.openxmlformats.org/officeDocument/2006/relationships/hyperlink" Target="https://github.com/logpai/loghub" TargetMode="External"/><Relationship Id="rId5" Type="http://schemas.openxmlformats.org/officeDocument/2006/relationships/hyperlink" Target="https://arxiv.org/abs/1811.03509" TargetMode="External"/><Relationship Id="rId6" Type="http://schemas.openxmlformats.org/officeDocument/2006/relationships/hyperlink" Target="https://nciipc.gov.in" TargetMode="External"/><Relationship Id="rId7" Type="http://schemas.openxmlformats.org/officeDocument/2006/relationships/hyperlink" Target="https://www.cert-in.org.in/PDF/CERT-In_Directions_70B_28.04.2022.pdf" TargetMode="External"/><Relationship Id="rId8" Type="http://schemas.openxmlformats.org/officeDocument/2006/relationships/hyperlink" Target="https://www.meity.gov.in/" TargetMode="External"/><Relationship Id="rId9" Type="http://schemas.openxmlformats.org/officeDocument/2006/relationships/hyperlink" Target="https://github.com/logpai/Drain3" TargetMode="External"/><Relationship Id="rId10" Type="http://schemas.openxmlformats.org/officeDocument/2006/relationships/hyperlink" Target="https://www.rfc-editor.org/rfc/rfc5424" TargetMode="External"/><Relationship Id="rId11" Type="http://schemas.openxmlformats.org/officeDocument/2006/relationships/image" Target="../media/image13.png"/><Relationship Id="rId12" Type="http://schemas.openxmlformats.org/officeDocument/2006/relationships/hyperlink" Target="https://sih2026-w6sr.vercel.app" TargetMode="External"/><Relationship Id="rId13" Type="http://schemas.openxmlformats.org/officeDocument/2006/relationships/image" Target="../media/image14.png"/><Relationship Id="rId14" Type="http://schemas.openxmlformats.org/officeDocument/2006/relationships/hyperlink" Target="https://github.com/agrwl-utkarsh/sih2026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"/>
            <a:ext cx="9052560" cy="7315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pic>
        <p:nvPicPr>
          <p:cNvPr id="3" name="Picture 2" descr="sih_icon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91440"/>
            <a:ext cx="714499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789920" y="128016"/>
            <a:ext cx="1371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234440"/>
            <a:ext cx="5120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Times New Roman"/>
              </a:rPr>
              <a:t>TITLE PAGE</a:t>
            </a:r>
          </a:p>
        </p:txBody>
      </p:sp>
      <p:sp>
        <p:nvSpPr>
          <p:cNvPr id="6" name="Hexagon 5"/>
          <p:cNvSpPr/>
          <p:nvPr/>
        </p:nvSpPr>
        <p:spPr>
          <a:xfrm>
            <a:off x="6720840" y="1097280"/>
            <a:ext cx="1508760" cy="1417320"/>
          </a:xfrm>
          <a:prstGeom prst="hexagon">
            <a:avLst/>
          </a:prstGeom>
          <a:noFill/>
          <a:ln w="762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xagon 6"/>
          <p:cNvSpPr/>
          <p:nvPr/>
        </p:nvSpPr>
        <p:spPr>
          <a:xfrm>
            <a:off x="7040880" y="1691640"/>
            <a:ext cx="3931920" cy="4389120"/>
          </a:xfrm>
          <a:prstGeom prst="hexagon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6172200" y="4343400"/>
            <a:ext cx="1005840" cy="1188720"/>
          </a:xfrm>
          <a:prstGeom prst="hexagon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h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240280"/>
            <a:ext cx="2973044" cy="3611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2148840"/>
            <a:ext cx="6583680" cy="35661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0"/>
              </a:spcAft>
            </a:pPr>
            <a:r>
              <a:rPr sz="1900" b="1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Problem Statement ID – </a:t>
            </a:r>
            <a:r>
              <a:rPr sz="1900" b="0">
                <a:solidFill>
                  <a:srgbClr val="F58220"/>
                </a:solidFill>
                <a:latin typeface="Arial"/>
              </a:rPr>
              <a:t>[PS ID]</a:t>
            </a:r>
          </a:p>
          <a:p>
            <a:pPr algn="l">
              <a:spcAft>
                <a:spcPts val="2000"/>
              </a:spcAft>
            </a:pPr>
            <a:r>
              <a:rPr sz="1900" b="1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Problem Statement Title – </a:t>
            </a:r>
            <a:r>
              <a:rPr sz="1900" b="0">
                <a:solidFill>
                  <a:srgbClr val="F58220"/>
                </a:solidFill>
                <a:latin typeface="Arial"/>
              </a:rPr>
              <a:t>[Problem Statement Title]</a:t>
            </a:r>
          </a:p>
          <a:p>
            <a:pPr algn="l">
              <a:spcAft>
                <a:spcPts val="2000"/>
              </a:spcAft>
            </a:pPr>
            <a:r>
              <a:rPr sz="1900" b="1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Theme – </a:t>
            </a:r>
            <a:r>
              <a:rPr sz="1900" b="0">
                <a:solidFill>
                  <a:srgbClr val="F58220"/>
                </a:solidFill>
                <a:latin typeface="Arial"/>
              </a:rPr>
              <a:t>[Theme]</a:t>
            </a:r>
          </a:p>
          <a:p>
            <a:pPr algn="l">
              <a:spcAft>
                <a:spcPts val="2000"/>
              </a:spcAft>
            </a:pPr>
            <a:r>
              <a:rPr sz="1900" b="1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PS Category – </a:t>
            </a:r>
            <a:r>
              <a:rPr sz="1900" b="0">
                <a:solidFill>
                  <a:srgbClr val="1E2530"/>
                </a:solidFill>
                <a:latin typeface="Arial"/>
              </a:rPr>
              <a:t>Software</a:t>
            </a:r>
          </a:p>
          <a:p>
            <a:pPr algn="l">
              <a:spcAft>
                <a:spcPts val="2000"/>
              </a:spcAft>
            </a:pPr>
            <a:r>
              <a:rPr sz="1900" b="1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Team ID – </a:t>
            </a:r>
            <a:r>
              <a:rPr sz="1900" b="0">
                <a:solidFill>
                  <a:srgbClr val="F58220"/>
                </a:solidFill>
                <a:latin typeface="Arial"/>
              </a:rPr>
              <a:t>[Team ID]</a:t>
            </a:r>
          </a:p>
          <a:p>
            <a:pPr algn="l"/>
            <a:r>
              <a:rPr sz="1900" b="1">
                <a:solidFill>
                  <a:srgbClr val="000000"/>
                </a:solidFill>
                <a:latin typeface="Arial"/>
              </a:rPr>
              <a:t>•  </a:t>
            </a:r>
            <a:r>
              <a:rPr sz="1900" b="1">
                <a:solidFill>
                  <a:srgbClr val="000000"/>
                </a:solidFill>
                <a:latin typeface="Arial"/>
              </a:rPr>
              <a:t>Team Name (Registered on portal) – </a:t>
            </a:r>
            <a:r>
              <a:rPr sz="1900" b="0">
                <a:solidFill>
                  <a:srgbClr val="F58220"/>
                </a:solidFill>
                <a:latin typeface="Arial"/>
              </a:rPr>
              <a:t>[Team Name]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806440"/>
            <a:ext cx="6309360" cy="18288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870448"/>
            <a:ext cx="68580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Arial"/>
              </a:rPr>
              <a:t>Idea: </a:t>
            </a:r>
            <a:r>
              <a:rPr sz="1600" b="1">
                <a:solidFill>
                  <a:srgbClr val="0B2A5B"/>
                </a:solidFill>
                <a:latin typeface="Arial"/>
              </a:rPr>
              <a:t>Universal Log Pre-processing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" y="228600"/>
            <a:ext cx="1463040" cy="82296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Arial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56032"/>
            <a:ext cx="809244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2700" b="1">
                <a:solidFill>
                  <a:srgbClr val="000000"/>
                </a:solidFill>
                <a:latin typeface="Times New Roman"/>
              </a:rPr>
              <a:t>UNIVERSAL LOG PRE-PROCESSING PIPELINE</a:t>
            </a:r>
          </a:p>
        </p:txBody>
      </p:sp>
      <p:pic>
        <p:nvPicPr>
          <p:cNvPr id="4" name="Picture 3" descr="sih_icon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91440"/>
            <a:ext cx="71449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0" y="128016"/>
            <a:ext cx="1371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0" y="6464808"/>
            <a:ext cx="4507992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64808"/>
            <a:ext cx="5486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15568"/>
            <a:ext cx="114300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Arial"/>
              </a:rPr>
              <a:t>❖ </a:t>
            </a:r>
            <a:r>
              <a:rPr sz="1800" b="1" u="sng">
                <a:solidFill>
                  <a:srgbClr val="1F4E79"/>
                </a:solidFill>
                <a:latin typeface="Arial"/>
              </a:rPr>
              <a:t>Proposed Solution</a:t>
            </a:r>
            <a:r>
              <a:rPr sz="1200" b="0">
                <a:solidFill>
                  <a:srgbClr val="5F6B7A"/>
                </a:solidFill>
                <a:latin typeface="Arial"/>
              </a:rPr>
              <a:t>   Any log format in  →  one clean, common format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00200"/>
            <a:ext cx="3931920" cy="1828800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55064"/>
            <a:ext cx="3749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  <a:latin typeface="Arial"/>
              </a:rPr>
              <a:t>✖  TODAY: </a:t>
            </a:r>
            <a:r>
              <a:rPr sz="1200" b="1">
                <a:solidFill>
                  <a:srgbClr val="0B2A5B"/>
                </a:solidFill>
                <a:latin typeface="Arial"/>
              </a:rPr>
              <a:t>every system writes logs differently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039112"/>
            <a:ext cx="3657600" cy="32918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039112"/>
            <a:ext cx="36118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8E44AD"/>
                </a:solidFill>
                <a:latin typeface="Consolas"/>
              </a:rPr>
              <a:t>&lt;34&gt;Oct 11 22:14:15 srv1 sshd: Failed password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423160"/>
            <a:ext cx="3657600" cy="32918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423160"/>
            <a:ext cx="36118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B35C00"/>
                </a:solidFill>
                <a:latin typeface="Consolas"/>
              </a:rPr>
              <a:t>{"t":"22:14:16Z","lvl":"ERROR","msg":"DB timeout"}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07208"/>
            <a:ext cx="3657600" cy="32918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07208"/>
            <a:ext cx="361188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F5FBF"/>
                </a:solidFill>
                <a:latin typeface="Consolas"/>
              </a:rPr>
              <a:t>10.0.0.5 - [11/Oct/2026:22:14:17] "GET /login"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172968"/>
            <a:ext cx="37490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950" b="0">
                <a:solidFill>
                  <a:srgbClr val="5F6B7A"/>
                </a:solidFill>
                <a:latin typeface="Arial"/>
              </a:rPr>
              <a:t>Syslog · JSON · web server · firewall · … hundreds more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2240280"/>
            <a:ext cx="3657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200" b="0">
                <a:solidFill>
                  <a:srgbClr val="5F6B7A"/>
                </a:solidFill>
                <a:latin typeface="Arial"/>
              </a:rP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81728" y="1600200"/>
            <a:ext cx="2834640" cy="1828800"/>
          </a:xfrm>
          <a:prstGeom prst="roundRect">
            <a:avLst>
              <a:gd name="adj" fmla="val 6000"/>
            </a:avLst>
          </a:prstGeom>
          <a:solidFill>
            <a:srgbClr val="E8F0FB"/>
          </a:solidFill>
          <a:ln w="1587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8" y="1655064"/>
            <a:ext cx="28346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1F5FBF"/>
                </a:solidFill>
                <a:latin typeface="Arial"/>
              </a:rPr>
              <a:t>OUR PIPELINE</a:t>
            </a:r>
          </a:p>
        </p:txBody>
      </p:sp>
      <p:sp>
        <p:nvSpPr>
          <p:cNvPr id="22" name="Oval 21"/>
          <p:cNvSpPr/>
          <p:nvPr/>
        </p:nvSpPr>
        <p:spPr>
          <a:xfrm>
            <a:off x="4828032" y="2029968"/>
            <a:ext cx="329184" cy="329184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2011680"/>
            <a:ext cx="22402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2A5B"/>
                </a:solidFill>
                <a:latin typeface="Arial"/>
              </a:rPr>
              <a:t>Groups similar log lines</a:t>
            </a:r>
          </a:p>
        </p:txBody>
      </p:sp>
      <p:sp>
        <p:nvSpPr>
          <p:cNvPr id="24" name="Oval 23"/>
          <p:cNvSpPr/>
          <p:nvPr/>
        </p:nvSpPr>
        <p:spPr>
          <a:xfrm>
            <a:off x="4828032" y="2478024"/>
            <a:ext cx="329184" cy="329184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2459736"/>
            <a:ext cx="22402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2A5B"/>
                </a:solidFill>
                <a:latin typeface="Arial"/>
              </a:rPr>
              <a:t>AI learns each NEW format once</a:t>
            </a:r>
          </a:p>
        </p:txBody>
      </p:sp>
      <p:sp>
        <p:nvSpPr>
          <p:cNvPr id="26" name="Oval 25"/>
          <p:cNvSpPr/>
          <p:nvPr/>
        </p:nvSpPr>
        <p:spPr>
          <a:xfrm>
            <a:off x="4828032" y="2926080"/>
            <a:ext cx="329184" cy="329184"/>
          </a:xfrm>
          <a:prstGeom prst="ellipse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2907792"/>
            <a:ext cx="22402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2A5B"/>
                </a:solidFill>
                <a:latin typeface="Arial"/>
              </a:rPr>
              <a:t>Reuses that rule for every log 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34656" y="2240280"/>
            <a:ext cx="3657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200" b="0">
                <a:solidFill>
                  <a:srgbClr val="5F6B7A"/>
                </a:solidFill>
                <a:latin typeface="Arial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00416" y="1600200"/>
            <a:ext cx="3968496" cy="1828800"/>
          </a:xfrm>
          <a:prstGeom prst="roundRect">
            <a:avLst>
              <a:gd name="adj" fmla="val 6000"/>
            </a:avLst>
          </a:prstGeom>
          <a:solidFill>
            <a:srgbClr val="FBFDFB"/>
          </a:solidFill>
          <a:ln w="15875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91856" y="1655064"/>
            <a:ext cx="37490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38A36"/>
                </a:solidFill>
                <a:latin typeface="Arial"/>
              </a:rPr>
              <a:t>✔  RESULT: </a:t>
            </a:r>
            <a:r>
              <a:rPr sz="1200" b="1">
                <a:solidFill>
                  <a:srgbClr val="0B2A5B"/>
                </a:solidFill>
                <a:latin typeface="Arial"/>
              </a:rPr>
              <a:t>one clean, searchable table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8028432" y="2020824"/>
          <a:ext cx="3712464" cy="12618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68680"/>
                <a:gridCol w="658368"/>
                <a:gridCol w="658368"/>
                <a:gridCol w="152704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138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138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138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Message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138A3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22:14:15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WARN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sshd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Failed login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22:14:16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ERROR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DB timeout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22:14:17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ERROR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web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530"/>
                          </a:solidFill>
                          <a:latin typeface="Arial"/>
                        </a:rPr>
                        <a:t>/login → 500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365760" y="3639312"/>
            <a:ext cx="57607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E79"/>
                </a:solidFill>
                <a:latin typeface="Arial"/>
              </a:rPr>
              <a:t>How it addresses the problem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65760" y="4050792"/>
          <a:ext cx="57607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✖  Problem today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✔  How we solve it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138A36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C0392B"/>
                          </a:solidFill>
                          <a:latin typeface="Arial"/>
                        </a:rPr>
                        <a:t>Hundreds of different log formats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38A36"/>
                          </a:solidFill>
                          <a:latin typeface="Arial"/>
                        </a:rPr>
                        <a:t>Learns each format automatically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C0392B"/>
                          </a:solidFill>
                          <a:latin typeface="Arial"/>
                        </a:rPr>
                        <a:t>Hand-written parsers keep breaking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38A36"/>
                          </a:solidFill>
                          <a:latin typeface="Arial"/>
                        </a:rPr>
                        <a:t>No rules to write or fix by hand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C0392B"/>
                          </a:solidFill>
                          <a:latin typeface="Arial"/>
                        </a:rPr>
                        <a:t>AI on every log is slow &amp; costly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38A36"/>
                          </a:solidFill>
                          <a:latin typeface="Arial"/>
                        </a:rPr>
                        <a:t>AI used once per format, not per log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C0392B"/>
                          </a:solidFill>
                          <a:latin typeface="Arial"/>
                        </a:rPr>
                        <a:t>Unknown logs go unnoticed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38A36"/>
                          </a:solidFill>
                          <a:latin typeface="Arial"/>
                        </a:rPr>
                        <a:t>New formats are flagged for review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355080" y="3639312"/>
            <a:ext cx="54864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E79"/>
                </a:solidFill>
                <a:latin typeface="Arial"/>
              </a:rPr>
              <a:t>Innovation &amp; uniqueness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4050792"/>
            <a:ext cx="55138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6492240" y="4114800"/>
          <a:ext cx="1600200" cy="1600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6492240" y="4695444"/>
            <a:ext cx="16002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700" b="1">
                <a:solidFill>
                  <a:srgbClr val="138A36"/>
                </a:solidFill>
                <a:latin typeface="Arial"/>
              </a:rPr>
              <a:t>99.5%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715000"/>
            <a:ext cx="2148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Arial"/>
              </a:rPr>
              <a:t>of logs need no 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4187952"/>
            <a:ext cx="3429000" cy="384048"/>
          </a:xfrm>
          <a:prstGeom prst="roundRect">
            <a:avLst>
              <a:gd name="adj" fmla="val 3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4187952"/>
            <a:ext cx="32918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F5FBF"/>
                </a:solidFill>
                <a:latin typeface="Arial"/>
              </a:rPr>
              <a:t>✔  </a:t>
            </a:r>
            <a:r>
              <a:rPr sz="1150" b="1">
                <a:solidFill>
                  <a:srgbClr val="1F5FBF"/>
                </a:solidFill>
                <a:latin typeface="Arial"/>
              </a:rPr>
              <a:t>Self-learning</a:t>
            </a:r>
            <a:r>
              <a:rPr sz="1150" b="0">
                <a:solidFill>
                  <a:srgbClr val="1E2530"/>
                </a:solidFill>
                <a:latin typeface="Arial"/>
              </a:rPr>
              <a:t>  no hand-written rules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645152"/>
            <a:ext cx="3429000" cy="384048"/>
          </a:xfrm>
          <a:prstGeom prst="roundRect">
            <a:avLst>
              <a:gd name="adj" fmla="val 3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0" y="4645152"/>
            <a:ext cx="32918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F58220"/>
                </a:solidFill>
                <a:latin typeface="Arial"/>
              </a:rPr>
              <a:t>✔  </a:t>
            </a:r>
            <a:r>
              <a:rPr sz="1150" b="1">
                <a:solidFill>
                  <a:srgbClr val="F58220"/>
                </a:solidFill>
                <a:latin typeface="Arial"/>
              </a:rPr>
              <a:t>Catches 95.2%</a:t>
            </a:r>
            <a:r>
              <a:rPr sz="1150" b="0">
                <a:solidFill>
                  <a:srgbClr val="1E2530"/>
                </a:solidFill>
                <a:latin typeface="Arial"/>
              </a:rPr>
              <a:t>  of never-seen formats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5102352"/>
            <a:ext cx="3429000" cy="384048"/>
          </a:xfrm>
          <a:prstGeom prst="roundRect">
            <a:avLst>
              <a:gd name="adj" fmla="val 3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5102352"/>
            <a:ext cx="32918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6A3FB5"/>
                </a:solidFill>
                <a:latin typeface="Arial"/>
              </a:rPr>
              <a:t>✔  </a:t>
            </a:r>
            <a:r>
              <a:rPr sz="1150" b="1">
                <a:solidFill>
                  <a:srgbClr val="6A3FB5"/>
                </a:solidFill>
                <a:latin typeface="Arial"/>
              </a:rPr>
              <a:t>Never stops</a:t>
            </a:r>
            <a:r>
              <a:rPr sz="1150" b="0">
                <a:solidFill>
                  <a:srgbClr val="1E2530"/>
                </a:solidFill>
                <a:latin typeface="Arial"/>
              </a:rPr>
              <a:t>  backup AI, then built-in rules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40" y="5559552"/>
            <a:ext cx="3429000" cy="384048"/>
          </a:xfrm>
          <a:prstGeom prst="roundRect">
            <a:avLst>
              <a:gd name="adj" fmla="val 3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80" y="5559552"/>
            <a:ext cx="329184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0E8C8C"/>
                </a:solidFill>
                <a:latin typeface="Arial"/>
              </a:rPr>
              <a:t>✔  </a:t>
            </a:r>
            <a:r>
              <a:rPr sz="1150" b="1">
                <a:solidFill>
                  <a:srgbClr val="0E8C8C"/>
                </a:solidFill>
                <a:latin typeface="Arial"/>
              </a:rPr>
              <a:t>Runs offline</a:t>
            </a:r>
            <a:r>
              <a:rPr sz="1150" b="0">
                <a:solidFill>
                  <a:srgbClr val="1E2530"/>
                </a:solidFill>
                <a:latin typeface="Arial"/>
              </a:rPr>
              <a:t>  data stays in India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" y="228600"/>
            <a:ext cx="1463040" cy="82296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Arial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56032"/>
            <a:ext cx="809244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pic>
        <p:nvPicPr>
          <p:cNvPr id="4" name="Picture 3" descr="sih_icon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91440"/>
            <a:ext cx="71449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0" y="128016"/>
            <a:ext cx="1371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0" y="6464808"/>
            <a:ext cx="4507992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64808"/>
            <a:ext cx="5486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15568"/>
            <a:ext cx="114300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Arial"/>
              </a:rPr>
              <a:t>❖ </a:t>
            </a:r>
            <a:r>
              <a:rPr sz="1800" b="1" u="sng">
                <a:solidFill>
                  <a:srgbClr val="1F4E79"/>
                </a:solidFill>
                <a:latin typeface="Arial"/>
              </a:rPr>
              <a:t>Methodology</a:t>
            </a:r>
            <a:r>
              <a:rPr sz="1200" b="0">
                <a:solidFill>
                  <a:srgbClr val="5F6B7A"/>
                </a:solidFill>
                <a:latin typeface="Arial"/>
              </a:rPr>
              <a:t>   how every log line is processed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600200"/>
            <a:ext cx="1938528" cy="777240"/>
          </a:xfrm>
          <a:prstGeom prst="roundRect">
            <a:avLst>
              <a:gd name="adj" fmla="val 1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  Collect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logs via API or Bash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1755648"/>
            <a:ext cx="3657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800" b="0">
                <a:solidFill>
                  <a:srgbClr val="5F6B7A"/>
                </a:solidFill>
                <a:latin typeface="Arial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15768" y="1600200"/>
            <a:ext cx="1938528" cy="777240"/>
          </a:xfrm>
          <a:prstGeom prst="roundRect">
            <a:avLst>
              <a:gd name="adj" fmla="val 1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  Group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similar lines into templates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1755648"/>
            <a:ext cx="3657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800" b="0">
                <a:solidFill>
                  <a:srgbClr val="5F6B7A"/>
                </a:solidFill>
                <a:latin typeface="Arial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0056" y="1600200"/>
            <a:ext cx="1938528" cy="777240"/>
          </a:xfrm>
          <a:prstGeom prst="roundRect">
            <a:avLst>
              <a:gd name="adj" fmla="val 15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  Known format?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checked by ML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58584" y="1755648"/>
            <a:ext cx="3657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800" b="0">
                <a:solidFill>
                  <a:srgbClr val="5F6B7A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1600200"/>
            <a:ext cx="1938528" cy="777240"/>
          </a:xfrm>
          <a:prstGeom prst="roundRect">
            <a:avLst>
              <a:gd name="adj" fmla="val 1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  Apply saved rule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fast, no AI needed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62872" y="1755648"/>
            <a:ext cx="3657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800" b="0">
                <a:solidFill>
                  <a:srgbClr val="5F6B7A"/>
                </a:solidFill>
                <a:latin typeface="Arial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28632" y="1600200"/>
            <a:ext cx="1938528" cy="777240"/>
          </a:xfrm>
          <a:prstGeom prst="roundRect">
            <a:avLst>
              <a:gd name="adj" fmla="val 1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  Clean output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one common format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432" y="1417320"/>
            <a:ext cx="512064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Arial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386584"/>
            <a:ext cx="365760" cy="32918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0">
                <a:solidFill>
                  <a:srgbClr val="5F6B7A"/>
                </a:solidFill>
                <a:latin typeface="Arial"/>
              </a:rPr>
              <a:t>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9048" y="2423160"/>
            <a:ext cx="822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1">
                <a:solidFill>
                  <a:srgbClr val="6A3FB5"/>
                </a:solidFill>
                <a:latin typeface="Arial"/>
              </a:rPr>
              <a:t>No (new)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0056" y="2743200"/>
            <a:ext cx="1938528" cy="640080"/>
          </a:xfrm>
          <a:prstGeom prst="roundRect">
            <a:avLst>
              <a:gd name="adj" fmla="val 1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AI learns a rule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"/>
              </a:rPr>
              <a:t>only once per new format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2898648"/>
            <a:ext cx="3657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800" b="0">
                <a:solidFill>
                  <a:srgbClr val="5F6B7A"/>
                </a:solidFill>
                <a:latin typeface="Arial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4344" y="2788920"/>
            <a:ext cx="4242816" cy="548640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138A36"/>
                </a:solidFill>
                <a:latin typeface="Arial"/>
              </a:rPr>
              <a:t>↑ Rule is saved </a:t>
            </a:r>
            <a:r>
              <a:rPr sz="1100" b="0">
                <a:solidFill>
                  <a:srgbClr val="1E2530"/>
                </a:solidFill>
                <a:latin typeface="Arial"/>
              </a:rPr>
              <a:t>and reused for every future line of that format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2788920"/>
            <a:ext cx="4526280" cy="548640"/>
          </a:xfrm>
          <a:prstGeom prst="roundRect">
            <a:avLst>
              <a:gd name="adj" fmla="val 3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2788920"/>
            <a:ext cx="4389120" cy="5486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0B2A5B"/>
                </a:solidFill>
                <a:latin typeface="Arial"/>
              </a:rPr>
              <a:t>Safety net: </a:t>
            </a:r>
            <a:r>
              <a:rPr sz="1100" b="0">
                <a:solidFill>
                  <a:srgbClr val="1E2530"/>
                </a:solidFill>
                <a:latin typeface="Arial"/>
              </a:rPr>
              <a:t>unusual formats are held for review, never lost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703320"/>
            <a:ext cx="69494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E79"/>
                </a:solidFill>
                <a:latin typeface="Arial"/>
              </a:rPr>
              <a:t>Technologies used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142232"/>
            <a:ext cx="131673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yth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4215384"/>
            <a:ext cx="384048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5760" y="4636008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0B2A5B"/>
                </a:solidFill>
                <a:latin typeface="Arial"/>
              </a:rPr>
              <a:t>Python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855464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5F6B7A"/>
                </a:solidFill>
                <a:latin typeface="Arial"/>
              </a:rPr>
              <a:t>Core language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773936" y="4142232"/>
            <a:ext cx="131673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ast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0280" y="4215384"/>
            <a:ext cx="384048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773936" y="4636008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0B2A5B"/>
                </a:solidFill>
                <a:latin typeface="Arial"/>
              </a:rPr>
              <a:t>FastAPI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73936" y="4855464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5F6B7A"/>
                </a:solidFill>
                <a:latin typeface="Arial"/>
              </a:rPr>
              <a:t>Web API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82112" y="4142232"/>
            <a:ext cx="131673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39312" y="4215384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82112" y="4636008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0B2A5B"/>
                </a:solidFill>
                <a:latin typeface="Arial"/>
              </a:rPr>
              <a:t>Drain3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82112" y="4855464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5F6B7A"/>
                </a:solidFill>
                <a:latin typeface="Arial"/>
              </a:rPr>
              <a:t>Groups log lines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90288" y="4142232"/>
            <a:ext cx="131673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klea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6632" y="4215384"/>
            <a:ext cx="384048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90288" y="4636008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0B2A5B"/>
                </a:solidFill>
                <a:latin typeface="Arial"/>
              </a:rPr>
              <a:t>scikit-learn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0288" y="4855464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5F6B7A"/>
                </a:solidFill>
                <a:latin typeface="Arial"/>
              </a:rPr>
              <a:t>Spots new formats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98464" y="4142232"/>
            <a:ext cx="131673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i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2" y="4233672"/>
            <a:ext cx="347472" cy="347472"/>
          </a:xfrm>
          <a:prstGeom prst="rect">
            <a:avLst/>
          </a:prstGeom>
        </p:spPr>
      </p:pic>
      <p:pic>
        <p:nvPicPr>
          <p:cNvPr id="46" name="Picture 45" descr="ai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5120" y="4233672"/>
            <a:ext cx="347472" cy="3474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998464" y="4636008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0B2A5B"/>
                </a:solidFill>
                <a:latin typeface="Arial"/>
              </a:rPr>
              <a:t>AI (LLM)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98464" y="4855464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5F6B7A"/>
                </a:solidFill>
                <a:latin typeface="Arial"/>
              </a:rPr>
              <a:t>Gemini · Groq · Claude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239512"/>
            <a:ext cx="131673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pand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104" y="5312664"/>
            <a:ext cx="384048" cy="38404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65760" y="5733288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0B2A5B"/>
                </a:solidFill>
                <a:latin typeface="Arial"/>
              </a:rPr>
              <a:t>Pandas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5952744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5F6B7A"/>
                </a:solidFill>
                <a:latin typeface="Arial"/>
              </a:rPr>
              <a:t>Accuracy reports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73936" y="5239512"/>
            <a:ext cx="131673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linu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66544" y="5330952"/>
            <a:ext cx="347472" cy="347472"/>
          </a:xfrm>
          <a:prstGeom prst="rect">
            <a:avLst/>
          </a:prstGeom>
        </p:spPr>
      </p:pic>
      <p:pic>
        <p:nvPicPr>
          <p:cNvPr id="55" name="Picture 54" descr="bas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50592" y="5330952"/>
            <a:ext cx="347472" cy="34747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773936" y="5733288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0B2A5B"/>
                </a:solidFill>
                <a:latin typeface="Arial"/>
              </a:rPr>
              <a:t>Linux / Bash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73936" y="5952744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5F6B7A"/>
                </a:solidFill>
                <a:latin typeface="Arial"/>
              </a:rPr>
              <a:t>Collects logs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182112" y="5239512"/>
            <a:ext cx="131673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verce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48456" y="5312664"/>
            <a:ext cx="384048" cy="38404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182112" y="5733288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0B2A5B"/>
                </a:solidFill>
                <a:latin typeface="Arial"/>
              </a:rPr>
              <a:t>Vercel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82112" y="5952744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5F6B7A"/>
                </a:solidFill>
                <a:latin typeface="Arial"/>
              </a:rPr>
              <a:t>Hosting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90288" y="5239512"/>
            <a:ext cx="131673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upstash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56632" y="5312664"/>
            <a:ext cx="384048" cy="384048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590288" y="5733288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0B2A5B"/>
                </a:solidFill>
                <a:latin typeface="Arial"/>
              </a:rPr>
              <a:t>Upstash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90288" y="5952744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5F6B7A"/>
                </a:solidFill>
                <a:latin typeface="Arial"/>
              </a:rPr>
              <a:t>Stores learned rules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998464" y="5239512"/>
            <a:ext cx="1316736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455664" y="5312664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LO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98464" y="5733288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1">
                <a:solidFill>
                  <a:srgbClr val="0B2A5B"/>
                </a:solidFill>
                <a:latin typeface="Arial"/>
              </a:rPr>
              <a:t>Loghub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98464" y="5952744"/>
            <a:ext cx="1316736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>
                <a:solidFill>
                  <a:srgbClr val="5F6B7A"/>
                </a:solidFill>
                <a:latin typeface="Arial"/>
              </a:rPr>
              <a:t>Real test logs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589520" y="3703320"/>
            <a:ext cx="429768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E79"/>
                </a:solidFill>
                <a:latin typeface="Arial"/>
              </a:rPr>
              <a:t>Why it is fast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589520" y="4142232"/>
            <a:ext cx="4279392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99248" y="4187952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50" b="1">
                <a:solidFill>
                  <a:srgbClr val="0B2A5B"/>
                </a:solidFill>
                <a:latin typeface="Arial"/>
              </a:rPr>
              <a:t>Time to process one log line</a:t>
            </a:r>
          </a:p>
        </p:txBody>
      </p:sp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7635240" y="4434840"/>
          <a:ext cx="4187952" cy="1234440"/>
        </p:xfrm>
        <a:graphic>
          <a:graphicData uri="http://schemas.openxmlformats.org/drawingml/2006/chart">
            <c:chart xmlns:c="http://schemas.openxmlformats.org/drawingml/2006/chart" r:id="rId13"/>
          </a:graphicData>
        </a:graphic>
      </p:graphicFrame>
      <p:sp>
        <p:nvSpPr>
          <p:cNvPr id="74" name="Rounded Rectangle 73"/>
          <p:cNvSpPr/>
          <p:nvPr/>
        </p:nvSpPr>
        <p:spPr>
          <a:xfrm>
            <a:off x="7699248" y="5733288"/>
            <a:ext cx="4059936" cy="40233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138A36"/>
                </a:solidFill>
                <a:latin typeface="Arial"/>
              </a:rPr>
              <a:t>✔ ~3,500× faster than calling AI for each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" y="228600"/>
            <a:ext cx="1463040" cy="82296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Arial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56032"/>
            <a:ext cx="809244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pic>
        <p:nvPicPr>
          <p:cNvPr id="4" name="Picture 3" descr="sih_icon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91440"/>
            <a:ext cx="71449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0" y="128016"/>
            <a:ext cx="1371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0" y="6464808"/>
            <a:ext cx="4507992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64808"/>
            <a:ext cx="5486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15568"/>
            <a:ext cx="53949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E79"/>
                </a:solidFill>
                <a:latin typeface="Arial"/>
              </a:rPr>
              <a:t>Feasibility &amp; viability check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527048"/>
          <a:ext cx="5394960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50292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Why it works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0B2A5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A5B"/>
                          </a:solidFill>
                          <a:latin typeface="Arial"/>
                        </a:rPr>
                        <a:t>Technical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Arial"/>
                        </a:rPr>
                        <a:t>✔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E2530"/>
                          </a:solidFill>
                          <a:latin typeface="Arial"/>
                        </a:rPr>
                        <a:t>Built on proven open-source tools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A5B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Arial"/>
                        </a:rPr>
                        <a:t>✔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E2530"/>
                          </a:solidFill>
                          <a:latin typeface="Arial"/>
                        </a:rPr>
                        <a:t>AI used only for new formats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A5B"/>
                          </a:solidFill>
                          <a:latin typeface="Arial"/>
                        </a:rPr>
                        <a:t>Operations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Arial"/>
                        </a:rPr>
                        <a:t>✔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E2530"/>
                          </a:solidFill>
                          <a:latin typeface="Arial"/>
                        </a:rPr>
                        <a:t>Plug in any log source, no coding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A5B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Arial"/>
                        </a:rPr>
                        <a:t>✔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E2530"/>
                          </a:solidFill>
                          <a:latin typeface="Arial"/>
                        </a:rPr>
                        <a:t>Tested on public real-world logs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A5B"/>
                          </a:solidFill>
                          <a:latin typeface="Arial"/>
                        </a:rPr>
                        <a:t>Market need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Arial"/>
                        </a:rPr>
                        <a:t>✔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E2530"/>
                          </a:solidFill>
                          <a:latin typeface="Arial"/>
                        </a:rPr>
                        <a:t>CERT-In: keep logs for 180 days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A5B"/>
                          </a:solidFill>
                          <a:latin typeface="Arial"/>
                        </a:rPr>
                        <a:t>Business model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38A36"/>
                          </a:solidFill>
                          <a:latin typeface="Arial"/>
                        </a:rPr>
                        <a:t>✔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E2530"/>
                          </a:solidFill>
                          <a:latin typeface="Arial"/>
                        </a:rPr>
                        <a:t>Free core + paid support for govt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89320" y="1115568"/>
            <a:ext cx="5852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E79"/>
                </a:solidFill>
                <a:latin typeface="Arial"/>
              </a:rPr>
              <a:t>Challenges, risks &amp; how we handle them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989320" y="1527048"/>
          <a:ext cx="587959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7400"/>
                <a:gridCol w="850392"/>
                <a:gridCol w="2971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Impact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Our strategy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138A36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AI service goes down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B35C00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38A36"/>
                          </a:solidFill>
                          <a:latin typeface="Arial"/>
                        </a:rPr>
                        <a:t>Auto-switch to backup AI, then built-in rules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AI cost at large scale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38A36"/>
                          </a:solidFill>
                          <a:latin typeface="Arial"/>
                        </a:rPr>
                        <a:t>AI runs once per format, not per log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Sensitive logs leave the org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C0392B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38A36"/>
                          </a:solidFill>
                          <a:latin typeface="Arial"/>
                        </a:rPr>
                        <a:t>Runs on-premise (self-hosted AI planned)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Normal log looks 'new'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38A3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38A36"/>
                          </a:solidFill>
                          <a:latin typeface="Arial"/>
                        </a:rPr>
                        <a:t>Held for review, never lost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Brand-new systems appear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B35C00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38A36"/>
                          </a:solidFill>
                          <a:latin typeface="Arial"/>
                        </a:rPr>
                        <a:t>Model retrained with one command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4187952"/>
            <a:ext cx="114300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E79"/>
                </a:solidFill>
                <a:latin typeface="Arial"/>
              </a:rPr>
              <a:t>Tested on real-world logs</a:t>
            </a:r>
            <a:r>
              <a:rPr sz="1200" b="0">
                <a:solidFill>
                  <a:srgbClr val="5F6B7A"/>
                </a:solidFill>
                <a:latin typeface="Arial"/>
              </a:rPr>
              <a:t>   public Loghub datasets from 9–12 real systems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599432"/>
            <a:ext cx="795528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57200" y="4645152"/>
          <a:ext cx="7772400" cy="16642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8503920" y="4599432"/>
            <a:ext cx="3364992" cy="841248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4645152"/>
            <a:ext cx="327355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400" b="1">
                <a:solidFill>
                  <a:srgbClr val="6A3FB5"/>
                </a:solidFill>
                <a:latin typeface="Arial"/>
              </a:rPr>
              <a:t>0.28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093208"/>
            <a:ext cx="3273552" cy="301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F6B7A"/>
                </a:solidFill>
                <a:latin typeface="Arial"/>
              </a:rPr>
              <a:t>to process one log 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5495544"/>
            <a:ext cx="3364992" cy="841248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5541264"/>
            <a:ext cx="327355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2400" b="1">
                <a:solidFill>
                  <a:srgbClr val="138A36"/>
                </a:solidFill>
                <a:latin typeface="Arial"/>
              </a:rPr>
              <a:t>1.5%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5989320"/>
            <a:ext cx="3273552" cy="301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>
                <a:solidFill>
                  <a:srgbClr val="5F6B7A"/>
                </a:solidFill>
                <a:latin typeface="Arial"/>
              </a:rPr>
              <a:t>false alarms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" y="228600"/>
            <a:ext cx="1463040" cy="82296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Arial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56032"/>
            <a:ext cx="809244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pic>
        <p:nvPicPr>
          <p:cNvPr id="4" name="Picture 3" descr="sih_icon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91440"/>
            <a:ext cx="71449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0" y="128016"/>
            <a:ext cx="1371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0" y="6464808"/>
            <a:ext cx="4507992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64808"/>
            <a:ext cx="5486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E79"/>
                </a:solidFill>
                <a:latin typeface="Arial"/>
              </a:rPr>
              <a:t>Impact on target audience</a:t>
            </a:r>
            <a:r>
              <a:rPr sz="1200" b="0">
                <a:solidFill>
                  <a:srgbClr val="5F6B7A"/>
                </a:solidFill>
                <a:latin typeface="Arial"/>
              </a:rPr>
              <a:t>   NTRO / NCIIPC and Government &amp; PSUs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81328"/>
            <a:ext cx="27889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481328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NCIIPC (NTRO)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01952"/>
            <a:ext cx="26060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1E2530"/>
                </a:solidFill>
                <a:latin typeface="Arial"/>
              </a:rPr>
              <a:t>One common view of logs from all critical sectors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4408" y="1481328"/>
            <a:ext cx="27889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64408" y="1481328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Sector security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5848" y="1901952"/>
            <a:ext cx="26060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1E2530"/>
                </a:solidFill>
                <a:latin typeface="Arial"/>
              </a:rPr>
              <a:t>Find attacks faster: search one format, not hundreds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481328"/>
            <a:ext cx="27889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63056" y="1481328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Govt &amp; PSU IT teams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1901952"/>
            <a:ext cx="26060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1E2530"/>
                </a:solidFill>
                <a:latin typeface="Arial"/>
              </a:rPr>
              <a:t>No log parsers to write or maintain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1704" y="1481328"/>
            <a:ext cx="27889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61704" y="1481328"/>
            <a:ext cx="2788920" cy="365760"/>
          </a:xfrm>
          <a:prstGeom prst="roundRect">
            <a:avLst>
              <a:gd name="adj" fmla="val 30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901952"/>
            <a:ext cx="260604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1E2530"/>
                </a:solidFill>
                <a:latin typeface="Arial"/>
              </a:rPr>
              <a:t>Meet the CERT-In 180-day log rule easily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2560320"/>
            <a:ext cx="114300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E79"/>
                </a:solidFill>
                <a:latin typeface="Arial"/>
              </a:rPr>
              <a:t>Benefits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65760" y="2926080"/>
          <a:ext cx="11503152" cy="685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75788"/>
                <a:gridCol w="2875788"/>
                <a:gridCol w="2875788"/>
                <a:gridCol w="2875788"/>
              </a:tblGrid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Social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1F5F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Economic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58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Environmental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138A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Strategic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6A3FB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F5FBF"/>
                          </a:solidFill>
                          <a:latin typeface="Arial"/>
                        </a:rPr>
                        <a:t>Safer power, banking &amp; telecom for citizens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0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B35C00"/>
                          </a:solidFill>
                          <a:latin typeface="Arial"/>
                        </a:rPr>
                        <a:t>Up to 80× cheaper than AI on every log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4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38A36"/>
                          </a:solidFill>
                          <a:latin typeface="Arial"/>
                        </a:rPr>
                        <a:t>99.5% fewer AI calls = less energy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E8F5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A3FB5"/>
                          </a:solidFill>
                          <a:latin typeface="Arial"/>
                        </a:rPr>
                        <a:t>Self-reliant, logs stay in India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1EC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365760" y="3721608"/>
            <a:ext cx="114300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E79"/>
                </a:solidFill>
                <a:latin typeface="Arial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Arial"/>
              </a:rPr>
              <a:t>   1 million logs / day in a big organisation · our solution = 1×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087368"/>
            <a:ext cx="3749040" cy="2075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123944"/>
            <a:ext cx="3529584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B2A5B"/>
                </a:solidFill>
                <a:latin typeface="Arial"/>
              </a:rPr>
              <a:t>Cost for one year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779008"/>
            <a:ext cx="3566160" cy="31089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38A36"/>
                </a:solidFill>
                <a:latin typeface="Arial"/>
              </a:rPr>
              <a:t>✔ 80× cheaper than AI · 5× vs manual</a:t>
            </a:r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411480" y="4361688"/>
          <a:ext cx="3657600" cy="138988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242816" y="4087368"/>
            <a:ext cx="3749040" cy="2075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123944"/>
            <a:ext cx="3529584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B2A5B"/>
                </a:solidFill>
                <a:latin typeface="Arial"/>
              </a:rPr>
              <a:t>Time to process 1M logs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34256" y="5779008"/>
            <a:ext cx="3566160" cy="31089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38A36"/>
                </a:solidFill>
                <a:latin typeface="Arial"/>
              </a:rPr>
              <a:t>✔ 70× faster than AI on every line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4288536" y="4361688"/>
          <a:ext cx="3657600" cy="138988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8119872" y="4087368"/>
            <a:ext cx="3749040" cy="2075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4123944"/>
            <a:ext cx="3529584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0B2A5B"/>
                </a:solidFill>
                <a:latin typeface="Arial"/>
              </a:rPr>
              <a:t>Share of logs sent to AI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11312" y="5779008"/>
            <a:ext cx="3566160" cy="31089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50" b="1">
                <a:solidFill>
                  <a:srgbClr val="138A36"/>
                </a:solidFill>
                <a:latin typeface="Arial"/>
              </a:rPr>
              <a:t>✔ 99.5% fewer AI calls</a:t>
            </a:r>
          </a:p>
        </p:txBody>
      </p:sp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8531352" y="4389120"/>
          <a:ext cx="1188720" cy="11887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8531352" y="4764024"/>
            <a:ext cx="11887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Arial"/>
              </a:rPr>
              <a:t>100%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2" y="5577840"/>
            <a:ext cx="1737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Arial"/>
              </a:rPr>
              <a:t>AI on every line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10268712" y="4389120"/>
          <a:ext cx="1188720" cy="118872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10268712" y="4764024"/>
            <a:ext cx="11887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Arial"/>
              </a:rPr>
              <a:t>0.5%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4392" y="5577840"/>
            <a:ext cx="1737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Arial"/>
              </a:rPr>
              <a:t>Our solution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172200"/>
            <a:ext cx="11503152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Arial"/>
              </a:rPr>
              <a:t>Illustrative estimate for ~50 log sources; our speed and AI-call rate measured in our benchmark.  * Manual parsers are fast only for formats already hand-written; new formats break until fixed.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20040" y="228600"/>
            <a:ext cx="1463040" cy="82296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Arial"/>
              </a:rPr>
              <a:t>[Team Name]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20240" y="256032"/>
            <a:ext cx="809244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pic>
        <p:nvPicPr>
          <p:cNvPr id="4" name="Picture 3" descr="sih_icon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91440"/>
            <a:ext cx="714499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0" y="128016"/>
            <a:ext cx="1371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Arial"/>
              </a:rPr>
              <a:t>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0" y="6464808"/>
            <a:ext cx="4507992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@SIH Idea submission-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64808"/>
            <a:ext cx="548640" cy="32918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15568"/>
            <a:ext cx="74066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Arial"/>
              </a:rPr>
              <a:t>❖ </a:t>
            </a:r>
            <a:r>
              <a:rPr sz="1500" b="1" u="sng">
                <a:solidFill>
                  <a:srgbClr val="1F4E79"/>
                </a:solidFill>
                <a:latin typeface="Arial"/>
              </a:rPr>
              <a:t>Details &amp; links of reference and research 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527048"/>
          <a:ext cx="7452360" cy="4389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840480"/>
                <a:gridCol w="16002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Used for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Link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0B2A5B"/>
                    </a:solidFill>
                  </a:tcPr>
                </a:tc>
              </a:tr>
              <a:tr h="50749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5FBF"/>
                          </a:solidFill>
                          <a:latin typeface="Arial"/>
                        </a:rPr>
                        <a:t>▪ </a:t>
                      </a:r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Drain: online log parsing (He et al., IEEE ICWS 2017)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F6B7A"/>
                          </a:solidFill>
                          <a:latin typeface="Arial"/>
                        </a:rPr>
                        <a:t>How we group log lines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5FBF"/>
                          </a:solidFill>
                          <a:latin typeface="Arial"/>
                          <a:hlinkClick r:id="rId3"/>
                        </a:rPr>
                        <a:t>doi.org/10.1109/ICWS.2017.13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5FBF"/>
                          </a:solidFill>
                          <a:latin typeface="Arial"/>
                        </a:rPr>
                        <a:t>▪ </a:t>
                      </a:r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Loghub datasets (Zhu et al., IEEE ISSRE 2023)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F6B7A"/>
                          </a:solidFill>
                          <a:latin typeface="Arial"/>
                        </a:rPr>
                        <a:t>Real-world test logs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5FBF"/>
                          </a:solidFill>
                          <a:latin typeface="Arial"/>
                          <a:hlinkClick r:id="rId4"/>
                        </a:rPr>
                        <a:t>github.com/logpai/loghub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</a:tr>
              <a:tr h="50749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5FBF"/>
                          </a:solidFill>
                          <a:latin typeface="Arial"/>
                        </a:rPr>
                        <a:t>▪ </a:t>
                      </a:r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Log-parser benchmark (Zhu et al., ICSE-SEIP 2019)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F6B7A"/>
                          </a:solidFill>
                          <a:latin typeface="Arial"/>
                        </a:rPr>
                        <a:t>How we measure accuracy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5FBF"/>
                          </a:solidFill>
                          <a:latin typeface="Arial"/>
                          <a:hlinkClick r:id="rId5"/>
                        </a:rPr>
                        <a:t>arxiv.org/abs/1811.03509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58220"/>
                          </a:solidFill>
                          <a:latin typeface="Arial"/>
                        </a:rPr>
                        <a:t>▪ </a:t>
                      </a:r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NCIIPC, a unit of NTRO (IT Act Sec. 70A)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F6B7A"/>
                          </a:solidFill>
                          <a:latin typeface="Arial"/>
                        </a:rPr>
                        <a:t>Target user &amp; sectors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5FBF"/>
                          </a:solidFill>
                          <a:latin typeface="Arial"/>
                          <a:hlinkClick r:id="rId6"/>
                        </a:rPr>
                        <a:t>nciipc.gov.in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</a:tr>
              <a:tr h="50749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58220"/>
                          </a:solidFill>
                          <a:latin typeface="Arial"/>
                        </a:rPr>
                        <a:t>▪ </a:t>
                      </a:r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CERT-In Directions, 28 Apr 2022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F6B7A"/>
                          </a:solidFill>
                          <a:latin typeface="Arial"/>
                        </a:rPr>
                        <a:t>180-day log rule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5FBF"/>
                          </a:solidFill>
                          <a:latin typeface="Arial"/>
                          <a:hlinkClick r:id="rId7"/>
                        </a:rPr>
                        <a:t>cert-in.org.in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58220"/>
                          </a:solidFill>
                          <a:latin typeface="Arial"/>
                        </a:rPr>
                        <a:t>▪ </a:t>
                      </a:r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Digital Personal Data Protection Act, 2023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F6B7A"/>
                          </a:solidFill>
                          <a:latin typeface="Arial"/>
                        </a:rPr>
                        <a:t>Data privacy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5FBF"/>
                          </a:solidFill>
                          <a:latin typeface="Arial"/>
                          <a:hlinkClick r:id="rId8"/>
                        </a:rPr>
                        <a:t>meity.gov.in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</a:tr>
              <a:tr h="50749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38A36"/>
                          </a:solidFill>
                          <a:latin typeface="Arial"/>
                        </a:rPr>
                        <a:t>▪ </a:t>
                      </a:r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Drain3 &amp; scikit-learn (open source)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F6B7A"/>
                          </a:solidFill>
                          <a:latin typeface="Arial"/>
                        </a:rPr>
                        <a:t>Core tools we use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5FBF"/>
                          </a:solidFill>
                          <a:latin typeface="Arial"/>
                          <a:hlinkClick r:id="rId9"/>
                        </a:rPr>
                        <a:t>github.com/logpai/Drain3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38A36"/>
                          </a:solidFill>
                          <a:latin typeface="Arial"/>
                        </a:rPr>
                        <a:t>▪ </a:t>
                      </a:r>
                      <a:r>
                        <a:rPr sz="1100" b="1">
                          <a:solidFill>
                            <a:srgbClr val="0B2A5B"/>
                          </a:solidFill>
                          <a:latin typeface="Arial"/>
                        </a:rPr>
                        <a:t>Syslog RFC 5424 · ISO 8601 time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5F6B7A"/>
                          </a:solidFill>
                          <a:latin typeface="Arial"/>
                        </a:rPr>
                        <a:t>Log &amp; time standards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5FBF"/>
                          </a:solidFill>
                          <a:latin typeface="Arial"/>
                          <a:hlinkClick r:id="rId10"/>
                        </a:rPr>
                        <a:t>rfc-editor.org/rfc/rfc5424</a:t>
                      </a:r>
                    </a:p>
                  </a:txBody>
                  <a:tcPr marL="64008" marR="64008" marT="18288" marB="18288" anchor="ctr">
                    <a:lnL w="12700">
                      <a:solidFill>
                        <a:srgbClr val="D3DBE8"/>
                      </a:solidFill>
                    </a:lnL>
                    <a:lnR w="12700">
                      <a:solidFill>
                        <a:srgbClr val="D3DBE8"/>
                      </a:solidFill>
                    </a:lnR>
                    <a:lnT w="12700">
                      <a:solidFill>
                        <a:srgbClr val="D3DBE8"/>
                      </a:solidFill>
                    </a:lnT>
                    <a:lnB w="12700">
                      <a:solidFill>
                        <a:srgbClr val="D3DBE8"/>
                      </a:solidFill>
                    </a:lnB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5961888"/>
            <a:ext cx="7406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F5FBF"/>
                </a:solidFill>
                <a:latin typeface="Arial"/>
              </a:rPr>
              <a:t>■ </a:t>
            </a:r>
            <a:r>
              <a:rPr sz="1000" b="0">
                <a:solidFill>
                  <a:srgbClr val="5F6B7A"/>
                </a:solidFill>
                <a:latin typeface="Arial"/>
              </a:rPr>
              <a:t>Research   </a:t>
            </a:r>
            <a:r>
              <a:rPr sz="1000" b="0">
                <a:solidFill>
                  <a:srgbClr val="F58220"/>
                </a:solidFill>
                <a:latin typeface="Arial"/>
              </a:rPr>
              <a:t>■ </a:t>
            </a:r>
            <a:r>
              <a:rPr sz="1000" b="0">
                <a:solidFill>
                  <a:srgbClr val="5F6B7A"/>
                </a:solidFill>
                <a:latin typeface="Arial"/>
              </a:rPr>
              <a:t>Government &amp; policy   </a:t>
            </a:r>
            <a:r>
              <a:rPr sz="1000" b="0">
                <a:solidFill>
                  <a:srgbClr val="138A36"/>
                </a:solidFill>
                <a:latin typeface="Arial"/>
              </a:rPr>
              <a:t>■ </a:t>
            </a:r>
            <a:r>
              <a:rPr sz="1000" b="0">
                <a:solidFill>
                  <a:srgbClr val="5F6B7A"/>
                </a:solidFill>
                <a:latin typeface="Arial"/>
              </a:rPr>
              <a:t>Standards &amp; 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188720"/>
            <a:ext cx="3822192" cy="5029200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298448"/>
            <a:ext cx="3822192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F58220"/>
                </a:solidFill>
                <a:latin typeface="Arial"/>
              </a:rPr>
              <a:t>SCAN TO EXPLORE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783080"/>
            <a:ext cx="1645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_prot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21040" y="1874520"/>
            <a:ext cx="1463040" cy="1463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38160" y="3493008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50" b="1">
                <a:solidFill>
                  <a:srgbClr val="F58220"/>
                </a:solidFill>
                <a:latin typeface="Arial"/>
              </a:rPr>
              <a:t>PROTOTYPE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2" y="3749040"/>
            <a:ext cx="186537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  <a:hlinkClick r:id="rId1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12680" y="1783080"/>
            <a:ext cx="16459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qr_cod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04120" y="1874520"/>
            <a:ext cx="1463040" cy="1463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921240" y="3493008"/>
            <a:ext cx="1828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50" b="1">
                <a:solidFill>
                  <a:srgbClr val="F58220"/>
                </a:solidFill>
                <a:latin typeface="Arial"/>
              </a:rPr>
              <a:t>SOURCE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2952" y="3749040"/>
            <a:ext cx="1865376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  <a:hlinkClick r:id="rId14"/>
              </a:rPr>
              <a:t>github.com/agrwl-utkarsh/sih2026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3920" y="4343400"/>
            <a:ext cx="2907792" cy="27432"/>
          </a:xfrm>
          <a:prstGeom prst="rect">
            <a:avLst/>
          </a:prstGeom>
          <a:solidFill>
            <a:srgbClr val="3D5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4572000"/>
            <a:ext cx="3822192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Thank you!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303520"/>
            <a:ext cx="3822192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C8D3E6"/>
                </a:solidFill>
                <a:latin typeface="Arial"/>
              </a:rPr>
              <a:t>Questions are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