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Score %</c:v>
                </c:pt>
              </c:strCache>
            </c:strRef>
          </c:tx>
          <c:dPt>
            <c:idx val="0"/>
            <c:spPr>
              <a:solidFill>
                <a:srgbClr val="1F5FBF"/>
              </a:solidFill>
            </c:spPr>
          </c:dPt>
          <c:dPt>
            <c:idx val="1"/>
            <c:spPr>
              <a:solidFill>
                <a:srgbClr val="1F5FBF"/>
              </a:solidFill>
            </c:spPr>
          </c:dPt>
          <c:dPt>
            <c:idx val="2"/>
            <c:spPr>
              <a:solidFill>
                <a:srgbClr val="F58220"/>
              </a:solidFill>
            </c:spPr>
          </c:dPt>
          <c:dPt>
            <c:idx val="3"/>
            <c:spPr>
              <a:solidFill>
                <a:srgbClr val="138A36"/>
              </a:solidFill>
            </c:spPr>
          </c:dPt>
          <c:cat>
            <c:strRef>
              <c:f>Sheet1!$A$2:$A$5</c:f>
              <c:strCache>
                <c:ptCount val="4"/>
                <c:pt idx="0">
                  <c:v>Family classification
(9 real systems)</c:v>
                </c:pt>
                <c:pt idx="1">
                  <c:v>Drain3 grouping
accuracy (12 sys)</c:v>
                </c:pt>
                <c:pt idx="2">
                  <c:v>Novel-format recall
(never-trained)</c:v>
                </c:pt>
                <c:pt idx="3">
                  <c:v>Lines resolved
without LLM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100.0</c:v>
                </c:pt>
                <c:pt idx="1">
                  <c:v>97.2</c:v>
                </c:pt>
                <c:pt idx="2">
                  <c:v>95.2</c:v>
                </c:pt>
                <c:pt idx="3">
                  <c:v>99.5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sz="1200">
                  <a:solidFill>
                    <a:srgbClr val="0B2A5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6DEEA"/>
            </a:solidFill>
          </a:ln>
        </c:spPr>
        <c:txPr>
          <a:bodyPr/>
          <a:lstStyle/>
          <a:p>
            <a:pPr>
              <a:defRPr sz="10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solidFill>
            <a:srgbClr val="222B38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ih2026-w6sr.vercel.app" TargetMode="External"/><Relationship Id="rId3" Type="http://schemas.openxmlformats.org/officeDocument/2006/relationships/hyperlink" Target="https://github.com/agrwl-utkarsh/sih2026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B2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06240" y="0"/>
            <a:ext cx="109728" cy="2286001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206240" y="2286000"/>
            <a:ext cx="109728" cy="2286001"/>
          </a:xfrm>
          <a:prstGeom prst="rect">
            <a:avLst/>
          </a:prstGeom>
          <a:solidFill>
            <a:srgbClr val="E9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06240" y="4572000"/>
            <a:ext cx="109728" cy="2286001"/>
          </a:xfrm>
          <a:prstGeom prst="rect">
            <a:avLst/>
          </a:prstGeom>
          <a:solidFill>
            <a:srgbClr val="138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34747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SMART INDIA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34440"/>
            <a:ext cx="34747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HACKATHON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83080"/>
            <a:ext cx="347472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58220"/>
                </a:solidFill>
                <a:latin typeface="Calibri"/>
              </a:rPr>
              <a:t>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120640"/>
            <a:ext cx="347472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C9D6EA"/>
                </a:solidFill>
                <a:latin typeface="Calibri"/>
              </a:rPr>
              <a:t>Idea Submission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C9D6EA"/>
                </a:solidFill>
                <a:latin typeface="Calibri"/>
              </a:rPr>
              <a:t>Universal Log Pre-processing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822960"/>
            <a:ext cx="69494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Calibri"/>
              </a:rPr>
              <a:t>TITLE PAGE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188720"/>
            <a:ext cx="6949440" cy="1463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0B2A5B"/>
                </a:solidFill>
                <a:latin typeface="Calibri"/>
              </a:rPr>
              <a:t>Universal Log Pre-processing Pipeline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331720"/>
            <a:ext cx="694944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B6778"/>
                </a:solidFill>
                <a:latin typeface="Calibri"/>
              </a:rPr>
              <a:t>Format-agnostic ingestion, parsing &amp; normalisation of any log stream into one common schema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3291840"/>
            <a:ext cx="6766560" cy="42062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983480" y="3291840"/>
            <a:ext cx="2560320" cy="42062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2A5B"/>
                </a:solidFill>
                <a:latin typeface="Calibri"/>
              </a:rPr>
              <a:t>Problem Statement 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3291840"/>
            <a:ext cx="4023360" cy="42062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8220"/>
                </a:solidFill>
                <a:latin typeface="Calibri"/>
              </a:rPr>
              <a:t>[Problem Statement ID]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83480" y="3749040"/>
            <a:ext cx="2560320" cy="42062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2A5B"/>
                </a:solidFill>
                <a:latin typeface="Calibri"/>
              </a:rPr>
              <a:t>Problem Statement Title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0" y="3749040"/>
            <a:ext cx="4023360" cy="42062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8220"/>
                </a:solidFill>
                <a:latin typeface="Calibri"/>
              </a:rPr>
              <a:t>[Problem Statement Title]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0" y="4206240"/>
            <a:ext cx="6766560" cy="42062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983480" y="4206240"/>
            <a:ext cx="2560320" cy="42062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2A5B"/>
                </a:solidFill>
                <a:latin typeface="Calibri"/>
              </a:rPr>
              <a:t>Theme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4206240"/>
            <a:ext cx="4023360" cy="42062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8220"/>
                </a:solidFill>
                <a:latin typeface="Calibri"/>
              </a:rPr>
              <a:t>[Theme]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83480" y="4663440"/>
            <a:ext cx="2560320" cy="42062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2A5B"/>
                </a:solidFill>
                <a:latin typeface="Calibri"/>
              </a:rPr>
              <a:t>PS Category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4663440"/>
            <a:ext cx="4023360" cy="42062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222B38"/>
                </a:solidFill>
                <a:latin typeface="Calibri"/>
              </a:rPr>
              <a:t>Software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46320" y="5120640"/>
            <a:ext cx="6766560" cy="420624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4983480" y="5120640"/>
            <a:ext cx="2560320" cy="42062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2A5B"/>
                </a:solidFill>
                <a:latin typeface="Calibri"/>
              </a:rPr>
              <a:t>Team 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5120640"/>
            <a:ext cx="4023360" cy="42062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8220"/>
                </a:solidFill>
                <a:latin typeface="Calibri"/>
              </a:rPr>
              <a:t>[Team ID]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80" y="5577840"/>
            <a:ext cx="2560320" cy="42062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2A5B"/>
                </a:solidFill>
                <a:latin typeface="Calibri"/>
              </a:rPr>
              <a:t>Team Name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5577840"/>
            <a:ext cx="4023360" cy="42062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063899" cy="7315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63898" y="0"/>
            <a:ext cx="4063899" cy="73152"/>
          </a:xfrm>
          <a:prstGeom prst="rect">
            <a:avLst/>
          </a:prstGeom>
          <a:solidFill>
            <a:srgbClr val="E9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27796" y="0"/>
            <a:ext cx="4063899" cy="73152"/>
          </a:xfrm>
          <a:prstGeom prst="rect">
            <a:avLst/>
          </a:prstGeom>
          <a:solidFill>
            <a:srgbClr val="138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9144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2A5B"/>
                </a:solidFill>
                <a:latin typeface="Calibri"/>
              </a:rPr>
              <a:t>Idea / Proposed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778"/>
                </a:solidFill>
                <a:latin typeface="Calibri"/>
              </a:rPr>
              <a:t>Learn every log format once, then parse it forever at regex speed, without hand-written parsers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243584"/>
            <a:ext cx="1005840" cy="54864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0" y="329184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1F5FBF"/>
                </a:solidFill>
                <a:latin typeface="Calibri"/>
              </a:rPr>
              <a:t>SMART INDIA HACKATHON 2026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400800"/>
            <a:ext cx="11094415" cy="0"/>
          </a:xfrm>
          <a:prstGeom prst="line">
            <a:avLst/>
          </a:prstGeom>
          <a:ln>
            <a:solidFill>
              <a:srgbClr val="D6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4652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8220"/>
                </a:solidFill>
                <a:latin typeface="Calibri"/>
              </a:rPr>
              <a:t>[Team Name]</a:t>
            </a:r>
            <a:r>
              <a:rPr sz="1000" b="0">
                <a:solidFill>
                  <a:srgbClr val="5B6778"/>
                </a:solidFill>
                <a:latin typeface="Calibri"/>
              </a:rPr>
              <a:t>   |   PS ID: </a:t>
            </a:r>
            <a:r>
              <a:rPr sz="1000" b="0">
                <a:solidFill>
                  <a:srgbClr val="F58220"/>
                </a:solidFill>
                <a:latin typeface="Calibri"/>
              </a:rPr>
              <a:t>[Problem Statement ID]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8"/>
                </a:solidFill>
                <a:latin typeface="Calibri"/>
              </a:rPr>
              <a:t>2 / 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554480"/>
            <a:ext cx="3657600" cy="4663440"/>
          </a:xfrm>
          <a:prstGeom prst="roundRect">
            <a:avLst>
              <a:gd name="adj" fmla="val 8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77240" y="1691640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Calibri"/>
              </a:rPr>
              <a:t>THE PROBLEM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103120"/>
            <a:ext cx="3291840" cy="4023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F58220"/>
                </a:solidFill>
                <a:latin typeface="Calibri"/>
              </a:rPr>
              <a:t>▪  </a:t>
            </a:r>
            <a:r>
              <a:rPr sz="1300" b="0">
                <a:solidFill>
                  <a:srgbClr val="222B38"/>
                </a:solidFill>
                <a:latin typeface="Calibri"/>
              </a:rPr>
              <a:t>Observability &amp; SOC teams ingest logs from dozens of sources: Syslog, JSON, CSV, CEF/LEEF, K8s, Java, DB, free-text prose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F58220"/>
                </a:solidFill>
                <a:latin typeface="Calibri"/>
              </a:rPr>
              <a:t>▪  </a:t>
            </a:r>
            <a:r>
              <a:rPr sz="1300" b="0">
                <a:solidFill>
                  <a:srgbClr val="222B38"/>
                </a:solidFill>
                <a:latin typeface="Calibri"/>
              </a:rPr>
              <a:t>Every new source needs a hand-written regex parser, which is slow to build and breaks silently when formats drift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F58220"/>
                </a:solidFill>
                <a:latin typeface="Calibri"/>
              </a:rPr>
              <a:t>▪  </a:t>
            </a:r>
            <a:r>
              <a:rPr sz="1300" b="0">
                <a:solidFill>
                  <a:srgbClr val="222B38"/>
                </a:solidFill>
                <a:latin typeface="Calibri"/>
              </a:rPr>
              <a:t>Sending every line to an LLM is too slow and too costly at millions of lines per day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F58220"/>
                </a:solidFill>
                <a:latin typeface="Calibri"/>
              </a:rPr>
              <a:t>▪  </a:t>
            </a:r>
            <a:r>
              <a:rPr sz="1300" b="0">
                <a:solidFill>
                  <a:srgbClr val="222B38"/>
                </a:solidFill>
                <a:latin typeface="Calibri"/>
              </a:rPr>
              <a:t>Without a common schema, correlation, alerting and ML on logs are not possible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1554480"/>
            <a:ext cx="71323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5FBF"/>
                </a:solidFill>
                <a:latin typeface="Calibri"/>
              </a:rPr>
              <a:t>OUR 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1920240"/>
            <a:ext cx="713232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2A5B"/>
                </a:solidFill>
                <a:latin typeface="Calibri"/>
              </a:rPr>
              <a:t>A self-learning, tiered pipeline. </a:t>
            </a:r>
            <a:r>
              <a:rPr sz="1400" b="0">
                <a:solidFill>
                  <a:srgbClr val="222B38"/>
                </a:solidFill>
                <a:latin typeface="Calibri"/>
              </a:rPr>
              <a:t>Drain3 mines each line's template, a scikit-learn gate spots never-seen formats, and an LLM is called only once per new template to learn a rule. That rule then runs on every later line with zero LLM calls. All output is one normalised JSON schema.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26280" y="3063240"/>
            <a:ext cx="3474720" cy="1207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4526280" y="3172968"/>
            <a:ext cx="64008" cy="987552"/>
          </a:xfrm>
          <a:prstGeom prst="rect">
            <a:avLst/>
          </a:prstGeom>
          <a:solidFill>
            <a:srgbClr val="1F5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09160" y="3154680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2A5B"/>
                </a:solidFill>
                <a:latin typeface="Calibri"/>
              </a:rPr>
              <a:t>Zero hand-written parsers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60" y="3520440"/>
            <a:ext cx="3200400" cy="6583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22B38"/>
                </a:solidFill>
                <a:latin typeface="Calibri"/>
              </a:rPr>
              <a:t>New sources are discovered on the fly: 12+ families built in, and unknown formats are learned automatically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8160" y="3063240"/>
            <a:ext cx="3474720" cy="1207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8138160" y="3172968"/>
            <a:ext cx="64008" cy="98755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21040" y="3154680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2A5B"/>
                </a:solidFill>
                <a:latin typeface="Calibri"/>
              </a:rPr>
              <a:t>Cost-aware 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3520440"/>
            <a:ext cx="3200400" cy="6583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22B38"/>
                </a:solidFill>
                <a:latin typeface="Calibri"/>
              </a:rPr>
              <a:t>One LLM call per template, not per line; novel floods are quarantined and cost ~98% fewer calls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26280" y="4389120"/>
            <a:ext cx="3474720" cy="1207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4526280" y="4498848"/>
            <a:ext cx="64008" cy="987552"/>
          </a:xfrm>
          <a:prstGeom prst="rect">
            <a:avLst/>
          </a:prstGeom>
          <a:solidFill>
            <a:srgbClr val="138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09160" y="4480560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2A5B"/>
                </a:solidFill>
                <a:latin typeface="Calibri"/>
              </a:rPr>
              <a:t>Common schema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9160" y="4846320"/>
            <a:ext cx="3200400" cy="6583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22B38"/>
                </a:solidFill>
                <a:latin typeface="Calibri"/>
              </a:rPr>
              <a:t>timestamp (UTC ISO-8601) · source · event_type · severity · message · raw · extra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38160" y="4389120"/>
            <a:ext cx="3474720" cy="1207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8138160" y="4498848"/>
            <a:ext cx="64008" cy="987552"/>
          </a:xfrm>
          <a:prstGeom prst="rect">
            <a:avLst/>
          </a:prstGeom>
          <a:solidFill>
            <a:srgbClr val="0B2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1040" y="4480560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2A5B"/>
                </a:solidFill>
                <a:latin typeface="Calibri"/>
              </a:rPr>
              <a:t>Production-ready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4846320"/>
            <a:ext cx="3200400" cy="6583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22B38"/>
                </a:solidFill>
                <a:latin typeface="Calibri"/>
              </a:rPr>
              <a:t>FastAPI REST API, live web console, Bash collector for syslog/journald/Docker/K8s, and 58 tests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26280" y="5760720"/>
            <a:ext cx="7086600" cy="457200"/>
          </a:xfrm>
          <a:prstGeom prst="roundRect">
            <a:avLst>
              <a:gd name="adj" fmla="val 8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4663440" y="5760720"/>
            <a:ext cx="685800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Calibri"/>
              </a:rPr>
              <a:t>USP:  </a:t>
            </a:r>
            <a:r>
              <a:rPr sz="1300" b="0">
                <a:solidFill>
                  <a:srgbClr val="FFFFFF"/>
                </a:solidFill>
                <a:latin typeface="Calibri"/>
              </a:rPr>
              <a:t>the flexibility of an LLM with the speed of regex. 99.5% of lines never touch the AI engine.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063899" cy="7315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63898" y="0"/>
            <a:ext cx="4063899" cy="73152"/>
          </a:xfrm>
          <a:prstGeom prst="rect">
            <a:avLst/>
          </a:prstGeom>
          <a:solidFill>
            <a:srgbClr val="E9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27796" y="0"/>
            <a:ext cx="4063899" cy="73152"/>
          </a:xfrm>
          <a:prstGeom prst="rect">
            <a:avLst/>
          </a:prstGeom>
          <a:solidFill>
            <a:srgbClr val="138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9144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2A5B"/>
                </a:solidFill>
                <a:latin typeface="Calibri"/>
              </a:rPr>
              <a:t>Technical Approach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778"/>
                </a:solidFill>
                <a:latin typeface="Calibri"/>
              </a:rPr>
              <a:t>Four-tier architecture: the cheapest tier that can answer does the 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243584"/>
            <a:ext cx="1005840" cy="54864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0" y="329184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1F5FBF"/>
                </a:solidFill>
                <a:latin typeface="Calibri"/>
              </a:rPr>
              <a:t>SMART INDIA HACKATHON 2026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400800"/>
            <a:ext cx="11094415" cy="0"/>
          </a:xfrm>
          <a:prstGeom prst="line">
            <a:avLst/>
          </a:prstGeom>
          <a:ln>
            <a:solidFill>
              <a:srgbClr val="D6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4652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8220"/>
                </a:solidFill>
                <a:latin typeface="Calibri"/>
              </a:rPr>
              <a:t>[Team Name]</a:t>
            </a:r>
            <a:r>
              <a:rPr sz="1000" b="0">
                <a:solidFill>
                  <a:srgbClr val="5B6778"/>
                </a:solidFill>
                <a:latin typeface="Calibri"/>
              </a:rPr>
              <a:t>   |   PS ID: </a:t>
            </a:r>
            <a:r>
              <a:rPr sz="1000" b="0">
                <a:solidFill>
                  <a:srgbClr val="F58220"/>
                </a:solidFill>
                <a:latin typeface="Calibri"/>
              </a:rPr>
              <a:t>[Problem Statement ID]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8"/>
                </a:solidFill>
                <a:latin typeface="Calibri"/>
              </a:rPr>
              <a:t>3 / 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600200"/>
            <a:ext cx="166420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5B67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48640" y="1600200"/>
            <a:ext cx="1664208" cy="347472"/>
          </a:xfrm>
          <a:prstGeom prst="rect">
            <a:avLst/>
          </a:prstGeom>
          <a:solidFill>
            <a:srgbClr val="5B6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48640" y="1600200"/>
            <a:ext cx="1664208" cy="3474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Ingest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1984248"/>
            <a:ext cx="1664208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90000"/>
              </a:lnSpc>
            </a:pPr>
            <a:r>
              <a:rPr sz="1300" b="1">
                <a:solidFill>
                  <a:srgbClr val="0B2A5B"/>
                </a:solidFill>
                <a:latin typeface="Calibri"/>
              </a:rPr>
              <a:t>REST API /</a:t>
            </a:r>
          </a:p>
          <a:p>
            <a:pPr algn="ctr">
              <a:lnSpc>
                <a:spcPct val="90000"/>
              </a:lnSpc>
            </a:pPr>
            <a:r>
              <a:rPr sz="1300" b="1">
                <a:solidFill>
                  <a:srgbClr val="0B2A5B"/>
                </a:solidFill>
                <a:latin typeface="Calibri"/>
              </a:rPr>
              <a:t>Bash collector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560320"/>
            <a:ext cx="1664208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0">
                <a:solidFill>
                  <a:srgbClr val="5B6778"/>
                </a:solidFill>
                <a:latin typeface="Calibri"/>
              </a:rPr>
              <a:t>syslog · journald</a:t>
            </a:r>
          </a:p>
          <a:p>
            <a:pPr algn="ctr">
              <a:lnSpc>
                <a:spcPct val="90000"/>
              </a:lnSpc>
            </a:pPr>
            <a:r>
              <a:rPr sz="1050" b="0">
                <a:solidFill>
                  <a:srgbClr val="5B6778"/>
                </a:solidFill>
                <a:latin typeface="Calibri"/>
              </a:rPr>
              <a:t>docker · kubectl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231136" y="2308860"/>
            <a:ext cx="192024" cy="0"/>
          </a:xfrm>
          <a:prstGeom prst="line">
            <a:avLst/>
          </a:prstGeom>
          <a:ln w="22225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2441448" y="1600200"/>
            <a:ext cx="166420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2441448" y="1600200"/>
            <a:ext cx="1664208" cy="347472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2441448" y="1600200"/>
            <a:ext cx="1664208" cy="3474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Tier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41448" y="1984248"/>
            <a:ext cx="1664208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90000"/>
              </a:lnSpc>
            </a:pPr>
            <a:r>
              <a:rPr sz="1300" b="1">
                <a:solidFill>
                  <a:srgbClr val="0B2A5B"/>
                </a:solidFill>
                <a:latin typeface="Calibri"/>
              </a:rPr>
              <a:t>Fingerprint</a:t>
            </a:r>
          </a:p>
          <a:p>
            <a:pPr algn="ctr">
              <a:lnSpc>
                <a:spcPct val="90000"/>
              </a:lnSpc>
            </a:pPr>
            <a:r>
              <a:rPr sz="1300" b="1">
                <a:solidFill>
                  <a:srgbClr val="0B2A5B"/>
                </a:solidFill>
                <a:latin typeface="Calibri"/>
              </a:rPr>
              <a:t>Cache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41448" y="2560320"/>
            <a:ext cx="1664208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0">
                <a:solidFill>
                  <a:srgbClr val="5B6778"/>
                </a:solidFill>
                <a:latin typeface="Calibri"/>
              </a:rPr>
              <a:t>regex fast path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123944" y="2308860"/>
            <a:ext cx="192024" cy="0"/>
          </a:xfrm>
          <a:prstGeom prst="line">
            <a:avLst/>
          </a:prstGeom>
          <a:ln w="22225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334256" y="1600200"/>
            <a:ext cx="166420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4334256" y="1600200"/>
            <a:ext cx="1664208" cy="347472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334256" y="1600200"/>
            <a:ext cx="1664208" cy="3474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Tier 2a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34256" y="1984248"/>
            <a:ext cx="1664208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90000"/>
              </a:lnSpc>
            </a:pPr>
            <a:r>
              <a:rPr sz="1300" b="1">
                <a:solidFill>
                  <a:srgbClr val="0B2A5B"/>
                </a:solidFill>
                <a:latin typeface="Calibri"/>
              </a:rPr>
              <a:t>Drain3</a:t>
            </a:r>
          </a:p>
          <a:p>
            <a:pPr algn="ctr">
              <a:lnSpc>
                <a:spcPct val="90000"/>
              </a:lnSpc>
            </a:pPr>
            <a:r>
              <a:rPr sz="1300" b="1">
                <a:solidFill>
                  <a:srgbClr val="0B2A5B"/>
                </a:solidFill>
                <a:latin typeface="Calibri"/>
              </a:rPr>
              <a:t>Template Mining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34256" y="2560320"/>
            <a:ext cx="1664208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0">
                <a:solidFill>
                  <a:srgbClr val="5B6778"/>
                </a:solidFill>
                <a:latin typeface="Calibri"/>
              </a:rPr>
              <a:t>~0.016 ms / line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016752" y="2308860"/>
            <a:ext cx="192024" cy="0"/>
          </a:xfrm>
          <a:prstGeom prst="line">
            <a:avLst/>
          </a:prstGeom>
          <a:ln w="22225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6227064" y="1600200"/>
            <a:ext cx="166420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38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6227064" y="1600200"/>
            <a:ext cx="1664208" cy="347472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227064" y="1600200"/>
            <a:ext cx="1664208" cy="3474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Tier 2b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27064" y="1984248"/>
            <a:ext cx="1664208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90000"/>
              </a:lnSpc>
            </a:pPr>
            <a:r>
              <a:rPr sz="1300" b="1">
                <a:solidFill>
                  <a:srgbClr val="0B2A5B"/>
                </a:solidFill>
                <a:latin typeface="Calibri"/>
              </a:rPr>
              <a:t>Cached Template</a:t>
            </a:r>
          </a:p>
          <a:p>
            <a:pPr algn="ctr">
              <a:lnSpc>
                <a:spcPct val="90000"/>
              </a:lnSpc>
            </a:pPr>
            <a:r>
              <a:rPr sz="1300" b="1">
                <a:solidFill>
                  <a:srgbClr val="0B2A5B"/>
                </a:solidFill>
                <a:latin typeface="Calibri"/>
              </a:rPr>
              <a:t>Rule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27064" y="2560320"/>
            <a:ext cx="1664208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0">
                <a:solidFill>
                  <a:srgbClr val="5B6778"/>
                </a:solidFill>
                <a:latin typeface="Calibri"/>
              </a:rPr>
              <a:t>zero LLM calls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909560" y="2308860"/>
            <a:ext cx="192024" cy="0"/>
          </a:xfrm>
          <a:prstGeom prst="line">
            <a:avLst/>
          </a:prstGeom>
          <a:ln w="22225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8119872" y="1600200"/>
            <a:ext cx="166420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F58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8119872" y="1600200"/>
            <a:ext cx="1664208" cy="347472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119872" y="1600200"/>
            <a:ext cx="1664208" cy="3474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Tier 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19872" y="1984248"/>
            <a:ext cx="1664208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90000"/>
              </a:lnSpc>
            </a:pPr>
            <a:r>
              <a:rPr sz="1300" b="1">
                <a:solidFill>
                  <a:srgbClr val="0B2A5B"/>
                </a:solidFill>
                <a:latin typeface="Calibri"/>
              </a:rPr>
              <a:t>ML Gate +</a:t>
            </a:r>
          </a:p>
          <a:p>
            <a:pPr algn="ctr">
              <a:lnSpc>
                <a:spcPct val="90000"/>
              </a:lnSpc>
            </a:pPr>
            <a:r>
              <a:rPr sz="1300" b="1">
                <a:solidFill>
                  <a:srgbClr val="0B2A5B"/>
                </a:solidFill>
                <a:latin typeface="Calibri"/>
              </a:rPr>
              <a:t>LLM Discovery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19872" y="2560320"/>
            <a:ext cx="1664208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0">
                <a:solidFill>
                  <a:srgbClr val="5B6778"/>
                </a:solidFill>
                <a:latin typeface="Calibri"/>
              </a:rPr>
              <a:t>once per template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802368" y="2308860"/>
            <a:ext cx="192024" cy="0"/>
          </a:xfrm>
          <a:prstGeom prst="line">
            <a:avLst/>
          </a:prstGeom>
          <a:ln w="22225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10012680" y="1600200"/>
            <a:ext cx="166420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0B2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10012680" y="1600200"/>
            <a:ext cx="1664208" cy="347472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10012680" y="1600200"/>
            <a:ext cx="1664208" cy="3474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Tier 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12680" y="1984248"/>
            <a:ext cx="1664208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90000"/>
              </a:lnSpc>
            </a:pPr>
            <a:r>
              <a:rPr sz="1300" b="1">
                <a:solidFill>
                  <a:srgbClr val="0B2A5B"/>
                </a:solidFill>
                <a:latin typeface="Calibri"/>
              </a:rPr>
              <a:t>Normalise to</a:t>
            </a:r>
          </a:p>
          <a:p>
            <a:pPr algn="ctr">
              <a:lnSpc>
                <a:spcPct val="90000"/>
              </a:lnSpc>
            </a:pPr>
            <a:r>
              <a:rPr sz="1300" b="1">
                <a:solidFill>
                  <a:srgbClr val="0B2A5B"/>
                </a:solidFill>
                <a:latin typeface="Calibri"/>
              </a:rPr>
              <a:t>Common Schema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12680" y="2560320"/>
            <a:ext cx="1664208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90000"/>
              </a:lnSpc>
            </a:pPr>
            <a:r>
              <a:rPr sz="1050" b="0">
                <a:solidFill>
                  <a:srgbClr val="5B6778"/>
                </a:solidFill>
                <a:latin typeface="Calibri"/>
              </a:rPr>
              <a:t>UTC · severity · extra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3090672"/>
            <a:ext cx="111556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B2A5B"/>
                </a:solidFill>
                <a:latin typeface="Calibri"/>
              </a:rPr>
              <a:t>Flow:  </a:t>
            </a:r>
            <a:r>
              <a:rPr sz="1150" b="0">
                <a:solidFill>
                  <a:srgbClr val="5B6778"/>
                </a:solidFill>
                <a:latin typeface="Calibri"/>
              </a:rPr>
              <a:t>cache hit → done  ·  miss → Drain3 template  ·  template has rule → execute  ·  new template → scikit-learn FormatGate (known vs novel) → LLM learns rule once (novel formats are quarantined until the cluster graduates) → rule stored for all future lines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356616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Calibri"/>
              </a:rPr>
              <a:t>TECHNOLOGY STACK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548640" y="3931920"/>
          <a:ext cx="6035040" cy="23408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03120"/>
                <a:gridCol w="3931920"/>
              </a:tblGrid>
              <a:tr h="29260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B2A5B"/>
                          </a:solidFill>
                          <a:latin typeface="Calibri"/>
                        </a:rPr>
                        <a:t>Python 3.10+</a:t>
                      </a:r>
                    </a:p>
                  </a:txBody>
                  <a:tcPr marT="18288" marB="18288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B38"/>
                          </a:solidFill>
                          <a:latin typeface="Calibri"/>
                        </a:rPr>
                        <a:t>Parsing, normalisation, heuristics</a:t>
                      </a:r>
                    </a:p>
                  </a:txBody>
                  <a:tcPr marT="18288" marB="18288">
                    <a:solidFill>
                      <a:srgbClr val="F3F6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B2A5B"/>
                          </a:solidFill>
                          <a:latin typeface="Calibri"/>
                        </a:rPr>
                        <a:t>FastAPI + Pydantic v2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B38"/>
                          </a:solidFill>
                          <a:latin typeface="Calibri"/>
                        </a:rPr>
                        <a:t>REST API: ingest, cache, templates, health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B2A5B"/>
                          </a:solidFill>
                          <a:latin typeface="Calibri"/>
                        </a:rPr>
                        <a:t>Drain3</a:t>
                      </a:r>
                    </a:p>
                  </a:txBody>
                  <a:tcPr marT="18288" marB="18288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B38"/>
                          </a:solidFill>
                          <a:latin typeface="Calibri"/>
                        </a:rPr>
                        <a:t>Online log-template mining (Tier 2a)</a:t>
                      </a:r>
                    </a:p>
                  </a:txBody>
                  <a:tcPr marT="18288" marB="18288">
                    <a:solidFill>
                      <a:srgbClr val="F3F6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B2A5B"/>
                          </a:solidFill>
                          <a:latin typeface="Calibri"/>
                        </a:rPr>
                        <a:t>scikit-learn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B38"/>
                          </a:solidFill>
                          <a:latin typeface="Calibri"/>
                        </a:rPr>
                        <a:t>kNN family classifier + novelty gate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B2A5B"/>
                          </a:solidFill>
                          <a:latin typeface="Calibri"/>
                        </a:rPr>
                        <a:t>Gemini / Groq / Claude</a:t>
                      </a:r>
                    </a:p>
                  </a:txBody>
                  <a:tcPr marT="18288" marB="18288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B38"/>
                          </a:solidFill>
                          <a:latin typeface="Calibri"/>
                        </a:rPr>
                        <a:t>Rule discovery, multi-provider fallback</a:t>
                      </a:r>
                    </a:p>
                  </a:txBody>
                  <a:tcPr marT="18288" marB="18288">
                    <a:solidFill>
                      <a:srgbClr val="F3F6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B2A5B"/>
                          </a:solidFill>
                          <a:latin typeface="Calibri"/>
                        </a:rPr>
                        <a:t>Pandas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B38"/>
                          </a:solidFill>
                          <a:latin typeface="Calibri"/>
                        </a:rPr>
                        <a:t>Offline accuracy evaluation &amp; reports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B2A5B"/>
                          </a:solidFill>
                          <a:latin typeface="Calibri"/>
                        </a:rPr>
                        <a:t>Linux / Bash</a:t>
                      </a:r>
                    </a:p>
                  </a:txBody>
                  <a:tcPr marT="18288" marB="18288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B38"/>
                          </a:solidFill>
                          <a:latin typeface="Calibri"/>
                        </a:rPr>
                        <a:t>Log collection: syslog, journald, docker, k8s</a:t>
                      </a:r>
                    </a:p>
                  </a:txBody>
                  <a:tcPr marT="18288" marB="18288">
                    <a:solidFill>
                      <a:srgbClr val="F3F6F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B2A5B"/>
                          </a:solidFill>
                          <a:latin typeface="Calibri"/>
                        </a:rPr>
                        <a:t>Vercel + Upstash KV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B38"/>
                          </a:solidFill>
                          <a:latin typeface="Calibri"/>
                        </a:rPr>
                        <a:t>Serverless deploy, persistent learned rules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Box 49"/>
          <p:cNvSpPr txBox="1"/>
          <p:nvPr/>
        </p:nvSpPr>
        <p:spPr>
          <a:xfrm>
            <a:off x="6903720" y="3566160"/>
            <a:ext cx="47548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Calibri"/>
              </a:rPr>
              <a:t>METHODOLOGY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03720" y="3931920"/>
            <a:ext cx="4754880" cy="2377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F58220"/>
                </a:solidFill>
                <a:latin typeface="Calibri"/>
              </a:rPr>
              <a:t>▪  </a:t>
            </a:r>
            <a:r>
              <a:rPr sz="1200" b="1">
                <a:solidFill>
                  <a:srgbClr val="222B38"/>
                </a:solidFill>
                <a:latin typeface="Calibri"/>
              </a:rPr>
              <a:t>Mask &amp; mine: </a:t>
            </a:r>
            <a:r>
              <a:rPr sz="1200" b="0">
                <a:solidFill>
                  <a:srgbClr val="222B38"/>
                </a:solidFill>
                <a:latin typeface="Calibri"/>
              </a:rPr>
              <a:t>variables (IPs, ids, numbers, timestamps) are masked, then Drain3 clusters lines into templates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F58220"/>
                </a:solidFill>
                <a:latin typeface="Calibri"/>
              </a:rPr>
              <a:t>▪  </a:t>
            </a:r>
            <a:r>
              <a:rPr sz="1200" b="1">
                <a:solidFill>
                  <a:srgbClr val="222B38"/>
                </a:solidFill>
                <a:latin typeface="Calibri"/>
              </a:rPr>
              <a:t>Classify: </a:t>
            </a:r>
            <a:r>
              <a:rPr sz="1200" b="0">
                <a:solidFill>
                  <a:srgbClr val="222B38"/>
                </a:solidFill>
                <a:latin typeface="Calibri"/>
              </a:rPr>
              <a:t>a kNN on masked lines picks the format family; a distance threshold tuned on foreign hosts flags novelty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F58220"/>
                </a:solidFill>
                <a:latin typeface="Calibri"/>
              </a:rPr>
              <a:t>▪  </a:t>
            </a:r>
            <a:r>
              <a:rPr sz="1200" b="1">
                <a:solidFill>
                  <a:srgbClr val="222B38"/>
                </a:solidFill>
                <a:latin typeface="Calibri"/>
              </a:rPr>
              <a:t>Learn once: </a:t>
            </a:r>
            <a:r>
              <a:rPr sz="1200" b="0">
                <a:solidFill>
                  <a:srgbClr val="222B38"/>
                </a:solidFill>
                <a:latin typeface="Calibri"/>
              </a:rPr>
              <a:t>an LLM or heuristics produce a field-extraction rule keyed by template, then cached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F58220"/>
                </a:solidFill>
                <a:latin typeface="Calibri"/>
              </a:rPr>
              <a:t>▪  </a:t>
            </a:r>
            <a:r>
              <a:rPr sz="1200" b="1">
                <a:solidFill>
                  <a:srgbClr val="222B38"/>
                </a:solidFill>
                <a:latin typeface="Calibri"/>
              </a:rPr>
              <a:t>Normalise: </a:t>
            </a:r>
            <a:r>
              <a:rPr sz="1200" b="0">
                <a:solidFill>
                  <a:srgbClr val="222B38"/>
                </a:solidFill>
                <a:latin typeface="Calibri"/>
              </a:rPr>
              <a:t>timestamps go to UTC, severities are canonicalised, and unmapped fields are kept in extra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F58220"/>
                </a:solidFill>
                <a:latin typeface="Calibri"/>
              </a:rPr>
              <a:t>▪  </a:t>
            </a:r>
            <a:r>
              <a:rPr sz="1200" b="1">
                <a:solidFill>
                  <a:srgbClr val="222B38"/>
                </a:solidFill>
                <a:latin typeface="Calibri"/>
              </a:rPr>
              <a:t>Shadow → enforce: </a:t>
            </a:r>
            <a:r>
              <a:rPr sz="1200" b="0">
                <a:solidFill>
                  <a:srgbClr val="222B38"/>
                </a:solidFill>
                <a:latin typeface="Calibri"/>
              </a:rPr>
              <a:t>the ML gate starts in observe-only mode (zero regression risk)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063899" cy="7315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63898" y="0"/>
            <a:ext cx="4063899" cy="73152"/>
          </a:xfrm>
          <a:prstGeom prst="rect">
            <a:avLst/>
          </a:prstGeom>
          <a:solidFill>
            <a:srgbClr val="E9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27796" y="0"/>
            <a:ext cx="4063899" cy="73152"/>
          </a:xfrm>
          <a:prstGeom prst="rect">
            <a:avLst/>
          </a:prstGeom>
          <a:solidFill>
            <a:srgbClr val="138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9144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2A5B"/>
                </a:solidFill>
                <a:latin typeface="Calibri"/>
              </a:rPr>
              <a:t>Feasibility &amp; Viability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778"/>
                </a:solidFill>
                <a:latin typeface="Calibri"/>
              </a:rPr>
              <a:t>Already built, deployed and benchmarked on real-world Loghub data (ICSE'19 benchmark corpus)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243584"/>
            <a:ext cx="1005840" cy="54864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0" y="329184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1F5FBF"/>
                </a:solidFill>
                <a:latin typeface="Calibri"/>
              </a:rPr>
              <a:t>SMART INDIA HACKATHON 2026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400800"/>
            <a:ext cx="11094415" cy="0"/>
          </a:xfrm>
          <a:prstGeom prst="line">
            <a:avLst/>
          </a:prstGeom>
          <a:ln>
            <a:solidFill>
              <a:srgbClr val="D6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4652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8220"/>
                </a:solidFill>
                <a:latin typeface="Calibri"/>
              </a:rPr>
              <a:t>[Team Name]</a:t>
            </a:r>
            <a:r>
              <a:rPr sz="1000" b="0">
                <a:solidFill>
                  <a:srgbClr val="5B6778"/>
                </a:solidFill>
                <a:latin typeface="Calibri"/>
              </a:rPr>
              <a:t>   |   PS ID: </a:t>
            </a:r>
            <a:r>
              <a:rPr sz="1000" b="0">
                <a:solidFill>
                  <a:srgbClr val="F58220"/>
                </a:solidFill>
                <a:latin typeface="Calibri"/>
              </a:rPr>
              <a:t>[Problem Statement ID]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8"/>
                </a:solidFill>
                <a:latin typeface="Calibri"/>
              </a:rPr>
              <a:t>4 /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50876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Calibri"/>
              </a:rPr>
              <a:t>MEASURED ACCURACY (REAL LOGS, HELD-OUT SPLIT)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548640" y="1874519"/>
          <a:ext cx="5852160" cy="3017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548640" y="5029200"/>
            <a:ext cx="1371600" cy="1188720"/>
          </a:xfrm>
          <a:prstGeom prst="roundRect">
            <a:avLst>
              <a:gd name="adj" fmla="val 8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48640" y="5102352"/>
            <a:ext cx="1371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1F5FBF"/>
                </a:solidFill>
                <a:latin typeface="Calibri"/>
              </a:rPr>
              <a:t>0.28 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5632704"/>
            <a:ext cx="1225296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B6778"/>
                </a:solidFill>
                <a:latin typeface="Calibri"/>
              </a:rPr>
              <a:t>mean latency per line, end-to-end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039112" y="5029200"/>
            <a:ext cx="1371600" cy="1188720"/>
          </a:xfrm>
          <a:prstGeom prst="roundRect">
            <a:avLst>
              <a:gd name="adj" fmla="val 8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039112" y="5102352"/>
            <a:ext cx="1371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58220"/>
                </a:solidFill>
                <a:latin typeface="Calibri"/>
              </a:rPr>
              <a:t>98%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12264" y="5632704"/>
            <a:ext cx="1225296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B6778"/>
                </a:solidFill>
                <a:latin typeface="Calibri"/>
              </a:rPr>
              <a:t>fewer LLM calls on a novel-format flood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9584" y="5029200"/>
            <a:ext cx="1371600" cy="1188720"/>
          </a:xfrm>
          <a:prstGeom prst="roundRect">
            <a:avLst>
              <a:gd name="adj" fmla="val 8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529584" y="5102352"/>
            <a:ext cx="1371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138A36"/>
                </a:solidFill>
                <a:latin typeface="Calibri"/>
              </a:rPr>
              <a:t>1.5%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02736" y="5632704"/>
            <a:ext cx="1225296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B6778"/>
                </a:solidFill>
                <a:latin typeface="Calibri"/>
              </a:rPr>
              <a:t>false-alarm rate on known systems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0056" y="5029200"/>
            <a:ext cx="1371600" cy="1188720"/>
          </a:xfrm>
          <a:prstGeom prst="roundRect">
            <a:avLst>
              <a:gd name="adj" fmla="val 8000"/>
            </a:avLst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020056" y="5102352"/>
            <a:ext cx="1371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2A5B"/>
                </a:solidFill>
                <a:latin typeface="Calibri"/>
              </a:rPr>
              <a:t>58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93208" y="5632704"/>
            <a:ext cx="1225296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B6778"/>
                </a:solidFill>
                <a:latin typeface="Calibri"/>
              </a:rPr>
              <a:t>automated tests, live demo deployed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66560" y="1508760"/>
            <a:ext cx="489204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766560" y="1618488"/>
            <a:ext cx="64008" cy="1837944"/>
          </a:xfrm>
          <a:prstGeom prst="rect">
            <a:avLst/>
          </a:prstGeom>
          <a:solidFill>
            <a:srgbClr val="138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49440" y="1600200"/>
            <a:ext cx="46177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B2A5B"/>
                </a:solidFill>
                <a:latin typeface="Calibri"/>
              </a:rPr>
              <a:t>Why it is feasible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1965960"/>
            <a:ext cx="4617720" cy="1508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1150">
                <a:solidFill>
                  <a:srgbClr val="138A36"/>
                </a:solidFill>
                <a:latin typeface="Calibri"/>
              </a:rPr>
              <a:t>•  </a:t>
            </a:r>
            <a:r>
              <a:rPr sz="1150" b="0">
                <a:solidFill>
                  <a:srgbClr val="222B38"/>
                </a:solidFill>
                <a:latin typeface="Calibri"/>
              </a:rPr>
              <a:t>Working prototype live on Vercel serverless (lean ~285 MB bundle)</a:t>
            </a:r>
          </a:p>
          <a:p>
            <a:pPr>
              <a:spcAft>
                <a:spcPts val="200"/>
              </a:spcAft>
            </a:pPr>
            <a:r>
              <a:rPr sz="1150">
                <a:solidFill>
                  <a:srgbClr val="138A36"/>
                </a:solidFill>
                <a:latin typeface="Calibri"/>
              </a:rPr>
              <a:t>•  </a:t>
            </a:r>
            <a:r>
              <a:rPr sz="1150" b="0">
                <a:solidFill>
                  <a:srgbClr val="222B38"/>
                </a:solidFill>
                <a:latin typeface="Calibri"/>
              </a:rPr>
              <a:t>Built on proven open-source tools: Drain3, scikit-learn, FastAPI</a:t>
            </a:r>
          </a:p>
          <a:p>
            <a:pPr>
              <a:spcAft>
                <a:spcPts val="200"/>
              </a:spcAft>
            </a:pPr>
            <a:r>
              <a:rPr sz="1150">
                <a:solidFill>
                  <a:srgbClr val="138A36"/>
                </a:solidFill>
                <a:latin typeface="Calibri"/>
              </a:rPr>
              <a:t>•  </a:t>
            </a:r>
            <a:r>
              <a:rPr sz="1150" b="0">
                <a:solidFill>
                  <a:srgbClr val="222B38"/>
                </a:solidFill>
                <a:latin typeface="Calibri"/>
              </a:rPr>
              <a:t>Runs with no API key at all (heuristic fallback), so the LLM is optional</a:t>
            </a:r>
          </a:p>
          <a:p>
            <a:pPr>
              <a:spcAft>
                <a:spcPts val="200"/>
              </a:spcAft>
            </a:pPr>
            <a:r>
              <a:rPr sz="1150">
                <a:solidFill>
                  <a:srgbClr val="138A36"/>
                </a:solidFill>
                <a:latin typeface="Calibri"/>
              </a:rPr>
              <a:t>•  </a:t>
            </a:r>
            <a:r>
              <a:rPr sz="1150" b="0">
                <a:solidFill>
                  <a:srgbClr val="222B38"/>
                </a:solidFill>
                <a:latin typeface="Calibri"/>
              </a:rPr>
              <a:t>Retrain loop: the benchmark caught a 33% gate, and augmenting with real data took it to 100%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3703320"/>
            <a:ext cx="4892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Calibri"/>
              </a:rPr>
              <a:t>CHALLENGES  →  MITIGATION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6766560" y="4069080"/>
          <a:ext cx="4892040" cy="21031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48840"/>
                <a:gridCol w="2743200"/>
              </a:tblGrid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B2A5B"/>
                          </a:solidFill>
                          <a:latin typeface="Calibri"/>
                        </a:rPr>
                        <a:t>LLM outage / quota / 403</a:t>
                      </a:r>
                    </a:p>
                  </a:txBody>
                  <a:tcPr marT="27432" marB="27432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Gemini → Groq → Claude → heuristics</a:t>
                      </a:r>
                    </a:p>
                  </a:txBody>
                  <a:tcPr marT="27432" marB="27432">
                    <a:solidFill>
                      <a:srgbClr val="F3F6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B2A5B"/>
                          </a:solidFill>
                          <a:latin typeface="Calibri"/>
                        </a:rPr>
                        <a:t>LLM cost at scale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1 call per template; quarantine + graduation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B2A5B"/>
                          </a:solidFill>
                          <a:latin typeface="Calibri"/>
                        </a:rPr>
                        <a:t>Cold-start rule loss</a:t>
                      </a:r>
                    </a:p>
                  </a:txBody>
                  <a:tcPr marT="27432" marB="27432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Rules persisted in Upstash / Vercel KV</a:t>
                      </a:r>
                    </a:p>
                  </a:txBody>
                  <a:tcPr marT="27432" marB="27432">
                    <a:solidFill>
                      <a:srgbClr val="F3F6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B2A5B"/>
                          </a:solidFill>
                          <a:latin typeface="Calibri"/>
                        </a:rPr>
                        <a:t>Legit format flagged novel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Quarantine review + one-command retrain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B2A5B"/>
                          </a:solidFill>
                          <a:latin typeface="Calibri"/>
                        </a:rPr>
                        <a:t>Abuse of ingest API</a:t>
                      </a:r>
                    </a:p>
                  </a:txBody>
                  <a:tcPr marT="27432" marB="27432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B38"/>
                          </a:solidFill>
                          <a:latin typeface="Calibri"/>
                        </a:rPr>
                        <a:t>Optional INGEST_API_KEY header guard</a:t>
                      </a:r>
                    </a:p>
                  </a:txBody>
                  <a:tcPr marT="27432" marB="27432"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063899" cy="7315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63898" y="0"/>
            <a:ext cx="4063899" cy="73152"/>
          </a:xfrm>
          <a:prstGeom prst="rect">
            <a:avLst/>
          </a:prstGeom>
          <a:solidFill>
            <a:srgbClr val="E9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27796" y="0"/>
            <a:ext cx="4063899" cy="73152"/>
          </a:xfrm>
          <a:prstGeom prst="rect">
            <a:avLst/>
          </a:prstGeom>
          <a:solidFill>
            <a:srgbClr val="138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9144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2A5B"/>
                </a:solidFill>
                <a:latin typeface="Calibri"/>
              </a:rPr>
              <a:t>Impact &amp; Benefits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778"/>
                </a:solidFill>
                <a:latin typeface="Calibri"/>
              </a:rPr>
              <a:t>Turning log chaos into analysis-ready data for ops, security and AI teams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243584"/>
            <a:ext cx="1005840" cy="54864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0" y="329184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1F5FBF"/>
                </a:solidFill>
                <a:latin typeface="Calibri"/>
              </a:rPr>
              <a:t>SMART INDIA HACKATHON 2026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400800"/>
            <a:ext cx="11094415" cy="0"/>
          </a:xfrm>
          <a:prstGeom prst="line">
            <a:avLst/>
          </a:prstGeom>
          <a:ln>
            <a:solidFill>
              <a:srgbClr val="D6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4652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8220"/>
                </a:solidFill>
                <a:latin typeface="Calibri"/>
              </a:rPr>
              <a:t>[Team Name]</a:t>
            </a:r>
            <a:r>
              <a:rPr sz="1000" b="0">
                <a:solidFill>
                  <a:srgbClr val="5B6778"/>
                </a:solidFill>
                <a:latin typeface="Calibri"/>
              </a:rPr>
              <a:t>   |   PS ID: </a:t>
            </a:r>
            <a:r>
              <a:rPr sz="1000" b="0">
                <a:solidFill>
                  <a:srgbClr val="F58220"/>
                </a:solidFill>
                <a:latin typeface="Calibri"/>
              </a:rPr>
              <a:t>[Problem Statement ID]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8"/>
                </a:solidFill>
                <a:latin typeface="Calibri"/>
              </a:rPr>
              <a:t>5 /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50876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Calibri"/>
              </a:rPr>
              <a:t>WHO BENEFITS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874519"/>
            <a:ext cx="269748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48640" y="1984247"/>
            <a:ext cx="64008" cy="1106424"/>
          </a:xfrm>
          <a:prstGeom prst="rect">
            <a:avLst/>
          </a:prstGeom>
          <a:solidFill>
            <a:srgbClr val="1F5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965959"/>
            <a:ext cx="24231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2A5B"/>
                </a:solidFill>
                <a:latin typeface="Calibri"/>
              </a:rPr>
              <a:t>SOC &amp; CERT teams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331719"/>
            <a:ext cx="242316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22B38"/>
                </a:solidFill>
                <a:latin typeface="Calibri"/>
              </a:rPr>
              <a:t>Uniform, SIEM-ready events (CEF/LEEF parsed) for faster threat correlation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4992" y="1874519"/>
            <a:ext cx="269748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3364992" y="1984247"/>
            <a:ext cx="64008" cy="1106424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47872" y="1965959"/>
            <a:ext cx="24231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2A5B"/>
                </a:solidFill>
                <a:latin typeface="Calibri"/>
              </a:rPr>
              <a:t>Govt. &amp; PSU data centres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47872" y="2331719"/>
            <a:ext cx="242316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22B38"/>
                </a:solidFill>
                <a:latin typeface="Calibri"/>
              </a:rPr>
              <a:t>Onboard heterogeneous legacy and cloud systems without custom parsers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1344" y="1874519"/>
            <a:ext cx="269748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6181344" y="1984247"/>
            <a:ext cx="64008" cy="1106424"/>
          </a:xfrm>
          <a:prstGeom prst="rect">
            <a:avLst/>
          </a:prstGeom>
          <a:solidFill>
            <a:srgbClr val="138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1965959"/>
            <a:ext cx="24231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2A5B"/>
                </a:solidFill>
                <a:latin typeface="Calibri"/>
              </a:rPr>
              <a:t>DevOps / SRE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2331719"/>
            <a:ext cx="242316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22B38"/>
                </a:solidFill>
                <a:latin typeface="Calibri"/>
              </a:rPr>
              <a:t>One schema across containers, VMs and apps, so incident triage is faster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97696" y="1874519"/>
            <a:ext cx="269748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8997696" y="1984247"/>
            <a:ext cx="64008" cy="1106424"/>
          </a:xfrm>
          <a:prstGeom prst="rect">
            <a:avLst/>
          </a:prstGeom>
          <a:solidFill>
            <a:srgbClr val="0B2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80576" y="1965959"/>
            <a:ext cx="24231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2A5B"/>
                </a:solidFill>
                <a:latin typeface="Calibri"/>
              </a:rPr>
              <a:t>AI / Analytics teams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2331719"/>
            <a:ext cx="242316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22B38"/>
                </a:solidFill>
                <a:latin typeface="Calibri"/>
              </a:rPr>
              <a:t>Clean, structured training data for anomaly detection and forecasting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38328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Calibri"/>
              </a:rPr>
              <a:t>BENEFITS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3749039"/>
            <a:ext cx="269748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548640" y="3858767"/>
            <a:ext cx="64008" cy="2295144"/>
          </a:xfrm>
          <a:prstGeom prst="rect">
            <a:avLst/>
          </a:prstGeom>
          <a:solidFill>
            <a:srgbClr val="1F5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3840479"/>
            <a:ext cx="24231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2A5B"/>
                </a:solidFill>
                <a:latin typeface="Calibri"/>
              </a:rPr>
              <a:t>Economic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206239"/>
            <a:ext cx="2423160" cy="1965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1150">
                <a:solidFill>
                  <a:srgbClr val="1F5FBF"/>
                </a:solidFill>
                <a:latin typeface="Calibri"/>
              </a:rPr>
              <a:t>•  </a:t>
            </a:r>
            <a:r>
              <a:rPr sz="1150" b="0">
                <a:solidFill>
                  <a:srgbClr val="222B38"/>
                </a:solidFill>
                <a:latin typeface="Calibri"/>
              </a:rPr>
              <a:t>No engineer-hours spent writing and maintaining regex parsers</a:t>
            </a:r>
          </a:p>
          <a:p>
            <a:pPr>
              <a:spcAft>
                <a:spcPts val="200"/>
              </a:spcAft>
            </a:pPr>
            <a:r>
              <a:rPr sz="1150">
                <a:solidFill>
                  <a:srgbClr val="1F5FBF"/>
                </a:solidFill>
                <a:latin typeface="Calibri"/>
              </a:rPr>
              <a:t>•  </a:t>
            </a:r>
            <a:r>
              <a:rPr sz="1150" b="0">
                <a:solidFill>
                  <a:srgbClr val="222B38"/>
                </a:solidFill>
                <a:latin typeface="Calibri"/>
              </a:rPr>
              <a:t>LLM spend limited to new templates only (99.5% of lines cost zero tokens)</a:t>
            </a:r>
          </a:p>
          <a:p>
            <a:pPr>
              <a:spcAft>
                <a:spcPts val="200"/>
              </a:spcAft>
            </a:pPr>
            <a:r>
              <a:rPr sz="1150">
                <a:solidFill>
                  <a:srgbClr val="1F5FBF"/>
                </a:solidFill>
                <a:latin typeface="Calibri"/>
              </a:rPr>
              <a:t>•  </a:t>
            </a:r>
            <a:r>
              <a:rPr sz="1150" b="0">
                <a:solidFill>
                  <a:srgbClr val="222B38"/>
                </a:solidFill>
                <a:latin typeface="Calibri"/>
              </a:rPr>
              <a:t>Runs on low-cost serverless infrastructure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64992" y="3749039"/>
            <a:ext cx="269748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3364992" y="3858767"/>
            <a:ext cx="64008" cy="2295144"/>
          </a:xfrm>
          <a:prstGeom prst="rect">
            <a:avLst/>
          </a:prstGeom>
          <a:solidFill>
            <a:srgbClr val="138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47872" y="3840479"/>
            <a:ext cx="24231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2A5B"/>
                </a:solidFill>
                <a:latin typeface="Calibri"/>
              </a:rPr>
              <a:t>Operational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47872" y="4206239"/>
            <a:ext cx="2423160" cy="1965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1150">
                <a:solidFill>
                  <a:srgbClr val="138A36"/>
                </a:solidFill>
                <a:latin typeface="Calibri"/>
              </a:rPr>
              <a:t>•  </a:t>
            </a:r>
            <a:r>
              <a:rPr sz="1150" b="0">
                <a:solidFill>
                  <a:srgbClr val="222B38"/>
                </a:solidFill>
                <a:latin typeface="Calibri"/>
              </a:rPr>
              <a:t>New log sources work from the first line, with no deployment needed</a:t>
            </a:r>
          </a:p>
          <a:p>
            <a:pPr>
              <a:spcAft>
                <a:spcPts val="200"/>
              </a:spcAft>
            </a:pPr>
            <a:r>
              <a:rPr sz="1150">
                <a:solidFill>
                  <a:srgbClr val="138A36"/>
                </a:solidFill>
                <a:latin typeface="Calibri"/>
              </a:rPr>
              <a:t>•  </a:t>
            </a:r>
            <a:r>
              <a:rPr sz="1150" b="0">
                <a:solidFill>
                  <a:srgbClr val="222B38"/>
                </a:solidFill>
                <a:latin typeface="Calibri"/>
              </a:rPr>
              <a:t>Sub-millisecond parsing keeps up with high-volume streams</a:t>
            </a:r>
          </a:p>
          <a:p>
            <a:pPr>
              <a:spcAft>
                <a:spcPts val="200"/>
              </a:spcAft>
            </a:pPr>
            <a:r>
              <a:rPr sz="1150">
                <a:solidFill>
                  <a:srgbClr val="138A36"/>
                </a:solidFill>
                <a:latin typeface="Calibri"/>
              </a:rPr>
              <a:t>•  </a:t>
            </a:r>
            <a:r>
              <a:rPr sz="1150" b="0">
                <a:solidFill>
                  <a:srgbClr val="222B38"/>
                </a:solidFill>
                <a:latin typeface="Calibri"/>
              </a:rPr>
              <a:t>Lower MTTR: consistent timestamps and severities across systems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81344" y="3749039"/>
            <a:ext cx="269748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6181344" y="3858767"/>
            <a:ext cx="64008" cy="2295144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64224" y="3840479"/>
            <a:ext cx="24231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2A5B"/>
                </a:solidFill>
                <a:latin typeface="Calibri"/>
              </a:rPr>
              <a:t>Security &amp; Governance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4224" y="4206239"/>
            <a:ext cx="2423160" cy="1965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1150">
                <a:solidFill>
                  <a:srgbClr val="F58220"/>
                </a:solidFill>
                <a:latin typeface="Calibri"/>
              </a:rPr>
              <a:t>•  </a:t>
            </a:r>
            <a:r>
              <a:rPr sz="1150" b="0">
                <a:solidFill>
                  <a:srgbClr val="222B38"/>
                </a:solidFill>
                <a:latin typeface="Calibri"/>
              </a:rPr>
              <a:t>Novel or unexpected formats surface automatically (possible tampering or misconfiguration)</a:t>
            </a:r>
          </a:p>
          <a:p>
            <a:pPr>
              <a:spcAft>
                <a:spcPts val="200"/>
              </a:spcAft>
            </a:pPr>
            <a:r>
              <a:rPr sz="1150">
                <a:solidFill>
                  <a:srgbClr val="F58220"/>
                </a:solidFill>
                <a:latin typeface="Calibri"/>
              </a:rPr>
              <a:t>•  </a:t>
            </a:r>
            <a:r>
              <a:rPr sz="1150" b="0">
                <a:solidFill>
                  <a:srgbClr val="222B38"/>
                </a:solidFill>
                <a:latin typeface="Calibri"/>
              </a:rPr>
              <a:t>Raw line always preserved for audit and forensics</a:t>
            </a:r>
          </a:p>
          <a:p>
            <a:pPr>
              <a:spcAft>
                <a:spcPts val="200"/>
              </a:spcAft>
            </a:pPr>
            <a:r>
              <a:rPr sz="1150">
                <a:solidFill>
                  <a:srgbClr val="F58220"/>
                </a:solidFill>
                <a:latin typeface="Calibri"/>
              </a:rPr>
              <a:t>•  </a:t>
            </a:r>
            <a:r>
              <a:rPr sz="1150" b="0">
                <a:solidFill>
                  <a:srgbClr val="222B38"/>
                </a:solidFill>
                <a:latin typeface="Calibri"/>
              </a:rPr>
              <a:t>Can be self-hosted, so logs stay within Indian jurisdiction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97696" y="3749039"/>
            <a:ext cx="269748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8997696" y="3858767"/>
            <a:ext cx="64008" cy="2295144"/>
          </a:xfrm>
          <a:prstGeom prst="rect">
            <a:avLst/>
          </a:prstGeom>
          <a:solidFill>
            <a:srgbClr val="0B2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80576" y="3840479"/>
            <a:ext cx="24231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2A5B"/>
                </a:solidFill>
                <a:latin typeface="Calibri"/>
              </a:rPr>
              <a:t>Social / National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80576" y="4206239"/>
            <a:ext cx="2423160" cy="1965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1150">
                <a:solidFill>
                  <a:srgbClr val="0B2A5B"/>
                </a:solidFill>
                <a:latin typeface="Calibri"/>
              </a:rPr>
              <a:t>•  </a:t>
            </a:r>
            <a:r>
              <a:rPr sz="1150" b="0">
                <a:solidFill>
                  <a:srgbClr val="222B38"/>
                </a:solidFill>
                <a:latin typeface="Calibri"/>
              </a:rPr>
              <a:t>Strengthens cyber-resilience of Digital India infrastructure</a:t>
            </a:r>
          </a:p>
          <a:p>
            <a:pPr>
              <a:spcAft>
                <a:spcPts val="200"/>
              </a:spcAft>
            </a:pPr>
            <a:r>
              <a:rPr sz="1150">
                <a:solidFill>
                  <a:srgbClr val="0B2A5B"/>
                </a:solidFill>
                <a:latin typeface="Calibri"/>
              </a:rPr>
              <a:t>•  </a:t>
            </a:r>
            <a:r>
              <a:rPr sz="1150" b="0">
                <a:solidFill>
                  <a:srgbClr val="222B38"/>
                </a:solidFill>
                <a:latin typeface="Calibri"/>
              </a:rPr>
              <a:t>Open, vendor-neutral stack instead of costly proprietary SIEM parsers</a:t>
            </a:r>
          </a:p>
          <a:p>
            <a:pPr>
              <a:spcAft>
                <a:spcPts val="200"/>
              </a:spcAft>
            </a:pPr>
            <a:r>
              <a:rPr sz="1150">
                <a:solidFill>
                  <a:srgbClr val="0B2A5B"/>
                </a:solidFill>
                <a:latin typeface="Calibri"/>
              </a:rPr>
              <a:t>•  </a:t>
            </a:r>
            <a:r>
              <a:rPr sz="1150" b="0">
                <a:solidFill>
                  <a:srgbClr val="222B38"/>
                </a:solidFill>
                <a:latin typeface="Calibri"/>
              </a:rPr>
              <a:t>Reusable by startups, MSMEs and academic institutions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063899" cy="73152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63898" y="0"/>
            <a:ext cx="4063899" cy="73152"/>
          </a:xfrm>
          <a:prstGeom prst="rect">
            <a:avLst/>
          </a:prstGeom>
          <a:solidFill>
            <a:srgbClr val="E9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27796" y="0"/>
            <a:ext cx="4063899" cy="73152"/>
          </a:xfrm>
          <a:prstGeom prst="rect">
            <a:avLst/>
          </a:prstGeom>
          <a:solidFill>
            <a:srgbClr val="138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9144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2A5B"/>
                </a:solidFill>
                <a:latin typeface="Calibri"/>
              </a:rPr>
              <a:t>Research &amp; 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778"/>
                </a:solidFill>
                <a:latin typeface="Calibri"/>
              </a:rPr>
              <a:t>Grounded in peer-reviewed log-parsing research and open standards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243584"/>
            <a:ext cx="1005840" cy="54864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0" y="329184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1F5FBF"/>
                </a:solidFill>
                <a:latin typeface="Calibri"/>
              </a:rPr>
              <a:t>SMART INDIA HACKATHON 2026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400800"/>
            <a:ext cx="11094415" cy="0"/>
          </a:xfrm>
          <a:prstGeom prst="line">
            <a:avLst/>
          </a:prstGeom>
          <a:ln>
            <a:solidFill>
              <a:srgbClr val="D6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4652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8220"/>
                </a:solidFill>
                <a:latin typeface="Calibri"/>
              </a:rPr>
              <a:t>[Team Name]</a:t>
            </a:r>
            <a:r>
              <a:rPr sz="1000" b="0">
                <a:solidFill>
                  <a:srgbClr val="5B6778"/>
                </a:solidFill>
                <a:latin typeface="Calibri"/>
              </a:rPr>
              <a:t>   |   PS ID: </a:t>
            </a:r>
            <a:r>
              <a:rPr sz="1000" b="0">
                <a:solidFill>
                  <a:srgbClr val="F58220"/>
                </a:solidFill>
                <a:latin typeface="Calibri"/>
              </a:rPr>
              <a:t>[Problem Statement ID]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B6778"/>
                </a:solidFill>
                <a:latin typeface="Calibri"/>
              </a:rPr>
              <a:t>6 / 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554480"/>
            <a:ext cx="7223760" cy="1645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48640" y="1664208"/>
            <a:ext cx="64008" cy="1426464"/>
          </a:xfrm>
          <a:prstGeom prst="rect">
            <a:avLst/>
          </a:prstGeom>
          <a:solidFill>
            <a:srgbClr val="1F5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645920"/>
            <a:ext cx="69494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2A5B"/>
                </a:solidFill>
                <a:latin typeface="Calibri"/>
              </a:rPr>
              <a:t>Research papers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011680"/>
            <a:ext cx="6949440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F5FBF"/>
                </a:solidFill>
                <a:latin typeface="Calibri"/>
              </a:rPr>
              <a:t>•  </a:t>
            </a:r>
            <a:r>
              <a:rPr sz="1100" b="0">
                <a:solidFill>
                  <a:srgbClr val="222B38"/>
                </a:solidFill>
                <a:latin typeface="Calibri"/>
              </a:rPr>
              <a:t>P. He, J. Zhu, Z. Zheng, M. R. Lyu, "Drain: An Online Log Parsing Approach with Fixed Depth Tree", IEEE ICWS 2017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F5FBF"/>
                </a:solidFill>
                <a:latin typeface="Calibri"/>
              </a:rPr>
              <a:t>•  </a:t>
            </a:r>
            <a:r>
              <a:rPr sz="1100" b="0">
                <a:solidFill>
                  <a:srgbClr val="222B38"/>
                </a:solidFill>
                <a:latin typeface="Calibri"/>
              </a:rPr>
              <a:t>J. Zhu et al., "Tools and Benchmarks for Automated Log Parsing", ICSE-SEIP 2019 (Grouping-Accuracy metric used in our benchmark)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F5FBF"/>
                </a:solidFill>
                <a:latin typeface="Calibri"/>
              </a:rPr>
              <a:t>•  </a:t>
            </a:r>
            <a:r>
              <a:rPr sz="1100" b="0">
                <a:solidFill>
                  <a:srgbClr val="222B38"/>
                </a:solidFill>
                <a:latin typeface="Calibri"/>
              </a:rPr>
              <a:t>J. Zhu, S. He, P. He, J. Liu, M. R. Lyu, "Loghub: A Large Collection of System Log Datasets for AI-driven Log Analytics", IEEE ISSRE 2023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310128"/>
            <a:ext cx="722376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48640" y="3419856"/>
            <a:ext cx="64008" cy="877824"/>
          </a:xfrm>
          <a:prstGeom prst="rect">
            <a:avLst/>
          </a:prstGeom>
          <a:solidFill>
            <a:srgbClr val="138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401568"/>
            <a:ext cx="69494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2A5B"/>
                </a:solidFill>
                <a:latin typeface="Calibri"/>
              </a:rPr>
              <a:t>Datasets &amp; open-source tools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767328"/>
            <a:ext cx="694944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38A36"/>
                </a:solidFill>
                <a:latin typeface="Calibri"/>
              </a:rPr>
              <a:t>•  </a:t>
            </a:r>
            <a:r>
              <a:rPr sz="1100" b="0">
                <a:solidFill>
                  <a:srgbClr val="222B38"/>
                </a:solidFill>
                <a:latin typeface="Calibri"/>
              </a:rPr>
              <a:t>Loghub: github.com/logpai/loghub (human-validated templates for 12 systems)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38A36"/>
                </a:solidFill>
                <a:latin typeface="Calibri"/>
              </a:rPr>
              <a:t>•  </a:t>
            </a:r>
            <a:r>
              <a:rPr sz="1100" b="0">
                <a:solidFill>
                  <a:srgbClr val="222B38"/>
                </a:solidFill>
                <a:latin typeface="Calibri"/>
              </a:rPr>
              <a:t>Drain3: github.com/logpai/Drain3 (streaming template miner)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38A36"/>
                </a:solidFill>
                <a:latin typeface="Calibri"/>
              </a:rPr>
              <a:t>•  </a:t>
            </a:r>
            <a:r>
              <a:rPr sz="1100" b="0">
                <a:solidFill>
                  <a:srgbClr val="222B38"/>
                </a:solidFill>
                <a:latin typeface="Calibri"/>
              </a:rPr>
              <a:t>scikit-learn: Pedregosa et al., JMLR 12, 2011 · FastAPI: fastapi.tiangolo.com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517136"/>
            <a:ext cx="722376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548640" y="4626864"/>
            <a:ext cx="64008" cy="877824"/>
          </a:xfrm>
          <a:prstGeom prst="rect">
            <a:avLst/>
          </a:prstGeom>
          <a:solidFill>
            <a:srgbClr val="F58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608576"/>
            <a:ext cx="69494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2A5B"/>
                </a:solidFill>
                <a:latin typeface="Calibri"/>
              </a:rPr>
              <a:t>Standards &amp; formats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974336"/>
            <a:ext cx="694944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F58220"/>
                </a:solidFill>
                <a:latin typeface="Calibri"/>
              </a:rPr>
              <a:t>•  </a:t>
            </a:r>
            <a:r>
              <a:rPr sz="1100" b="0">
                <a:solidFill>
                  <a:srgbClr val="222B38"/>
                </a:solidFill>
                <a:latin typeface="Calibri"/>
              </a:rPr>
              <a:t>RFC 5424 (The Syslog Protocol) · RFC 3164 (BSD Syslog)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58220"/>
                </a:solidFill>
                <a:latin typeface="Calibri"/>
              </a:rPr>
              <a:t>•  </a:t>
            </a:r>
            <a:r>
              <a:rPr sz="1100" b="0">
                <a:solidFill>
                  <a:srgbClr val="222B38"/>
                </a:solidFill>
                <a:latin typeface="Calibri"/>
              </a:rPr>
              <a:t>ArcSight Common Event Format (CEF) · IBM QRadar LEEF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F58220"/>
                </a:solidFill>
                <a:latin typeface="Calibri"/>
              </a:rPr>
              <a:t>•  </a:t>
            </a:r>
            <a:r>
              <a:rPr sz="1100" b="0">
                <a:solidFill>
                  <a:srgbClr val="222B38"/>
                </a:solidFill>
                <a:latin typeface="Calibri"/>
              </a:rPr>
              <a:t>ISO 8601 timestamps · logfmt · NCSA Common/Combined Log Format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1554480"/>
            <a:ext cx="3611880" cy="4059936"/>
          </a:xfrm>
          <a:prstGeom prst="roundRect">
            <a:avLst>
              <a:gd name="adj" fmla="val 8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275320" y="1737360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Calibri"/>
              </a:rPr>
              <a:t>SEE IT LIVE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20" y="2103120"/>
            <a:ext cx="320040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FFFFFF"/>
                </a:solidFill>
                <a:latin typeface="Calibri"/>
              </a:rPr>
              <a:t>Working prototype with ingest console, cache inspector, template tier &amp; quarantine panels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3063240"/>
            <a:ext cx="3200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9FB6D9"/>
                </a:solidFill>
                <a:latin typeface="Calibri"/>
              </a:rPr>
              <a:t>LIVE DEMO</a:t>
            </a:r>
          </a:p>
        </p:txBody>
      </p:sp>
      <p:sp>
        <p:nvSpPr>
          <p:cNvPr id="28" name="TextBox 27">
            <a:hlinkClick r:id="rId2"/>
          </p:cNvPr>
          <p:cNvSpPr txBox="1"/>
          <p:nvPr/>
        </p:nvSpPr>
        <p:spPr>
          <a:xfrm>
            <a:off x="8275320" y="3319272"/>
            <a:ext cx="32004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9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sih2026-w6sr.vercel.app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3886200"/>
            <a:ext cx="3200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9FB6D9"/>
                </a:solidFill>
                <a:latin typeface="Calibri"/>
              </a:rPr>
              <a:t>SOURCE CODE</a:t>
            </a:r>
          </a:p>
        </p:txBody>
      </p:sp>
      <p:sp>
        <p:nvSpPr>
          <p:cNvPr id="30" name="TextBox 29">
            <a:hlinkClick r:id="rId3"/>
          </p:cNvPr>
          <p:cNvSpPr txBox="1"/>
          <p:nvPr/>
        </p:nvSpPr>
        <p:spPr>
          <a:xfrm>
            <a:off x="8275320" y="4142232"/>
            <a:ext cx="32004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9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github.com/agrwl-utkarsh/sih2026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4709160"/>
            <a:ext cx="3200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9FB6D9"/>
                </a:solidFill>
                <a:latin typeface="Calibri"/>
              </a:rPr>
              <a:t>BENCHMARKS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20" y="4965192"/>
            <a:ext cx="32004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9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docs/loghub_benchmark.md</a:t>
            </a:r>
          </a:p>
          <a:p>
            <a:pPr algn="l">
              <a:lnSpc>
                <a:spcPct val="9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docs/accuracy_report.md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46720" y="5742432"/>
            <a:ext cx="3611880" cy="530352"/>
          </a:xfrm>
          <a:prstGeom prst="roundRect">
            <a:avLst>
              <a:gd name="adj" fmla="val 8000"/>
            </a:avLst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046720" y="5742432"/>
            <a:ext cx="3611880" cy="53035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Calibri"/>
              </a:rPr>
              <a:t>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