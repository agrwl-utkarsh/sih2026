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B2A5B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1188720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572768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956816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340864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724912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108960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566160"/>
            <a:ext cx="29260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B2A5B"/>
                </a:solidFill>
                <a:latin typeface="Times New Roman"/>
              </a:rPr>
              <a:t>SIH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3949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05156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8229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Innovation &amp; Uniqueness (USPs)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0560"/>
            <a:ext cx="2011680" cy="10972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LLM flexibility,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regex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99.5% of lines never touch the AI engine; 0.28 ms/line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96312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6312" y="4480560"/>
            <a:ext cx="2011680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2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98% fewer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LLM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on a flood of new formats, thanks to quarantine + graduation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26864" y="4480560"/>
            <a:ext cx="2011680" cy="10972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Catches never-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seen formats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95.2% recall on real systems it was never trained 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57416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57416" y="4480560"/>
            <a:ext cx="2011680" cy="10972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Zero-risk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144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shadow mode first; works with no API key (heuristic fallback)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114800"/>
            <a:ext cx="2907792" cy="21488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315968"/>
            <a:ext cx="118872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05872" y="4315968"/>
            <a:ext cx="1417320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SCAN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57784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hlinkClick r:id="rId3"/>
              </a:rPr>
              <a:t>sih2026-w6sr.vercel.app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852160"/>
            <a:ext cx="2697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9D6EA"/>
                </a:solidFill>
                <a:latin typeface="Calibri"/>
              </a:rPr>
              <a:t>Try it with your own log 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1444752"/>
            <a:ext cx="53949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Too many formats: </a:t>
            </a:r>
            <a:r>
              <a:rPr sz="1250" b="0">
                <a:solidFill>
                  <a:srgbClr val="1E2530"/>
                </a:solidFill>
                <a:latin typeface="Calibri"/>
              </a:rPr>
              <a:t>Syslog, JSON, CEF, K8s, Java, free text, all in one stream.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Manual parsers break: </a:t>
            </a:r>
            <a:r>
              <a:rPr sz="1250" b="0">
                <a:solidFill>
                  <a:srgbClr val="1E2530"/>
                </a:solidFill>
                <a:latin typeface="Calibri"/>
              </a:rPr>
              <a:t>every new source needs a hand-written regex.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AI on every line is too costly: </a:t>
            </a:r>
            <a:r>
              <a:rPr sz="1250" b="0">
                <a:solidFill>
                  <a:srgbClr val="1E2530"/>
                </a:solidFill>
                <a:latin typeface="Calibri"/>
              </a:rPr>
              <a:t>slow and expensive at millions of lines/day.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Compliance: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CERT-In requires 180-day, searchable logs of all ICT systems.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444752"/>
            <a:ext cx="58521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Tiered pipeline: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cheapest tier answers first; the LLM is the last resort.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LLM writes one rule per template; reused with zero AI calls.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ML novelty gate: </a:t>
            </a:r>
            <a:r>
              <a:rPr sz="1250" b="0">
                <a:solidFill>
                  <a:srgbClr val="1E2530"/>
                </a:solidFill>
                <a:latin typeface="Calibri"/>
              </a:rPr>
              <a:t>spots never-seen formats and quarantines floods.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One schema: </a:t>
            </a:r>
            <a:r>
              <a:rPr sz="1250" b="0">
                <a:solidFill>
                  <a:srgbClr val="1E2530"/>
                </a:solidFill>
                <a:latin typeface="Calibri"/>
              </a:rPr>
              <a:t>timestamp · source · event_type · severity · message · extra.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Ready to use: </a:t>
            </a:r>
            <a:r>
              <a:rPr sz="1250" b="0">
                <a:solidFill>
                  <a:srgbClr val="1E2530"/>
                </a:solidFill>
                <a:latin typeface="Calibri"/>
              </a:rPr>
              <a:t>REST API, web console and a Bash log collector.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7180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" y="327355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Too many formats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F5FBF"/>
                </a:solidFill>
                <a:latin typeface="Calibri"/>
              </a:rPr>
              <a:t>Rules auto-learned per template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64408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Manual parsers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F58220"/>
                </a:solidFill>
                <a:latin typeface="Calibri"/>
              </a:rPr>
              <a:t>Zero hand-written regex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3056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AI cost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38A36"/>
                </a:solidFill>
                <a:latin typeface="Calibri"/>
              </a:rPr>
              <a:t>99.5% of lines skip the LLM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61704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6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Compliance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6A3FB5"/>
                </a:solidFill>
                <a:latin typeface="Calibri"/>
              </a:rPr>
              <a:t>UTC-normalised, searchable schema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0965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~0.016 ms / line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2768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Core language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572768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REST API backend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572768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Groups similar log lines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31720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ML: spots new formats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295144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5146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Gemini · Groq · Claude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331720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Accuracy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054096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273552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Collects system logs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090672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Live deployment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090672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Stores learned rules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178808"/>
            <a:ext cx="493776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① </a:t>
            </a:r>
            <a:r>
              <a:rPr sz="13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3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② </a:t>
            </a:r>
            <a:r>
              <a:rPr sz="13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3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③ </a:t>
            </a:r>
            <a:r>
              <a:rPr sz="13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3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④ </a:t>
            </a:r>
            <a:r>
              <a:rPr sz="13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3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⑤ </a:t>
            </a:r>
            <a:r>
              <a:rPr sz="13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3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69848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069848"/>
            <a:ext cx="3657600" cy="384048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069848"/>
            <a:ext cx="3657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1545336"/>
            <a:ext cx="3438144" cy="155447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150" b="1">
                <a:solidFill>
                  <a:srgbClr val="0B2A5B"/>
                </a:solidFill>
                <a:latin typeface="Calibri"/>
              </a:rPr>
              <a:t>Proven tech:</a:t>
            </a:r>
            <a:r>
              <a:rPr sz="1150" b="0">
                <a:solidFill>
                  <a:srgbClr val="1E2530"/>
                </a:solidFill>
                <a:latin typeface="Calibri"/>
              </a:rPr>
              <a:t> free, trusted open-source tools.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150" b="1">
                <a:solidFill>
                  <a:srgbClr val="0B2A5B"/>
                </a:solidFill>
                <a:latin typeface="Calibri"/>
              </a:rPr>
              <a:t>Low cost:</a:t>
            </a:r>
            <a:r>
              <a:rPr sz="1150" b="0">
                <a:solidFill>
                  <a:srgbClr val="1E2530"/>
                </a:solidFill>
                <a:latin typeface="Calibri"/>
              </a:rPr>
              <a:t> AI used only for new log formats.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150" b="1">
                <a:solidFill>
                  <a:srgbClr val="0B2A5B"/>
                </a:solidFill>
                <a:latin typeface="Calibri"/>
              </a:rPr>
              <a:t>Easy to adopt:</a:t>
            </a:r>
            <a:r>
              <a:rPr sz="1150" b="0">
                <a:solidFill>
                  <a:srgbClr val="1E2530"/>
                </a:solidFill>
                <a:latin typeface="Calibri"/>
              </a:rPr>
              <a:t> plug in any log source, no parser writing.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150" b="1">
                <a:solidFill>
                  <a:srgbClr val="0B2A5B"/>
                </a:solidFill>
                <a:latin typeface="Calibri"/>
              </a:rPr>
              <a:t>Data available:</a:t>
            </a:r>
            <a:r>
              <a:rPr sz="1150" b="0">
                <a:solidFill>
                  <a:srgbClr val="1E2530"/>
                </a:solidFill>
                <a:latin typeface="Calibri"/>
              </a:rPr>
              <a:t> public log datasets, no private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5592" y="1069848"/>
            <a:ext cx="37033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65592" y="1069848"/>
            <a:ext cx="3703320" cy="384048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069848"/>
            <a:ext cx="37033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483863" cy="155447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150" b="1">
                <a:solidFill>
                  <a:srgbClr val="0B2A5B"/>
                </a:solidFill>
                <a:latin typeface="Calibri"/>
              </a:rPr>
              <a:t>Real need:</a:t>
            </a:r>
            <a:r>
              <a:rPr sz="1150" b="0">
                <a:solidFill>
                  <a:srgbClr val="1E2530"/>
                </a:solidFill>
                <a:latin typeface="Calibri"/>
              </a:rPr>
              <a:t> CERT-In asks for 180 days of logs.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150" b="1">
                <a:solidFill>
                  <a:srgbClr val="0B2A5B"/>
                </a:solidFill>
                <a:latin typeface="Calibri"/>
              </a:rPr>
              <a:t>Stays in India:</a:t>
            </a:r>
            <a:r>
              <a:rPr sz="1150" b="0">
                <a:solidFill>
                  <a:srgbClr val="1E2530"/>
                </a:solidFill>
                <a:latin typeface="Calibri"/>
              </a:rPr>
              <a:t> runs on Indian / on-premise servers.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150" b="1">
                <a:solidFill>
                  <a:srgbClr val="0B2A5B"/>
                </a:solidFill>
                <a:latin typeface="Calibri"/>
              </a:rPr>
              <a:t>Business model:</a:t>
            </a:r>
            <a:r>
              <a:rPr sz="1150" b="0">
                <a:solidFill>
                  <a:srgbClr val="1E2530"/>
                </a:solidFill>
                <a:latin typeface="Calibri"/>
              </a:rPr>
              <a:t> free core + paid govt support.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150" b="1">
                <a:solidFill>
                  <a:srgbClr val="0B2A5B"/>
                </a:solidFill>
                <a:latin typeface="Calibri"/>
              </a:rPr>
              <a:t>Grows easily:</a:t>
            </a:r>
            <a:r>
              <a:rPr sz="1150" b="0">
                <a:solidFill>
                  <a:srgbClr val="1E2530"/>
                </a:solidFill>
                <a:latin typeface="Calibri"/>
              </a:rPr>
              <a:t> more logs ≠ more AI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1069848"/>
            <a:ext cx="3776472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06240" y="1069848"/>
            <a:ext cx="3776472" cy="384048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1069848"/>
            <a:ext cx="3776472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1545336"/>
            <a:ext cx="1627632" cy="347472"/>
          </a:xfrm>
          <a:prstGeom prst="roundRect">
            <a:avLst>
              <a:gd name="adj" fmla="val 2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1545336"/>
            <a:ext cx="162763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1545336"/>
            <a:ext cx="25603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545336"/>
            <a:ext cx="1673352" cy="347472"/>
          </a:xfrm>
          <a:prstGeom prst="roundRect">
            <a:avLst>
              <a:gd name="adj" fmla="val 2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545336"/>
            <a:ext cx="167335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38A36"/>
                </a:solidFill>
                <a:latin typeface="Calibri"/>
              </a:rPr>
              <a:t>Backup AI, then built-in rules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5968" y="1947672"/>
            <a:ext cx="1627632" cy="347472"/>
          </a:xfrm>
          <a:prstGeom prst="roundRect">
            <a:avLst>
              <a:gd name="adj" fmla="val 2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1947672"/>
            <a:ext cx="162763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0392B"/>
                </a:solidFill>
                <a:latin typeface="Calibri"/>
              </a:rPr>
              <a:t>AI cost at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1947672"/>
            <a:ext cx="25603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1947672"/>
            <a:ext cx="1673352" cy="347472"/>
          </a:xfrm>
          <a:prstGeom prst="roundRect">
            <a:avLst>
              <a:gd name="adj" fmla="val 2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9632" y="1947672"/>
            <a:ext cx="167335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38A36"/>
                </a:solidFill>
                <a:latin typeface="Calibri"/>
              </a:rPr>
              <a:t>AI once per format, not per 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5968" y="2350008"/>
            <a:ext cx="1627632" cy="347472"/>
          </a:xfrm>
          <a:prstGeom prst="roundRect">
            <a:avLst>
              <a:gd name="adj" fmla="val 2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2350008"/>
            <a:ext cx="162763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0392B"/>
                </a:solidFill>
                <a:latin typeface="Calibri"/>
              </a:rPr>
              <a:t>Normal log looks 'new'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2350008"/>
            <a:ext cx="25603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2350008"/>
            <a:ext cx="1673352" cy="347472"/>
          </a:xfrm>
          <a:prstGeom prst="roundRect">
            <a:avLst>
              <a:gd name="adj" fmla="val 2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2350008"/>
            <a:ext cx="167335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38A36"/>
                </a:solidFill>
                <a:latin typeface="Calibri"/>
              </a:rPr>
              <a:t>Held for review, never lost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15968" y="2752344"/>
            <a:ext cx="1627632" cy="347472"/>
          </a:xfrm>
          <a:prstGeom prst="roundRect">
            <a:avLst>
              <a:gd name="adj" fmla="val 2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2752344"/>
            <a:ext cx="162763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0392B"/>
                </a:solidFill>
                <a:latin typeface="Calibri"/>
              </a:rPr>
              <a:t>Brand-new systems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752344"/>
            <a:ext cx="25603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2752344"/>
            <a:ext cx="1673352" cy="347472"/>
          </a:xfrm>
          <a:prstGeom prst="roundRect">
            <a:avLst>
              <a:gd name="adj" fmla="val 2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9632" y="2752344"/>
            <a:ext cx="1673352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38A36"/>
                </a:solidFill>
                <a:latin typeface="Calibri"/>
              </a:rPr>
              <a:t>Retrain with one command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115214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B2A5B"/>
                </a:solidFill>
                <a:latin typeface="Calibri"/>
              </a:rPr>
              <a:t>SAME WORKLOAD, THREE APPROACHES:  </a:t>
            </a:r>
            <a:r>
              <a:rPr sz="1300" b="0">
                <a:solidFill>
                  <a:srgbClr val="5B6778"/>
                </a:solidFill>
                <a:latin typeface="Calibri"/>
              </a:rPr>
              <a:t>1 million logs / day in a big organisation (~50 log sources)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365760" y="3675888"/>
          <a:ext cx="6720840" cy="2468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72768"/>
                <a:gridCol w="1572768"/>
                <a:gridCol w="1691640"/>
                <a:gridCol w="188366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Manual era</a:t>
                      </a:r>
                    </a:p>
                  </a:txBody>
                  <a:tcPr marL="45720" marR="45720" marT="9144" marB="9144" anchor="ctr">
                    <a:solidFill>
                      <a:srgbClr val="7F8C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AI on every line</a:t>
                      </a:r>
                    </a:p>
                  </a:txBody>
                  <a:tcPr marL="45720" marR="45720" marT="9144" marB="9144" anchor="ctr"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Our solution</a:t>
                      </a:r>
                    </a:p>
                  </a:txBody>
                  <a:tcPr marL="45720" marR="45720" marT="9144" marB="9144" anchor="ctr">
                    <a:solidFill>
                      <a:srgbClr val="138A3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2A5B"/>
                          </a:solidFill>
                          <a:latin typeface="Calibri"/>
                        </a:rPr>
                        <a:t>Setup before first use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C0392B"/>
                          </a:solidFill>
                          <a:latin typeface="Calibri"/>
                        </a:rPr>
                        <a:t>~2.5 months</a:t>
                      </a:r>
                    </a:p>
                  </a:txBody>
                  <a:tcPr marL="45720" marR="45720" marT="9144" marB="9144" anchor="ctr"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38A3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38A36"/>
                          </a:solidFill>
                          <a:latin typeface="Calibri"/>
                        </a:rPr>
                        <a:t>~1 day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2A5B"/>
                          </a:solidFill>
                          <a:latin typeface="Calibri"/>
                        </a:rPr>
                        <a:t>Time to process 1M logs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B35C00"/>
                          </a:solidFill>
                          <a:latin typeface="Calibri"/>
                        </a:rPr>
                        <a:t>~1 min*</a:t>
                      </a:r>
                    </a:p>
                  </a:txBody>
                  <a:tcPr marL="45720" marR="45720" marT="9144" marB="9144" anchor="ctr">
                    <a:solidFill>
                      <a:srgbClr val="FFF4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C0392B"/>
                          </a:solidFill>
                          <a:latin typeface="Calibri"/>
                        </a:rPr>
                        <a:t>~5.5 hours</a:t>
                      </a:r>
                    </a:p>
                  </a:txBody>
                  <a:tcPr marL="45720" marR="45720" marT="9144" marB="9144" anchor="ctr"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38A36"/>
                          </a:solidFill>
                          <a:latin typeface="Calibri"/>
                        </a:rPr>
                        <a:t>~5 min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2A5B"/>
                          </a:solidFill>
                          <a:latin typeface="Calibri"/>
                        </a:rPr>
                        <a:t>AI calls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38A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Calibri"/>
                        </a:rPr>
                        <a:t>1,000,000 / day</a:t>
                      </a:r>
                    </a:p>
                  </a:txBody>
                  <a:tcPr marL="45720" marR="45720" marT="9144" marB="9144" anchor="ctr"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38A36"/>
                          </a:solidFill>
                          <a:latin typeface="Calibri"/>
                        </a:rPr>
                        <a:t>~2,000 once, then ~50 / day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2A5B"/>
                          </a:solidFill>
                          <a:latin typeface="Calibri"/>
                        </a:rPr>
                        <a:t>Running cost / day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B35C00"/>
                          </a:solidFill>
                          <a:latin typeface="Calibri"/>
                        </a:rPr>
                        <a:t>~₹1,000</a:t>
                      </a:r>
                    </a:p>
                  </a:txBody>
                  <a:tcPr marL="45720" marR="45720" marT="9144" marB="9144" anchor="ctr">
                    <a:solidFill>
                      <a:srgbClr val="FFF4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C0392B"/>
                          </a:solidFill>
                          <a:latin typeface="Calibri"/>
                        </a:rPr>
                        <a:t>~₹29,000</a:t>
                      </a:r>
                    </a:p>
                  </a:txBody>
                  <a:tcPr marL="45720" marR="45720" marT="9144" marB="9144" anchor="ctr"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38A36"/>
                          </a:solidFill>
                          <a:latin typeface="Calibri"/>
                        </a:rPr>
                        <a:t>~₹340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2A5B"/>
                          </a:solidFill>
                          <a:latin typeface="Calibri"/>
                        </a:rPr>
                        <a:t>New log format arrives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Calibri"/>
                        </a:rPr>
                        <a:t>Breaks until fixed</a:t>
                      </a:r>
                    </a:p>
                  </a:txBody>
                  <a:tcPr marL="45720" marR="45720" marT="9144" marB="9144" anchor="ctr"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B35C00"/>
                          </a:solidFill>
                          <a:latin typeface="Calibri"/>
                        </a:rPr>
                        <a:t>Handled, pays per line</a:t>
                      </a:r>
                    </a:p>
                  </a:txBody>
                  <a:tcPr marL="45720" marR="45720" marT="9144" marB="9144" anchor="ctr">
                    <a:solidFill>
                      <a:srgbClr val="FFF4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38A36"/>
                          </a:solidFill>
                          <a:latin typeface="Calibri"/>
                        </a:rPr>
                        <a:t>Learned once, automatically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Chart 42"/>
          <p:cNvGraphicFramePr>
            <a:graphicFrameLocks noGrp="1"/>
          </p:cNvGraphicFramePr>
          <p:nvPr/>
        </p:nvGraphicFramePr>
        <p:xfrm>
          <a:off x="7269480" y="3639312"/>
          <a:ext cx="4599432" cy="25786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4" name="TextBox 43"/>
          <p:cNvSpPr txBox="1"/>
          <p:nvPr/>
        </p:nvSpPr>
        <p:spPr>
          <a:xfrm>
            <a:off x="365760" y="6181344"/>
            <a:ext cx="1150315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778"/>
                </a:solidFill>
                <a:latin typeface="Calibri"/>
              </a:rPr>
              <a:t>* known formats only. Illustrative estimate: ~2,000 log templates · engineer ₹5,000/day · AI at ~$0.30 / $2.50 per 1M input/output tokens, ~400 tokens per log, ₹85/$ · our speed (0.28 ms/log) and AI-call rate measured in our benchmark.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Potential Impact on NTRO &amp; NCIIPC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25880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042415"/>
            <a:ext cx="58338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B6778"/>
                </a:solidFill>
                <a:latin typeface="Calibri"/>
              </a:rPr>
              <a:t>NCIIPC (a unit of NTRO) protects India's Critical Information Infrastructure: power, banking, telecom, transport &amp; government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481328"/>
            <a:ext cx="2788920" cy="16276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1481328"/>
            <a:ext cx="2788920" cy="420624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481328"/>
            <a:ext cx="27889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One view of all sectors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956816"/>
            <a:ext cx="256946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and government security centres arrive in different formats and are turned into one common format.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4408" y="1481328"/>
            <a:ext cx="2788920" cy="16276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64408" y="1481328"/>
            <a:ext cx="2788920" cy="420624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1481328"/>
            <a:ext cx="27889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Faster threat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1956816"/>
            <a:ext cx="256946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 instead of hundreds. Attack traces across sectors line up by 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481328"/>
            <a:ext cx="2788920" cy="16276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3056" y="1481328"/>
            <a:ext cx="2788920" cy="42062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3056" y="1481328"/>
            <a:ext cx="27889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Unusual formats flagged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4" y="1956816"/>
            <a:ext cx="256946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automatically, which may signal a new device, misconfiguration or tampering.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704" y="1481328"/>
            <a:ext cx="2788920" cy="16276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61704" y="1481328"/>
            <a:ext cx="2788920" cy="420624"/>
          </a:xfrm>
          <a:prstGeom prst="roundRect">
            <a:avLst>
              <a:gd name="adj" fmla="val 30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61704" y="1481328"/>
            <a:ext cx="27889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Sovereign &amp; air-gap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1956816"/>
            <a:ext cx="256946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Runs on-premise with no internet, using built-in rules. Logs never leave India. (Self-hosted AI: planned)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273552"/>
            <a:ext cx="60350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Benefits for Government &amp; PSUs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3575304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65760" y="3685032"/>
            <a:ext cx="2907792" cy="1216152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822192"/>
            <a:ext cx="64008" cy="941832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776472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5FBF"/>
                </a:solidFill>
                <a:latin typeface="Calibri"/>
              </a:rPr>
              <a:t>Compliance made easy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142232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>Helps meet the CERT-In rule to keep 180 days of logs.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79" y="3685032"/>
            <a:ext cx="2907792" cy="1216152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83279" y="3822192"/>
            <a:ext cx="64008" cy="94183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0" y="3776472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58220"/>
                </a:solidFill>
                <a:latin typeface="Calibri"/>
              </a:rPr>
              <a:t>Lower cost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142232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>No costly paid tools and no manual parser writing.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5010912"/>
            <a:ext cx="2907792" cy="1216152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5148072"/>
            <a:ext cx="64008" cy="941832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102352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38A36"/>
                </a:solidFill>
                <a:latin typeface="Calibri"/>
              </a:rPr>
              <a:t>Easy sharing with NCIIPC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468112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>Every log is shared in one standard format.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79" y="5010912"/>
            <a:ext cx="2907792" cy="1216152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79" y="5148072"/>
            <a:ext cx="64008" cy="941832"/>
          </a:xfrm>
          <a:prstGeom prst="rect">
            <a:avLst/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66160" y="5102352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8C8C"/>
                </a:solidFill>
                <a:latin typeface="Calibri"/>
              </a:rPr>
              <a:t>Self-reliant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66160" y="5468112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>Indian, open-source and vendor-neutral (Atmanirbhar Bharat).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3273552"/>
            <a:ext cx="523951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Comparison with Existing Approaches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65976" y="3575304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6629400" y="3685032"/>
          <a:ext cx="5239512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64792"/>
                <a:gridCol w="694944"/>
                <a:gridCol w="694944"/>
                <a:gridCol w="694944"/>
                <a:gridCol w="694944"/>
                <a:gridCol w="69494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45720" marR="45720" marT="9144" marB="9144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Manual regex</a:t>
                      </a:r>
                    </a:p>
                  </a:txBody>
                  <a:tcPr marL="45720" marR="45720" marT="9144" marB="9144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Log shippers</a:t>
                      </a:r>
                    </a:p>
                  </a:txBody>
                  <a:tcPr marL="45720" marR="45720" marT="9144" marB="9144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Paid SIEM</a:t>
                      </a:r>
                    </a:p>
                  </a:txBody>
                  <a:tcPr marL="45720" marR="45720" marT="9144" marB="9144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AI per line</a:t>
                      </a:r>
                    </a:p>
                  </a:txBody>
                  <a:tcPr marL="45720" marR="45720" marT="9144" marB="9144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45720" marR="45720" marT="9144" marB="9144" anchor="ctr">
                    <a:solidFill>
                      <a:srgbClr val="138A36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Handles new formats automatically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Fast (under 1 ms per line)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Flags unknown formats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Low running cost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Runs on-premise in India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6629400" y="6309360"/>
            <a:ext cx="523951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✔ yes   ◐ partly   ✖ 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08760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Drain: online log parsing </a:t>
            </a:r>
            <a:r>
              <a:rPr sz="1200" b="0">
                <a:solidFill>
                  <a:srgbClr val="1E2530"/>
                </a:solidFill>
                <a:latin typeface="Calibri"/>
              </a:rPr>
              <a:t>(He et al., IEEE ICWS 2017): the grouping method we use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Benchmarks for automated log parsing </a:t>
            </a:r>
            <a:r>
              <a:rPr sz="1200" b="0">
                <a:solidFill>
                  <a:srgbClr val="1E2530"/>
                </a:solidFill>
                <a:latin typeface="Calibri"/>
              </a:rPr>
              <a:t>(Zhu et al., ICSE-SEIP 2019): how we measure accuracy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Loghub: real-world log datasets </a:t>
            </a:r>
            <a:r>
              <a:rPr sz="1200" b="0">
                <a:solidFill>
                  <a:srgbClr val="1E2530"/>
                </a:solidFill>
                <a:latin typeface="Calibri"/>
              </a:rPr>
              <a:t>(Zhu et al., IEEE ISSRE 2023): our test data · </a:t>
            </a:r>
            <a:r>
              <a:rPr sz="1200" b="0">
                <a:solidFill>
                  <a:srgbClr val="1F5FBF"/>
                </a:solidFill>
                <a:latin typeface="Calibri"/>
                <a:hlinkClick r:id="rId2"/>
              </a:rPr>
              <a:t>github.com/logpai/loghub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Scikit-learn </a:t>
            </a:r>
            <a:r>
              <a:rPr sz="1200" b="0">
                <a:solidFill>
                  <a:srgbClr val="1E2530"/>
                </a:solidFill>
                <a:latin typeface="Calibri"/>
              </a:rPr>
              <a:t>(Pedregosa et al., JMLR 2011): our machine-learning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1071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NCIIPC, a unit of NTRO </a:t>
            </a:r>
            <a:r>
              <a:rPr sz="1200" b="0">
                <a:solidFill>
                  <a:srgbClr val="1E2530"/>
                </a:solidFill>
                <a:latin typeface="Calibri"/>
              </a:rPr>
              <a:t>(IT Act 2000, Section 70A): protects Critical Information Infrastructure · </a:t>
            </a:r>
            <a:r>
              <a:rPr sz="1200" b="0">
                <a:solidFill>
                  <a:srgbClr val="1F5FBF"/>
                </a:solidFill>
                <a:latin typeface="Calibri"/>
                <a:hlinkClick r:id="rId9"/>
              </a:rPr>
              <a:t>nciipc.gov.in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NCIIPC guidelines </a:t>
            </a:r>
            <a:r>
              <a:rPr sz="1200" b="0">
                <a:solidFill>
                  <a:srgbClr val="1E2530"/>
                </a:solidFill>
                <a:latin typeface="Calibri"/>
              </a:rPr>
              <a:t>for protecting Critical Information Infrastructure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CERT-In Directions, 28 Apr 2022: </a:t>
            </a:r>
            <a:r>
              <a:rPr sz="1200" b="0">
                <a:solidFill>
                  <a:srgbClr val="1E2530"/>
                </a:solidFill>
                <a:latin typeface="Calibri"/>
              </a:rPr>
              <a:t>keep 180 days of logs · </a:t>
            </a:r>
            <a:r>
              <a:rPr sz="1200" b="0">
                <a:solidFill>
                  <a:srgbClr val="1F5FBF"/>
                </a:solidFill>
                <a:latin typeface="Calibri"/>
                <a:hlinkClick r:id="rId3"/>
              </a:rPr>
              <a:t>cert-in.org.in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Digital Personal Data Protection Act, 2023 </a:t>
            </a:r>
            <a:r>
              <a:rPr sz="1200" b="0">
                <a:solidFill>
                  <a:srgbClr val="1E2530"/>
                </a:solidFill>
                <a:latin typeface="Calibri"/>
              </a:rPr>
              <a:t>(Govt. of India)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12664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138A36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Log standards: </a:t>
            </a:r>
            <a:r>
              <a:rPr sz="1200" b="0">
                <a:solidFill>
                  <a:srgbClr val="1E2530"/>
                </a:solidFill>
                <a:latin typeface="Calibri"/>
              </a:rPr>
              <a:t>Syslog (RFC 5424 / 3164), CEF, ISO 8601 timestamps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38A36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Drain3 library: </a:t>
            </a: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1F5FBF"/>
                </a:solidFill>
                <a:latin typeface="Calibri"/>
                <a:hlinkClick r:id="rId4"/>
              </a:rPr>
              <a:t>github.com/logpai/Drain3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38A36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Existing tools studied: </a:t>
            </a:r>
            <a:r>
              <a:rPr sz="1200" b="0">
                <a:solidFill>
                  <a:srgbClr val="1E2530"/>
                </a:solidFill>
                <a:latin typeface="Calibri"/>
              </a:rPr>
              <a:t>Logstash, Fluentd and paid SIEMs; all need manual setup per log 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105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02952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5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