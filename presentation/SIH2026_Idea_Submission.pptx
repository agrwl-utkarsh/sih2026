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A5B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118872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572768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956816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40864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724912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566160"/>
            <a:ext cx="2926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A5B"/>
                </a:solidFill>
                <a:latin typeface="Times New Roman"/>
              </a:rPr>
              <a:t>SIH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77639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05072"/>
            <a:ext cx="1874519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F5FBF"/>
                </a:solidFill>
                <a:latin typeface="Calibri"/>
              </a:rPr>
              <a:t>99.5%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07408"/>
            <a:ext cx="1783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B6778"/>
                </a:solidFill>
                <a:latin typeface="Calibri"/>
              </a:rPr>
              <a:t>lines parsed with zero AI calls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3977639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4005072"/>
            <a:ext cx="1874519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58220"/>
                </a:solidFill>
                <a:latin typeface="Calibri"/>
              </a:rPr>
              <a:t>0.28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407408"/>
            <a:ext cx="1783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B6778"/>
                </a:solidFill>
                <a:latin typeface="Calibri"/>
              </a:rPr>
              <a:t>per line, end-to-end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3977639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4005072"/>
            <a:ext cx="1874519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38A36"/>
                </a:solidFill>
                <a:latin typeface="Calibri"/>
              </a:rPr>
              <a:t>95.2%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407408"/>
            <a:ext cx="1783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B6778"/>
                </a:solidFill>
                <a:latin typeface="Calibri"/>
              </a:rPr>
              <a:t>never-seen formats caught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3977639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4005072"/>
            <a:ext cx="1874519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B2A5B"/>
                </a:solidFill>
                <a:latin typeface="Calibri"/>
              </a:rPr>
              <a:t>12+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407408"/>
            <a:ext cx="1783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B6778"/>
                </a:solidFill>
                <a:latin typeface="Calibri"/>
              </a:rPr>
              <a:t>log families supported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for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live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44752"/>
            <a:ext cx="5394960" cy="2606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Syslog, JSON, CSV, CEF/LEEF, Kubernetes, Java/Log4j, Nginx, PostgreSQL and free-text prose all arrive in one stream.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Manual parsers don't scale: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every new source needs a hand-written regex/grok rule that breaks silently when the format drifts.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calling an LLM per line is slow and expensive at millions of lines a day.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Compliance pressure: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CERT-In Directions (Apr 2022) require logs of all ICT systems for 180 days, 6-hour incident reporting and synchronised clocks, which needs consistent, searchable logs.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444752"/>
            <a:ext cx="5852160" cy="2606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0" i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Self-learning tiered pipeline: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the cheapest tier that can answer does the work; the LLM is the last resort.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Learn once, reuse forever: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Drain3 mines each line's template; an LLM learns a parsing rule once per template, and later lines reuse it with zero AI calls.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a scikit-learn model tells known formats from never-seen ones, and quarantines unknown floods until they are worth one LLM call.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One common schema: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timestamp (UTC ISO-8601) · source · event_type · severity · message · raw · extra.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 i="0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 i="0">
                <a:solidFill>
                  <a:srgbClr val="1E2530"/>
                </a:solidFill>
                <a:latin typeface="Calibri"/>
              </a:rPr>
              <a:t>REST API, live web console (cache / template / quarantine panels) and a Bash collector for syslog, journald, Docker and kubectl.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FOR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WORKING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Live now · 58 automated tests passing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1444752"/>
          <a:ext cx="4937760" cy="21808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352044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Backend / API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FastAPI, Pydantic v2, Uvicorn (REST)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Template mining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Drain3 (online log-template extraction)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scikit-learn: kNN family classifier + novelty gate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LLM discovery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Gemini 3.x → Groq gpt-oss → Claude (fallback chain)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Data &amp; eval.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Pandas, Loghub benchmark (ICSE'19)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Log collection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Linux / Bash: syslog, journalctl, docker, kubectl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Vercel serverless + Upstash Redis KV (rule store)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HTML / CSS / JS ingest console &amp; inspectors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50"/>
              </a:spcAft>
            </a:pPr>
            <a:r>
              <a:rPr sz="1050" b="1" i="0">
                <a:solidFill>
                  <a:srgbClr val="0B2A5B"/>
                </a:solidFill>
                <a:latin typeface="Calibri"/>
              </a:rPr>
              <a:t>1. Ingest &amp; buffer: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REST batch API or Bash collector streams lines in.</a:t>
            </a:r>
          </a:p>
          <a:p>
            <a:pPr>
              <a:spcAft>
                <a:spcPts val="150"/>
              </a:spcAft>
            </a:pPr>
            <a:r>
              <a:rPr sz="1050" b="1" i="0">
                <a:solidFill>
                  <a:srgbClr val="0B2A5B"/>
                </a:solidFill>
                <a:latin typeface="Calibri"/>
              </a:rPr>
              <a:t>2. Mask &amp; mine: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IPs, IDs, numbers and times are masked; Drain3 groups lines into templates.</a:t>
            </a:r>
          </a:p>
          <a:p>
            <a:pPr>
              <a:spcAft>
                <a:spcPts val="150"/>
              </a:spcAft>
            </a:pPr>
            <a:r>
              <a:rPr sz="1050" b="1" i="0">
                <a:solidFill>
                  <a:srgbClr val="0B2A5B"/>
                </a:solidFill>
                <a:latin typeface="Calibri"/>
              </a:rPr>
              <a:t>3. Classify: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kNN on masked lines picks the format family; a distance threshold flags novelty.</a:t>
            </a:r>
          </a:p>
          <a:p>
            <a:pPr>
              <a:spcAft>
                <a:spcPts val="150"/>
              </a:spcAft>
            </a:pPr>
            <a:r>
              <a:rPr sz="1050" b="1" i="0">
                <a:solidFill>
                  <a:srgbClr val="0B2A5B"/>
                </a:solidFill>
                <a:latin typeface="Calibri"/>
              </a:rPr>
              <a:t>4. Learn once: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the LLM (or heuristics) writes a field rule, stored per fingerprint + template.</a:t>
            </a:r>
          </a:p>
          <a:p>
            <a:pPr>
              <a:spcAft>
                <a:spcPts val="150"/>
              </a:spcAft>
            </a:pPr>
            <a:r>
              <a:rPr sz="1050" b="1" i="0">
                <a:solidFill>
                  <a:srgbClr val="0B2A5B"/>
                </a:solidFill>
                <a:latin typeface="Calibri"/>
              </a:rPr>
              <a:t>5. Normalise: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UTC timestamps, canonical severity, unmapped fields kept in extra.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 status: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built, deployed and benchmarked; live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Feasibility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44752"/>
            <a:ext cx="3703320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38A36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Technical: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already built and live; uses proven open-source tools (FastAPI, Drain3, scikit-learn); 58 automated tests.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38A36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runs on low-cost serverless hosting (~285 MB bundle); LLM spend is limited to new templates, and it runs free with heuristics alone.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38A36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one API endpoint + a Bash collector; no parser writing; shadow mode means zero disruption to existing log flows.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38A36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Data: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public Loghub datasets + a synthetic corpus; no restricted data needed to train or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051560"/>
            <a:ext cx="3886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Challenges  →  Mitigation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1104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24528" y="1463040"/>
          <a:ext cx="3886200" cy="30083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228600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 marL="54864" marR="54864" marT="13716" marB="13716" anchor="ctr"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Our mitigation</a:t>
                      </a:r>
                    </a:p>
                  </a:txBody>
                  <a:tcPr marL="54864" marR="54864" marT="13716" marB="13716" anchor="ctr">
                    <a:solidFill>
                      <a:srgbClr val="C0392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LLM outage / quota / 403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3-provider fallback chain, then heuristics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LLM cost at scale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1 call per template; quarantine + graduation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False 'novel' alarms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calibrated threshold (1.5% on real logs) + quarantine review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Cold start loses rules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rules persisted in Upstash / Vercel KV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Format drift / new systems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one-command retrain; benchmark catches regressions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392B"/>
                          </a:solidFill>
                          <a:latin typeface="Calibri"/>
                        </a:rPr>
                        <a:t>Abuse of public API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optional INGEST_API_KEY header guard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275320" y="1051560"/>
            <a:ext cx="359359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Viability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1189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593592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F5FBF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Market need: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every CERT-In-covered body (govt, PSUs, data centres, service providers) must keep and query logs from all ICT systems.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F5FBF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Policy fit: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Digital India, CERT-In Directions 2022, DPDP Act 2023; self-hostable, so logs stay in India.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F5FBF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Business model: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open-source core; managed SaaS tier; paid SIEM-integration &amp; support for govt / enterprise.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F5FBF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Scalable: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stateless workers; shared rule store; cost grows with new templates, not with volume.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F5FBF"/>
                </a:solidFill>
                <a:latin typeface="Calibri"/>
              </a:rPr>
              <a:t>●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Sustainable: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the benchmark → retrain loop keeps accuracy up as new systems appear.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590288"/>
            <a:ext cx="11503152" cy="173736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2A5B"/>
                </a:solidFill>
                <a:latin typeface="Calibri"/>
              </a:rPr>
              <a:t>PROVEN ON REAL-WORLD LOGS (Loghub benchmark, held-out split)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format-family accuracy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9 real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2304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2304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alibri"/>
              </a:rPr>
              <a:t>97.2%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8024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Drain3 grouping accuracy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vs official templates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never-seen format recall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(Windows, Proxifier, HealthApp)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1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1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38A36"/>
                </a:solidFill>
                <a:latin typeface="Calibri"/>
              </a:rPr>
              <a:t>1.5%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1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false-alarm rate 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known systems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3296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83296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0B2A5B"/>
                </a:solidFill>
                <a:latin typeface="Calibri"/>
              </a:rPr>
              <a:t>0.28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9016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mean latency per line,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end-to-end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66960" y="5010912"/>
            <a:ext cx="1755648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5047488"/>
            <a:ext cx="17556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6A3FB5"/>
                </a:solidFill>
                <a:latin typeface="Calibri"/>
              </a:rPr>
              <a:t>98%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5522976"/>
            <a:ext cx="1664208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fewer LLM calls on 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new-format flood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Potential Impact on Target Audience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463040"/>
            <a:ext cx="276148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63040"/>
            <a:ext cx="73152" cy="118872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1499616"/>
            <a:ext cx="2560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5FBF"/>
                </a:solidFill>
                <a:latin typeface="Calibri"/>
              </a:rPr>
              <a:t>SOC &amp; CERT Analysts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810512"/>
            <a:ext cx="25603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E2530"/>
                </a:solidFill>
                <a:latin typeface="Calibri"/>
              </a:rPr>
              <a:t>Uniform, SIEM-ready events (CEF/LEEF parsed) means faster correlation and meeting the 6-hour reporting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55264" y="1463040"/>
            <a:ext cx="276148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5264" y="1463040"/>
            <a:ext cx="73152" cy="1188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499616"/>
            <a:ext cx="2560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Govt &amp; PSU IT / 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1810512"/>
            <a:ext cx="25603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E2530"/>
                </a:solidFill>
                <a:latin typeface="Calibri"/>
              </a:rPr>
              <a:t>Onboard legacy + cloud systems with no custom parsers; 180-day retention made searchable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463040"/>
            <a:ext cx="276148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463040"/>
            <a:ext cx="73152" cy="118872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499616"/>
            <a:ext cx="2560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38A36"/>
                </a:solidFill>
                <a:latin typeface="Calibri"/>
              </a:rPr>
              <a:t>DevOps / SRE Teams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10512"/>
            <a:ext cx="25603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E2530"/>
                </a:solidFill>
                <a:latin typeface="Calibri"/>
              </a:rPr>
              <a:t>One schema across containers, VMs and apps; UTC timestamps give faster triage and lower MTTR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463040"/>
            <a:ext cx="276148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4272" y="1463040"/>
            <a:ext cx="73152" cy="118872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864" y="1499616"/>
            <a:ext cx="2560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A3FB5"/>
                </a:solidFill>
                <a:latin typeface="Calibri"/>
              </a:rPr>
              <a:t>AI / Analytics Teams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4" y="1810512"/>
            <a:ext cx="25603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E2530"/>
                </a:solidFill>
                <a:latin typeface="Calibri"/>
              </a:rPr>
              <a:t>Clean, structured, labelled data ready for anomaly detection and forecasting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788920"/>
            <a:ext cx="60350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309067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5760" y="3200400"/>
            <a:ext cx="2926080" cy="1481328"/>
          </a:xfrm>
          <a:prstGeom prst="roundRect">
            <a:avLst>
              <a:gd name="adj" fmla="val 7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24612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3538728"/>
            <a:ext cx="2743200" cy="11430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"/>
              </a:spcAft>
            </a:pPr>
            <a:r>
              <a:rPr sz="950" b="0" i="0">
                <a:solidFill>
                  <a:srgbClr val="1F5FB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Stronger cyber-resilience of public digital services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1F5FB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Faster breach detection protects citizens' data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1F5FB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Open &amp; reusable by MSMEs, startups, colleges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10712" y="3200400"/>
            <a:ext cx="2926080" cy="1481328"/>
          </a:xfrm>
          <a:prstGeom prst="roundRect">
            <a:avLst>
              <a:gd name="adj" fmla="val 7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324612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58220"/>
                </a:solidFill>
                <a:latin typeface="Calibri"/>
              </a:rPr>
              <a:t>Economic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538728"/>
            <a:ext cx="2743200" cy="11430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"/>
              </a:spcAft>
            </a:pPr>
            <a:r>
              <a:rPr sz="950" b="0" i="0">
                <a:solidFill>
                  <a:srgbClr val="F58220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No engineer-hours on writing/maintaining parsers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F58220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AI cost only for new templates (99.5% free)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F58220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Replaces costly proprietary parser add-ons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782312"/>
            <a:ext cx="2926080" cy="1481328"/>
          </a:xfrm>
          <a:prstGeom prst="roundRect">
            <a:avLst>
              <a:gd name="adj" fmla="val 7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482803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8A36"/>
                </a:solidFill>
                <a:latin typeface="Calibri"/>
              </a:rPr>
              <a:t>Technological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5120640"/>
            <a:ext cx="2743200" cy="11430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"/>
              </a:spcAft>
            </a:pPr>
            <a:r>
              <a:rPr sz="950" b="0" i="0">
                <a:solidFill>
                  <a:srgbClr val="138A36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Brings ML + LLM into log pipelines safely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138A36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Self-improving: every new format is learned once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138A36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Standard schema enables downstream 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10712" y="4782312"/>
            <a:ext cx="2926080" cy="1481328"/>
          </a:xfrm>
          <a:prstGeom prst="roundRect">
            <a:avLst>
              <a:gd name="adj" fmla="val 7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482803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E8C8C"/>
                </a:solidFill>
                <a:latin typeface="Calibri"/>
              </a:rPr>
              <a:t>Environmental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5120640"/>
            <a:ext cx="2743200" cy="11430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"/>
              </a:spcAft>
            </a:pPr>
            <a:r>
              <a:rPr sz="950" b="0" i="0">
                <a:solidFill>
                  <a:srgbClr val="0E8C8C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Sub-ms regex path, not GPU inference per line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0E8C8C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Far less compute &amp; energy than LLM-per-line</a:t>
            </a:r>
          </a:p>
          <a:p>
            <a:pPr>
              <a:spcAft>
                <a:spcPts val="100"/>
              </a:spcAft>
            </a:pPr>
            <a:r>
              <a:rPr sz="950" b="0" i="0">
                <a:solidFill>
                  <a:srgbClr val="0E8C8C"/>
                </a:solidFill>
                <a:latin typeface="Calibri"/>
              </a:rPr>
              <a:t>•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Serverless: resources only while working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2788920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Comparison with Existing Approaches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65976" y="309067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629400" y="3200400"/>
          <a:ext cx="5239512" cy="27066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10512"/>
                <a:gridCol w="685800"/>
                <a:gridCol w="685800"/>
                <a:gridCol w="685800"/>
                <a:gridCol w="685800"/>
                <a:gridCol w="6858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Regex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Plugins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SIEM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LLM/line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New format, no parser to write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Sub-millisecond per line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Detects never-seen formats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Low running cost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Open source / self-hosted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Common schema out of box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Learns &amp; improves over time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6629400" y="5961888"/>
            <a:ext cx="5239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Regex = hand-written grok · Plugins = Fluentd-style parsers · SIEM = commercial   |   ✔ yes  ◐ partial  ✖ 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6949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Research Papers &amp; Datasets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44752"/>
            <a:ext cx="6949440" cy="21945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P. He et al.,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"Drain: An Online Log Parsing Approach with Fixed Depth Tree", IEEE ICWS 2017, the algorithm behind our Tier 2a.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J. Zhu et al.,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"Tools and Benchmarks for Automated Log Parsing", ICSE-SEIP 2019, the source of our Grouping-Accuracy metric.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J. Zhu et al.,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"Loghub: A Large Collection of System Log Datasets for AI-driven Log Analytics", IEEE ISSRE 2023: </a:t>
            </a:r>
            <a:r>
              <a:rPr sz="1200" b="0" i="0">
                <a:solidFill>
                  <a:srgbClr val="1F5FBF"/>
                </a:solidFill>
                <a:latin typeface="Calibri"/>
                <a:hlinkClick r:id="rId2"/>
              </a:rPr>
              <a:t>github.com/logpai/loghub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F. Pedregosa et al.,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"Scikit-learn: Machine Learning in Python", JMLR 12, 2011.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6949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Policy, Standards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6850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776472"/>
            <a:ext cx="6949440" cy="256032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CERT-In Directions No. 20(3)/2022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(28 Apr 2022), 180-day ICT log retention, 6-hour reporting: </a:t>
            </a:r>
            <a:r>
              <a:rPr sz="1200" b="0" i="0">
                <a:solidFill>
                  <a:srgbClr val="1F5FBF"/>
                </a:solidFill>
                <a:latin typeface="Calibri"/>
                <a:hlinkClick r:id="rId3"/>
              </a:rPr>
              <a:t>cert-in.org.in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Digital Personal Data Protection Act, 2023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(Govt. of India)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RFC 5424 / RFC 3164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Syslog ·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ArcSight CEF · IBM LEEF · ISO 8601 · NCSA log format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Drain3: </a:t>
            </a:r>
            <a:r>
              <a:rPr sz="1200" b="0" i="0">
                <a:solidFill>
                  <a:srgbClr val="1F5FBF"/>
                </a:solidFill>
                <a:latin typeface="Calibri"/>
                <a:hlinkClick r:id="rId4"/>
              </a:rPr>
              <a:t>github.com/logpai/Drain3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  ·  FastAPI: fastapi.tiangolo.com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B2A5B"/>
                </a:solidFill>
                <a:latin typeface="Calibri"/>
              </a:rPr>
              <a:t>Existing tools studied: </a:t>
            </a:r>
            <a:r>
              <a:rPr sz="1200" b="0" i="0">
                <a:solidFill>
                  <a:srgbClr val="1E2530"/>
                </a:solidFill>
                <a:latin typeface="Calibri"/>
              </a:rPr>
              <a:t>Logstash grok, Fluentd parsers, commercial SIEMs. All need per-source parser setup.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051560"/>
            <a:ext cx="42062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Our Evidence (in repo)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71815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635240" y="1463040"/>
          <a:ext cx="4233672" cy="18105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960120"/>
                <a:gridCol w="1444752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 marL="54864" marR="54864" marT="13716" marB="13716" anchor="ctr">
                    <a:solidFill>
                      <a:srgbClr val="0B2A5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Family classification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9/9 systems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Drain3 grouping acc.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97.2%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12 systems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Novel-format recall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3 unseen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known sys.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B2A5B"/>
                          </a:solidFill>
                          <a:latin typeface="Calibri"/>
                        </a:rPr>
                        <a:t>Lines w/o LLM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530"/>
                          </a:solidFill>
                          <a:latin typeface="Calibri"/>
                        </a:rPr>
                        <a:t>3k lines</a:t>
                      </a:r>
                    </a:p>
                  </a:txBody>
                  <a:tcPr marL="54864" marR="54864" marT="13716" marB="13716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35240" y="3337560"/>
            <a:ext cx="4233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docs/loghub_benchmark.md · docs/accuracy_report.md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703320"/>
            <a:ext cx="4233672" cy="2633472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_17299448847792869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3931920"/>
            <a:ext cx="1325880" cy="1325880"/>
          </a:xfrm>
          <a:prstGeom prst="rect">
            <a:avLst/>
          </a:prstGeom>
        </p:spPr>
      </p:pic>
      <p:pic>
        <p:nvPicPr>
          <p:cNvPr id="22" name="Picture 21" descr="qr_854203017045466829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3931920"/>
            <a:ext cx="1325880" cy="1325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26679" y="5303520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8220"/>
                </a:solidFill>
                <a:latin typeface="Calibri"/>
              </a:rPr>
              <a:t>LIVE 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303520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5559552"/>
            <a:ext cx="1920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5559552"/>
            <a:ext cx="1920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5943600"/>
            <a:ext cx="423367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