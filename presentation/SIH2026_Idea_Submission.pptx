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0B2A5B"/>
                </a:solidFill>
              </a:rPr>
              <a:t>12-month total cost (₹ lakh,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Manual era</c:v>
                </c:pt>
              </c:strCache>
            </c:strRef>
          </c:tx>
          <c:spPr>
            <a:ln w="31750">
              <a:solidFill>
                <a:srgbClr val="7F8C8D"/>
              </a:solidFill>
            </a:ln>
          </c:spPr>
          <c:marker>
            <c:size val="4"/>
            <c:spPr>
              <a:solidFill>
                <a:srgbClr val="7F8C8D"/>
              </a:solidFill>
              <a:ln>
                <a:solidFill>
                  <a:srgbClr val="7F8C8D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7F8C8D"/>
                        </a:solidFill>
                      </a:rPr>
                      <a:t>₹6.1 L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2.8</c:v>
                </c:pt>
                <c:pt idx="1">
                  <c:v>3.1</c:v>
                </c:pt>
                <c:pt idx="2">
                  <c:v>3.4</c:v>
                </c:pt>
                <c:pt idx="3">
                  <c:v>3.7</c:v>
                </c:pt>
                <c:pt idx="4">
                  <c:v>4.0</c:v>
                </c:pt>
                <c:pt idx="5">
                  <c:v>4.3</c:v>
                </c:pt>
                <c:pt idx="6">
                  <c:v>4.6</c:v>
                </c:pt>
                <c:pt idx="7">
                  <c:v>4.9</c:v>
                </c:pt>
                <c:pt idx="8">
                  <c:v>5.2</c:v>
                </c:pt>
                <c:pt idx="9">
                  <c:v>5.5</c:v>
                </c:pt>
                <c:pt idx="10">
                  <c:v>5.8</c:v>
                </c:pt>
                <c:pt idx="11">
                  <c:v>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 on every line</c:v>
                </c:pt>
              </c:strCache>
            </c:strRef>
          </c:tx>
          <c:spPr>
            <a:ln w="31750">
              <a:solidFill>
                <a:srgbClr val="C0392B"/>
              </a:solidFill>
            </a:ln>
          </c:spPr>
          <c:marker>
            <c:size val="4"/>
            <c:spPr>
              <a:solidFill>
                <a:srgbClr val="C0392B"/>
              </a:solidFill>
              <a:ln>
                <a:solidFill>
                  <a:srgbClr val="C0392B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C0392B"/>
                        </a:solidFill>
                      </a:rPr>
                      <a:t>₹1.04 Cr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8.67</c:v>
                </c:pt>
                <c:pt idx="1">
                  <c:v>17.34</c:v>
                </c:pt>
                <c:pt idx="2">
                  <c:v>26.01</c:v>
                </c:pt>
                <c:pt idx="3">
                  <c:v>34.68</c:v>
                </c:pt>
                <c:pt idx="4">
                  <c:v>43.35</c:v>
                </c:pt>
                <c:pt idx="5">
                  <c:v>52.02</c:v>
                </c:pt>
                <c:pt idx="6">
                  <c:v>60.69</c:v>
                </c:pt>
                <c:pt idx="7">
                  <c:v>69.36</c:v>
                </c:pt>
                <c:pt idx="8">
                  <c:v>78.03</c:v>
                </c:pt>
                <c:pt idx="9">
                  <c:v>86.7</c:v>
                </c:pt>
                <c:pt idx="10">
                  <c:v>95.37</c:v>
                </c:pt>
                <c:pt idx="11">
                  <c:v>104.04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Our solution</c:v>
                </c:pt>
              </c:strCache>
            </c:strRef>
          </c:tx>
          <c:spPr>
            <a:ln w="31750">
              <a:solidFill>
                <a:srgbClr val="138A36"/>
              </a:solidFill>
            </a:ln>
          </c:spPr>
          <c:marker>
            <c:size val="4"/>
            <c:spPr>
              <a:solidFill>
                <a:srgbClr val="138A36"/>
              </a:solidFill>
              <a:ln>
                <a:solidFill>
                  <a:srgbClr val="138A36"/>
                </a:solidFill>
              </a:ln>
            </c:spPr>
          </c:marker>
          <c:dLbls>
            <c:dLbl>
              <c:idx val="11"/>
              <c:tx>
                <c:rich>
                  <a:bodyPr/>
                  <a:lstStyle/>
                  <a:p>
                    <a:r>
                      <a:rPr sz="1000" b="1">
                        <a:solidFill>
                          <a:srgbClr val="138A36"/>
                        </a:solidFill>
                      </a:rPr>
                      <a:t>₹1.3 L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M1</c:v>
                </c:pt>
                <c:pt idx="1">
                  <c:v>M2</c:v>
                </c:pt>
                <c:pt idx="2">
                  <c:v>M3</c:v>
                </c:pt>
                <c:pt idx="3">
                  <c:v>M4</c:v>
                </c:pt>
                <c:pt idx="4">
                  <c:v>M5</c:v>
                </c:pt>
                <c:pt idx="5">
                  <c:v>M6</c:v>
                </c:pt>
                <c:pt idx="6">
                  <c:v>M7</c:v>
                </c:pt>
                <c:pt idx="7">
                  <c:v>M8</c:v>
                </c:pt>
                <c:pt idx="8">
                  <c:v>M9</c:v>
                </c:pt>
                <c:pt idx="9">
                  <c:v>M10</c:v>
                </c:pt>
                <c:pt idx="10">
                  <c:v>M11</c:v>
                </c:pt>
                <c:pt idx="11">
                  <c:v>M12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0.151</c:v>
                </c:pt>
                <c:pt idx="1">
                  <c:v>0.253</c:v>
                </c:pt>
                <c:pt idx="2">
                  <c:v>0.354</c:v>
                </c:pt>
                <c:pt idx="3">
                  <c:v>0.456</c:v>
                </c:pt>
                <c:pt idx="4">
                  <c:v>0.557</c:v>
                </c:pt>
                <c:pt idx="5">
                  <c:v>0.658</c:v>
                </c:pt>
                <c:pt idx="6">
                  <c:v>0.76</c:v>
                </c:pt>
                <c:pt idx="7">
                  <c:v>0.861</c:v>
                </c:pt>
                <c:pt idx="8">
                  <c:v>0.963</c:v>
                </c:pt>
                <c:pt idx="9">
                  <c:v>1.064</c:v>
                </c:pt>
                <c:pt idx="10">
                  <c:v>1.165</c:v>
                </c:pt>
                <c:pt idx="11">
                  <c:v>1.267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6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50"/>
          </a:pPr>
        </a:p>
      </c:txPr>
    </c:legend>
    <c:plotVisOnly val="1"/>
    <c:dispBlanksAs val="gap"/>
    <c:showDLblsOverMax val="0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7F8C8D"/>
                        </a:solidFill>
                      </a:rPr>
                      <a:t>5× faster*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C0392B"/>
                        </a:solidFill>
                      </a:rPr>
                      <a:t>70× slower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100" b="1">
                        <a:solidFill>
                          <a:srgbClr val="138A36"/>
                        </a:solidFill>
                      </a:rPr>
                      <a:t>1×  ~5 min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0.2</c:v>
                </c:pt>
                <c:pt idx="1">
                  <c:v>70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AI</c:v>
                </c:pt>
                <c:pt idx="1">
                  <c:v>No AI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7F8C8D"/>
              </a:solidFill>
            </c:spPr>
          </c:dPt>
          <c:dPt>
            <c:idx val="1"/>
            <c:spPr>
              <a:solidFill>
                <a:srgbClr val="C0392B"/>
              </a:solidFill>
            </c:spPr>
          </c:dPt>
          <c:dPt>
            <c:idx val="2"/>
            <c:spPr>
              <a:solidFill>
                <a:srgbClr val="138A36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7F8C8D"/>
                        </a:solidFill>
                      </a:rPr>
                      <a:t>5×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C0392B"/>
                        </a:solidFill>
                      </a:rPr>
                      <a:t>80× costlier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1200" b="1">
                        <a:solidFill>
                          <a:srgbClr val="138A36"/>
                        </a:solidFill>
                      </a:rPr>
                      <a:t>1×  lowest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Manual era</c:v>
                </c:pt>
                <c:pt idx="1">
                  <c:v>AI on every line</c:v>
                </c:pt>
                <c:pt idx="2">
                  <c:v>Our solution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80</c:v>
                </c:pt>
                <c:pt idx="2">
                  <c:v>1</c:v>
                </c:pt>
              </c:numCache>
            </c:numRef>
          </c:val>
        </c:ser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3DBE8"/>
            </a:solidFill>
          </a:ln>
        </c:spPr>
        <c:txPr>
          <a:bodyPr/>
          <a:lstStyle/>
          <a:p>
            <a:pPr>
              <a:defRPr b="1">
                <a:solidFill>
                  <a:srgbClr val="0B2A5B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8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C0392B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FDECEA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</c:v>
                </c:pt>
                <c:pt idx="1">
                  <c:v>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x</c:v>
                </c:pt>
              </c:strCache>
            </c:strRef>
          </c:tx>
          <c:dPt>
            <c:idx val="0"/>
            <c:spPr>
              <a:solidFill>
                <a:srgbClr val="F58220"/>
              </a:solidFill>
              <a:ln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E8F5EC"/>
              </a:solidFill>
              <a:ln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0</c:v>
                </c:pt>
                <c:pt idx="1">
                  <c:v>1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</c:v>
                </c:pt>
                <c:pt idx="1">
                  <c:v>99.5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sih2026-w6sr.vercel.app" TargetMode="External"/><Relationship Id="rId4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ih2026-w6sr.vercel.app" TargetMode="Externa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Relationship Id="rId6" Type="http://schemas.openxmlformats.org/officeDocument/2006/relationships/chart" Target="../charts/chart6.xml"/><Relationship Id="rId7" Type="http://schemas.openxmlformats.org/officeDocument/2006/relationships/chart" Target="../charts/chart7.xml"/><Relationship Id="rId8" Type="http://schemas.openxmlformats.org/officeDocument/2006/relationships/chart" Target="../charts/chart8.xml"/><Relationship Id="rId9" Type="http://schemas.openxmlformats.org/officeDocument/2006/relationships/chart" Target="../charts/chart9.xml"/><Relationship Id="rId10" Type="http://schemas.openxmlformats.org/officeDocument/2006/relationships/chart" Target="../charts/chart10.xml"/><Relationship Id="rId11" Type="http://schemas.openxmlformats.org/officeDocument/2006/relationships/image" Target="../media/image13.png"/><Relationship Id="rId12" Type="http://schemas.openxmlformats.org/officeDocument/2006/relationships/chart" Target="../charts/chart11.xml"/><Relationship Id="rId13" Type="http://schemas.openxmlformats.org/officeDocument/2006/relationships/chart" Target="../charts/chart12.xml"/><Relationship Id="rId14" Type="http://schemas.openxmlformats.org/officeDocument/2006/relationships/chart" Target="../charts/chart13.xml"/><Relationship Id="rId15" Type="http://schemas.openxmlformats.org/officeDocument/2006/relationships/chart" Target="../charts/chart14.xml"/><Relationship Id="rId16" Type="http://schemas.openxmlformats.org/officeDocument/2006/relationships/chart" Target="../charts/chart15.xml"/><Relationship Id="rId17" Type="http://schemas.openxmlformats.org/officeDocument/2006/relationships/chart" Target="../charts/char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logpai/loghub" TargetMode="External"/><Relationship Id="rId3" Type="http://schemas.openxmlformats.org/officeDocument/2006/relationships/hyperlink" Target="https://www.cert-in.org.in/PDF/CERT-In_Directions_70B_28.04.2022.pdf" TargetMode="External"/><Relationship Id="rId4" Type="http://schemas.openxmlformats.org/officeDocument/2006/relationships/hyperlink" Target="https://github.com/logpai/Drain3" TargetMode="External"/><Relationship Id="rId5" Type="http://schemas.openxmlformats.org/officeDocument/2006/relationships/image" Target="../media/image1.png"/><Relationship Id="rId6" Type="http://schemas.openxmlformats.org/officeDocument/2006/relationships/image" Target="../media/image2.png"/><Relationship Id="rId7" Type="http://schemas.openxmlformats.org/officeDocument/2006/relationships/hyperlink" Target="https://sih2026-w6sr.vercel.app" TargetMode="External"/><Relationship Id="rId8" Type="http://schemas.openxmlformats.org/officeDocument/2006/relationships/hyperlink" Target="https://github.com/agrwl-utkarsh/sih2026" TargetMode="External"/><Relationship Id="rId9" Type="http://schemas.openxmlformats.org/officeDocument/2006/relationships/hyperlink" Target="https://nciipc.gov.in" TargetMode="External"/><Relationship Id="rId10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4" name="Hexagon 33"/>
          <p:cNvSpPr/>
          <p:nvPr/>
        </p:nvSpPr>
        <p:spPr>
          <a:xfrm>
            <a:off x="7863840" y="3611880"/>
            <a:ext cx="777240" cy="82296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exagon 32"/>
          <p:cNvSpPr/>
          <p:nvPr/>
        </p:nvSpPr>
        <p:spPr>
          <a:xfrm>
            <a:off x="8412480" y="1280160"/>
            <a:ext cx="3520440" cy="3611880"/>
          </a:xfrm>
          <a:prstGeom prst="hexagon">
            <a:avLst/>
          </a:prstGeom>
          <a:solidFill>
            <a:srgbClr val="EDED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exagon 31"/>
          <p:cNvSpPr/>
          <p:nvPr/>
        </p:nvSpPr>
        <p:spPr>
          <a:xfrm>
            <a:off x="8001000" y="960120"/>
            <a:ext cx="1097280" cy="1005840"/>
          </a:xfrm>
          <a:prstGeom prst="hexagon">
            <a:avLst/>
          </a:prstGeom>
          <a:noFill/>
          <a:ln w="63500">
            <a:solidFill>
              <a:srgbClr val="E3E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640080" y="502920"/>
            <a:ext cx="8229600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1F4E79"/>
                </a:solidFill>
                <a:latin typeface="Times New Roman"/>
              </a:rPr>
              <a:t>SMART INDIA HACKATHON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34440"/>
            <a:ext cx="2011680" cy="5486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600200"/>
            <a:ext cx="7498079" cy="3108960"/>
          </a:xfrm>
          <a:prstGeom prst="rect">
            <a:avLst/>
          </a:prstGeom>
          <a:noFill/>
        </p:spPr>
        <p:txBody>
          <a:bodyPr wrap="square" lIns="36576" rIns="36576" tIns="18288">
            <a:spAutoFit/>
          </a:bodyPr>
          <a:lstStyle/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Problem Statement Title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[Problem Statement Title]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Theme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[Theme]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PS Category – </a:t>
            </a:r>
            <a:r>
              <a:rPr sz="2000" b="0" i="0">
                <a:solidFill>
                  <a:srgbClr val="1E2530"/>
                </a:solidFill>
                <a:latin typeface="Calibri"/>
              </a:rPr>
              <a:t>Software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ID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ID]</a:t>
            </a:r>
          </a:p>
          <a:p>
            <a:pPr>
              <a:spcAft>
                <a:spcPts val="1000"/>
              </a:spcAft>
            </a:pPr>
            <a:r>
              <a:rPr sz="1900" b="0" i="0">
                <a:solidFill>
                  <a:srgbClr val="0B2A5B"/>
                </a:solidFill>
                <a:latin typeface="Calibri"/>
              </a:rPr>
              <a:t>• </a:t>
            </a:r>
            <a:r>
              <a:rPr sz="2000" b="1" i="0">
                <a:solidFill>
                  <a:srgbClr val="0B2A5B"/>
                </a:solidFill>
                <a:latin typeface="Calibri"/>
              </a:rPr>
              <a:t>Team Name (Registered on portal) – </a:t>
            </a:r>
            <a:r>
              <a:rPr sz="2000" b="0" i="0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5074920"/>
            <a:ext cx="12191695" cy="12344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138928"/>
            <a:ext cx="868680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F58220"/>
                </a:solidFill>
                <a:latin typeface="Calibri"/>
              </a:rPr>
              <a:t>IDEA TITLE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13248"/>
            <a:ext cx="89611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Times New Roman"/>
              </a:rPr>
              <a:t>Universal Log Pre-processing Pipeline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97880"/>
            <a:ext cx="89611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D6EA"/>
                </a:solidFill>
                <a:latin typeface="Calibri"/>
              </a:rPr>
              <a:t>Any log format in, one clean common schema out: learned once by AI, then parsed at regex speed</a:t>
            </a:r>
          </a:p>
        </p:txBody>
      </p:sp>
      <p:pic>
        <p:nvPicPr>
          <p:cNvPr id="28" name="Picture 27" descr="qr_172994488477928699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5184648"/>
            <a:ext cx="1005840" cy="10058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9418320" y="5303520"/>
            <a:ext cx="109728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Scan to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view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prototype</a:t>
            </a:r>
          </a:p>
        </p:txBody>
      </p:sp>
      <p:pic>
        <p:nvPicPr>
          <p:cNvPr id="30" name="Picture 29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pic>
        <p:nvPicPr>
          <p:cNvPr id="35" name="Picture 34" descr="sih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1417320"/>
            <a:ext cx="2747243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4" name="Rectangle 53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IDEA / PROPOSED SOLUTION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51" name="Oval 50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2" name="Picture 51" descr="sih_icon_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1024128"/>
            <a:ext cx="11503152" cy="786384"/>
          </a:xfrm>
          <a:prstGeom prst="roundRect">
            <a:avLst>
              <a:gd name="adj" fmla="val 12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502920" y="1161288"/>
            <a:ext cx="1417320" cy="512064"/>
          </a:xfrm>
          <a:prstGeom prst="roundRect">
            <a:avLst>
              <a:gd name="adj" fmla="val 30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1161288"/>
            <a:ext cx="14173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THE IDEA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57400" y="1042416"/>
            <a:ext cx="9692640" cy="74980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Calibri"/>
              </a:rPr>
              <a:t>Turn messy logs in hundreds of formats into </a:t>
            </a:r>
            <a:r>
              <a:rPr sz="1600" b="1">
                <a:solidFill>
                  <a:srgbClr val="FFC98A"/>
                </a:solidFill>
                <a:latin typeface="Calibri"/>
              </a:rPr>
              <a:t>one clean, common format</a:t>
            </a:r>
            <a:r>
              <a:rPr sz="1600" b="0">
                <a:solidFill>
                  <a:srgbClr val="FFFFFF"/>
                </a:solidFill>
                <a:latin typeface="Calibri"/>
              </a:rPr>
              <a:t>. AI learns each new format </a:t>
            </a:r>
            <a:r>
              <a:rPr sz="1600" b="1">
                <a:solidFill>
                  <a:srgbClr val="FFC98A"/>
                </a:solidFill>
                <a:latin typeface="Calibri"/>
              </a:rPr>
              <a:t>only once</a:t>
            </a:r>
            <a:r>
              <a:rPr sz="1600" b="0">
                <a:solidFill>
                  <a:srgbClr val="FFFFFF"/>
                </a:solidFill>
                <a:latin typeface="Calibri"/>
              </a:rPr>
              <a:t>; after that, fast saved rules do the work.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920240"/>
            <a:ext cx="11503152" cy="315468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920240"/>
            <a:ext cx="11503152" cy="384048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1920240"/>
            <a:ext cx="11155680" cy="38404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450" b="1">
                <a:solidFill>
                  <a:srgbClr val="FFFFFF"/>
                </a:solidFill>
                <a:latin typeface="Calibri"/>
              </a:rPr>
              <a:t>OUR SOLUTION</a:t>
            </a:r>
            <a:r>
              <a:rPr sz="1200" b="0">
                <a:solidFill>
                  <a:srgbClr val="FFFFFF"/>
                </a:solidFill>
                <a:latin typeface="Calibri"/>
              </a:rPr>
              <a:t>   a smart, self-learning log pre-processing pipeline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F5FBF"/>
                </a:solidFill>
                <a:latin typeface="Calibri"/>
              </a:rPr>
              <a:t>How it works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55080" y="2377440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38A36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44768" y="2423160"/>
            <a:ext cx="18288" cy="2560320"/>
          </a:xfrm>
          <a:prstGeom prst="rect">
            <a:avLst/>
          </a:prstGeom>
          <a:solidFill>
            <a:srgbClr val="D3DB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2688336"/>
            <a:ext cx="5486400" cy="2331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•  </a:t>
            </a:r>
            <a:r>
              <a:rPr sz="115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150" b="0">
                <a:solidFill>
                  <a:srgbClr val="1E2530"/>
                </a:solidFill>
                <a:latin typeface="Calibri"/>
              </a:rPr>
              <a:t>logs from any source (servers, apps, firewalls, cloud) arrive through a web API or a small Bash script.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•  </a:t>
            </a:r>
            <a:r>
              <a:rPr sz="115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150" b="0">
                <a:solidFill>
                  <a:srgbClr val="1E2530"/>
                </a:solidFill>
                <a:latin typeface="Calibri"/>
              </a:rPr>
              <a:t>similar lines are grouped into patterns, so millions of lines become a few thousand templates.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•  </a:t>
            </a:r>
            <a:r>
              <a:rPr sz="115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150" b="0">
                <a:solidFill>
                  <a:srgbClr val="1E2530"/>
                </a:solidFill>
                <a:latin typeface="Calibri"/>
              </a:rPr>
              <a:t>a light ML model decides whether a pattern is already known or brand new.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•  </a:t>
            </a:r>
            <a:r>
              <a:rPr sz="1150" b="1">
                <a:solidFill>
                  <a:srgbClr val="0B2A5B"/>
                </a:solidFill>
                <a:latin typeface="Calibri"/>
              </a:rPr>
              <a:t>Learn once: </a:t>
            </a:r>
            <a:r>
              <a:rPr sz="1150" b="0">
                <a:solidFill>
                  <a:srgbClr val="1E2530"/>
                </a:solidFill>
                <a:latin typeface="Calibri"/>
              </a:rPr>
              <a:t>for a new pattern, AI writes a parsing rule one time; the rule is saved and reused.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•  </a:t>
            </a:r>
            <a:r>
              <a:rPr sz="1150" b="1">
                <a:solidFill>
                  <a:srgbClr val="0B2A5B"/>
                </a:solidFill>
                <a:latin typeface="Calibri"/>
              </a:rPr>
              <a:t>Clean output: </a:t>
            </a:r>
            <a:r>
              <a:rPr sz="1150" b="0">
                <a:solidFill>
                  <a:srgbClr val="1E2530"/>
                </a:solidFill>
                <a:latin typeface="Calibri"/>
              </a:rPr>
              <a:t>every log leaves in one format: time (UTC), source, event, severity and message.</a:t>
            </a:r>
          </a:p>
          <a:p>
            <a:pPr algn="l"/>
            <a:r>
              <a:rPr sz="1150" b="1">
                <a:solidFill>
                  <a:srgbClr val="1F5FBF"/>
                </a:solidFill>
                <a:latin typeface="Calibri"/>
              </a:rPr>
              <a:t>•  </a:t>
            </a:r>
            <a:r>
              <a:rPr sz="1150" b="1">
                <a:solidFill>
                  <a:srgbClr val="0B2A5B"/>
                </a:solidFill>
                <a:latin typeface="Calibri"/>
              </a:rPr>
              <a:t>Safety net: </a:t>
            </a:r>
            <a:r>
              <a:rPr sz="1150" b="0">
                <a:solidFill>
                  <a:srgbClr val="1E2530"/>
                </a:solidFill>
                <a:latin typeface="Calibri"/>
              </a:rPr>
              <a:t>unfamiliar formats are held for review; a backup AI and built-in rules take over if AI is down.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55080" y="2688336"/>
            <a:ext cx="5394960" cy="2331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•  </a:t>
            </a:r>
            <a:r>
              <a:rPr sz="1150" b="1">
                <a:solidFill>
                  <a:srgbClr val="C0392B"/>
                </a:solidFill>
                <a:latin typeface="Calibri"/>
              </a:rPr>
              <a:t>Too many formats → </a:t>
            </a:r>
            <a:r>
              <a:rPr sz="1150" b="0">
                <a:solidFill>
                  <a:srgbClr val="1E2530"/>
                </a:solidFill>
                <a:latin typeface="Calibri"/>
              </a:rPr>
              <a:t>each new format is learned automatically, so any source can be connected.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•  </a:t>
            </a:r>
            <a:r>
              <a:rPr sz="1150" b="1">
                <a:solidFill>
                  <a:srgbClr val="C0392B"/>
                </a:solidFill>
                <a:latin typeface="Calibri"/>
              </a:rPr>
              <a:t>Parsers keep breaking → </a:t>
            </a:r>
            <a:r>
              <a:rPr sz="1150" b="0">
                <a:solidFill>
                  <a:srgbClr val="1E2530"/>
                </a:solidFill>
                <a:latin typeface="Calibri"/>
              </a:rPr>
              <a:t>no hand-written parser code to write, fix or maintain.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•  </a:t>
            </a:r>
            <a:r>
              <a:rPr sz="1150" b="1">
                <a:solidFill>
                  <a:srgbClr val="C0392B"/>
                </a:solidFill>
                <a:latin typeface="Calibri"/>
              </a:rPr>
              <a:t>AI is slow &amp; costly → </a:t>
            </a:r>
            <a:r>
              <a:rPr sz="1150" b="0">
                <a:solidFill>
                  <a:srgbClr val="1E2530"/>
                </a:solidFill>
                <a:latin typeface="Calibri"/>
              </a:rPr>
              <a:t>AI runs once per format, not per log; everyday logs use fast saved rules.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•  </a:t>
            </a:r>
            <a:r>
              <a:rPr sz="1150" b="1">
                <a:solidFill>
                  <a:srgbClr val="C0392B"/>
                </a:solidFill>
                <a:latin typeface="Calibri"/>
              </a:rPr>
              <a:t>Hard to investigate → </a:t>
            </a:r>
            <a:r>
              <a:rPr sz="1150" b="0">
                <a:solidFill>
                  <a:srgbClr val="1E2530"/>
                </a:solidFill>
                <a:latin typeface="Calibri"/>
              </a:rPr>
              <a:t>all logs share one clean, time-aligned format, so analysts search one place.</a:t>
            </a:r>
          </a:p>
          <a:p>
            <a:pPr algn="l">
              <a:spcAft>
                <a:spcPts val="4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•  </a:t>
            </a:r>
            <a:r>
              <a:rPr sz="1150" b="1">
                <a:solidFill>
                  <a:srgbClr val="C0392B"/>
                </a:solidFill>
                <a:latin typeface="Calibri"/>
              </a:rPr>
              <a:t>Compliance → </a:t>
            </a:r>
            <a:r>
              <a:rPr sz="1150" b="0">
                <a:solidFill>
                  <a:srgbClr val="1E2530"/>
                </a:solidFill>
                <a:latin typeface="Calibri"/>
              </a:rPr>
              <a:t>clean, searchable logs make it easier to keep 180 days of records, as CERT-In requires.</a:t>
            </a:r>
          </a:p>
          <a:p>
            <a:pPr algn="l"/>
            <a:r>
              <a:rPr sz="1150" b="1">
                <a:solidFill>
                  <a:srgbClr val="138A36"/>
                </a:solidFill>
                <a:latin typeface="Calibri"/>
              </a:rPr>
              <a:t>•  </a:t>
            </a:r>
            <a:r>
              <a:rPr sz="1150" b="1">
                <a:solidFill>
                  <a:srgbClr val="C0392B"/>
                </a:solidFill>
                <a:latin typeface="Calibri"/>
              </a:rPr>
              <a:t>Data privacy → </a:t>
            </a:r>
            <a:r>
              <a:rPr sz="1150" b="0">
                <a:solidFill>
                  <a:srgbClr val="1E2530"/>
                </a:solidFill>
                <a:latin typeface="Calibri"/>
              </a:rPr>
              <a:t>can run fully on-premise, so sensitive logs stay inside the organisation.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5193792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50" b="1">
                <a:solidFill>
                  <a:srgbClr val="0B2A5B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02336" y="5486400"/>
            <a:ext cx="822960" cy="4114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365760" y="5605272"/>
            <a:ext cx="2807208" cy="658368"/>
          </a:xfrm>
          <a:prstGeom prst="roundRect">
            <a:avLst>
              <a:gd name="adj" fmla="val 12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65760" y="5696712"/>
            <a:ext cx="64008" cy="475488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30352" y="5623560"/>
            <a:ext cx="2578608" cy="6217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1">
                <a:solidFill>
                  <a:srgbClr val="1F5FBF"/>
                </a:solidFill>
                <a:latin typeface="Calibri"/>
              </a:rPr>
              <a:t>Learns by itself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no hand-written rules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264408" y="5605272"/>
            <a:ext cx="2807208" cy="658368"/>
          </a:xfrm>
          <a:prstGeom prst="roundRect">
            <a:avLst>
              <a:gd name="adj" fmla="val 12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3264408" y="5696712"/>
            <a:ext cx="64008" cy="475488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429000" y="5623560"/>
            <a:ext cx="2578608" cy="6217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1">
                <a:solidFill>
                  <a:srgbClr val="F58220"/>
                </a:solidFill>
                <a:latin typeface="Calibri"/>
              </a:rPr>
              <a:t>AI only when needed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keeps cost low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163056" y="5605272"/>
            <a:ext cx="2807208" cy="658368"/>
          </a:xfrm>
          <a:prstGeom prst="roundRect">
            <a:avLst>
              <a:gd name="adj" fmla="val 12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163056" y="5696712"/>
            <a:ext cx="64008" cy="475488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27648" y="5623560"/>
            <a:ext cx="2578608" cy="6217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1">
                <a:solidFill>
                  <a:srgbClr val="6A3FB5"/>
                </a:solidFill>
                <a:latin typeface="Calibri"/>
              </a:rPr>
              <a:t>Flags unknown formats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sent for human review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9061704" y="5605272"/>
            <a:ext cx="2807208" cy="658368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061704" y="5696712"/>
            <a:ext cx="64008" cy="475488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26296" y="5623560"/>
            <a:ext cx="2578608" cy="621792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250" b="1">
                <a:solidFill>
                  <a:srgbClr val="138A36"/>
                </a:solidFill>
                <a:latin typeface="Calibri"/>
              </a:rPr>
              <a:t>Works offline</a:t>
            </a:r>
          </a:p>
          <a:p>
            <a:pPr algn="l"/>
            <a:r>
              <a:rPr sz="1100" b="0">
                <a:solidFill>
                  <a:srgbClr val="1E2530"/>
                </a:solidFill>
                <a:latin typeface="Calibri"/>
              </a:rPr>
              <a:t>data stays in India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0" name="Rectangle 89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51560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Technologies Used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" y="1353312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4087368"/>
            <a:ext cx="49377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F5FBF"/>
                </a:solidFill>
                <a:latin typeface="Calibri"/>
              </a:rPr>
              <a:t>Methodology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" y="4389120"/>
            <a:ext cx="822960" cy="3200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" y="5833872"/>
            <a:ext cx="4937760" cy="502920"/>
          </a:xfrm>
          <a:prstGeom prst="roundRect">
            <a:avLst>
              <a:gd name="adj" fmla="val 15000"/>
            </a:avLst>
          </a:prstGeom>
          <a:solidFill>
            <a:srgbClr val="E8F5EC"/>
          </a:solidFill>
          <a:ln w="12700">
            <a:solidFill>
              <a:srgbClr val="138A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5833872"/>
            <a:ext cx="4754880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38A36"/>
                </a:solidFill>
                <a:latin typeface="Calibri"/>
              </a:rPr>
              <a:t>Prototype: </a:t>
            </a:r>
            <a:r>
              <a:rPr sz="1050" b="0" i="0">
                <a:solidFill>
                  <a:srgbClr val="1E2530"/>
                </a:solidFill>
                <a:latin typeface="Calibri"/>
              </a:rPr>
              <a:t>view it at </a:t>
            </a:r>
            <a:r>
              <a:rPr sz="1050" b="1" i="0">
                <a:solidFill>
                  <a:srgbClr val="1F5FBF"/>
                </a:solidFill>
                <a:latin typeface="Calibri"/>
                <a:hlinkClick r:id="rId2"/>
              </a:rPr>
              <a:t>sih2026-w6sr.vercel.app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32120" y="1051560"/>
            <a:ext cx="6336792" cy="5303520"/>
          </a:xfrm>
          <a:prstGeom prst="roundRect">
            <a:avLst>
              <a:gd name="adj" fmla="val 3000"/>
            </a:avLst>
          </a:prstGeom>
          <a:solidFill>
            <a:srgbClr val="FAFBFD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1143000"/>
            <a:ext cx="3063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1F5FBF"/>
                </a:solidFill>
                <a:latin typeface="Calibri"/>
              </a:rPr>
              <a:t>PIPELINE ARCHITECTURE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1389888"/>
            <a:ext cx="30632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Solid path = every line</a:t>
            </a:r>
          </a:p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50" b="0" i="0">
                <a:solidFill>
                  <a:srgbClr val="5B6778"/>
                </a:solidFill>
                <a:latin typeface="Calibri"/>
              </a:rPr>
              <a:t>LLM is reached only for new templates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60720" y="12344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5B67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Log Ingestion / Buffering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1874519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1: Fingerprint Cache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regex fast path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720" y="251460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2a: Drain3 Template Mining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groups similar lines</a:t>
            </a:r>
          </a:p>
        </p:txBody>
      </p:sp>
      <p:sp>
        <p:nvSpPr>
          <p:cNvPr id="24" name="Diamond 23"/>
          <p:cNvSpPr/>
          <p:nvPr/>
        </p:nvSpPr>
        <p:spPr>
          <a:xfrm>
            <a:off x="5852159" y="3127248"/>
            <a:ext cx="2514600" cy="822960"/>
          </a:xfrm>
          <a:prstGeom prst="diamond">
            <a:avLst/>
          </a:prstGeom>
          <a:solidFill>
            <a:srgbClr val="FFF4E0"/>
          </a:solidFill>
          <a:ln w="19050">
            <a:solidFill>
              <a:srgbClr val="F58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1E2530"/>
                </a:solidFill>
                <a:latin typeface="Calibri"/>
              </a:rPr>
              <a:t>Template already has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1E2530"/>
                </a:solidFill>
                <a:latin typeface="Calibri"/>
              </a:rPr>
              <a:t>a learned rule?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06840" y="3310128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scikit-learn FormatGate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known vs novel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3252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3a: LLM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Discovery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once per template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87000" y="4160520"/>
            <a:ext cx="1417320" cy="566928"/>
          </a:xfrm>
          <a:prstGeom prst="roundRect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00" b="1" i="0">
                <a:solidFill>
                  <a:srgbClr val="FFFFFF"/>
                </a:solidFill>
                <a:latin typeface="Calibri"/>
              </a:rPr>
              <a:t>Tier 3b:</a:t>
            </a:r>
          </a:p>
          <a:p>
            <a:pPr algn="ctr">
              <a:lnSpc>
                <a:spcPct val="90000"/>
              </a:lnSpc>
            </a:pPr>
            <a:r>
              <a:rPr sz="1000" b="0" i="0">
                <a:solidFill>
                  <a:srgbClr val="FFFFFF"/>
                </a:solidFill>
                <a:latin typeface="Calibri"/>
              </a:rPr>
              <a:t>Quarantine</a:t>
            </a:r>
          </a:p>
          <a:p>
            <a:pPr algn="ctr">
              <a:lnSpc>
                <a:spcPct val="90000"/>
              </a:lnSpc>
            </a:pPr>
            <a:r>
              <a:rPr sz="850" b="0" i="0">
                <a:solidFill>
                  <a:srgbClr val="FFFFFF"/>
                </a:solidFill>
                <a:latin typeface="Calibri"/>
              </a:rPr>
              <a:t>LLM only on graduation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5120640"/>
            <a:ext cx="2423160" cy="457200"/>
          </a:xfrm>
          <a:prstGeom prst="roundRect">
            <a:avLst>
              <a:gd name="adj" fmla="val 18000"/>
            </a:avLst>
          </a:prstGeom>
          <a:solidFill>
            <a:srgbClr val="0E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Store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fingerprint + template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760720" y="5120640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2b: Execute Cached Rule</a:t>
            </a:r>
          </a:p>
          <a:p>
            <a:pPr algn="ctr">
              <a:lnSpc>
                <a:spcPct val="90000"/>
              </a:lnSpc>
            </a:pPr>
            <a:r>
              <a:rPr sz="950" b="0" i="0">
                <a:solidFill>
                  <a:srgbClr val="FFFFFF"/>
                </a:solidFill>
                <a:latin typeface="Calibri"/>
              </a:rPr>
              <a:t>zero LLM calls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720" y="5779008"/>
            <a:ext cx="2697480" cy="457200"/>
          </a:xfrm>
          <a:prstGeom prst="roundRect">
            <a:avLst>
              <a:gd name="adj" fmla="val 18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>
              <a:lnSpc>
                <a:spcPct val="90000"/>
              </a:lnSpc>
            </a:pPr>
            <a:r>
              <a:rPr sz="1050" b="1" i="0">
                <a:solidFill>
                  <a:srgbClr val="FFFFFF"/>
                </a:solidFill>
                <a:latin typeface="Calibri"/>
              </a:rPr>
              <a:t>Tier 4: Normalize to Common Schema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109460" y="1691640"/>
            <a:ext cx="0" cy="182879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7109460" y="2331720"/>
            <a:ext cx="0" cy="182880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155180" y="2286000"/>
            <a:ext cx="5486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1" i="0">
                <a:solidFill>
                  <a:srgbClr val="5B6778"/>
                </a:solidFill>
                <a:latin typeface="Calibri"/>
              </a:rPr>
              <a:t>miss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109460" y="2971800"/>
            <a:ext cx="0" cy="15544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7109460" y="3950208"/>
            <a:ext cx="0" cy="1170432"/>
          </a:xfrm>
          <a:prstGeom prst="line">
            <a:avLst/>
          </a:prstGeom>
          <a:ln w="25400">
            <a:solidFill>
              <a:srgbClr val="138A3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182612" y="438912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138A36"/>
                </a:solidFill>
                <a:latin typeface="Calibri"/>
              </a:rPr>
              <a:t>Yes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366760" y="3538728"/>
            <a:ext cx="640080" cy="0"/>
          </a:xfrm>
          <a:prstGeom prst="line">
            <a:avLst/>
          </a:prstGeom>
          <a:ln w="25400">
            <a:solidFill>
              <a:srgbClr val="F582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412480" y="3291840"/>
            <a:ext cx="4572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 i="0">
                <a:solidFill>
                  <a:srgbClr val="F58220"/>
                </a:solidFill>
                <a:latin typeface="Calibri"/>
              </a:rPr>
              <a:t>No</a:t>
            </a:r>
          </a:p>
        </p:txBody>
      </p:sp>
      <p:cxnSp>
        <p:nvCxnSpPr>
          <p:cNvPr id="39" name="Connector 38"/>
          <p:cNvCxnSpPr/>
          <p:nvPr/>
        </p:nvCxnSpPr>
        <p:spPr>
          <a:xfrm flipH="1">
            <a:off x="9445752" y="376732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584180" y="376732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412480" y="3840480"/>
            <a:ext cx="14630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known / shadow mode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607040" y="3840480"/>
            <a:ext cx="123444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50" b="0" i="0">
                <a:solidFill>
                  <a:srgbClr val="5B6778"/>
                </a:solidFill>
                <a:latin typeface="Calibri"/>
              </a:rPr>
              <a:t>novel + enforce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445752" y="4727448"/>
            <a:ext cx="406908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10584180" y="4727448"/>
            <a:ext cx="416052" cy="393192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H="1">
            <a:off x="8458200" y="5349240"/>
            <a:ext cx="548640" cy="0"/>
          </a:xfrm>
          <a:prstGeom prst="line">
            <a:avLst/>
          </a:prstGeom>
          <a:ln w="25400">
            <a:solidFill>
              <a:srgbClr val="0E8C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109460" y="5577840"/>
            <a:ext cx="0" cy="201168"/>
          </a:xfrm>
          <a:prstGeom prst="line">
            <a:avLst/>
          </a:prstGeom>
          <a:ln w="19050">
            <a:solidFill>
              <a:srgbClr val="5B67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365760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pytho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627632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32688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Python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32688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Core language: </a:t>
            </a:r>
            <a:r>
              <a:rPr sz="850" b="0">
                <a:solidFill>
                  <a:srgbClr val="5F6B7A"/>
                </a:solidFill>
                <a:latin typeface="Calibri"/>
              </a:rPr>
              <a:t>simple, huge library support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2039112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fastapi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0552" y="1627632"/>
            <a:ext cx="420624" cy="420624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2606040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FastAPI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06040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Web API: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and easy for any tool to send logs to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712464" y="1444752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3803904" y="1627632"/>
            <a:ext cx="420624" cy="420624"/>
          </a:xfrm>
          <a:prstGeom prst="ellipse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79392" y="1499616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Drain3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9392" y="1737360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Groups similar lines: </a:t>
            </a:r>
            <a:r>
              <a:rPr sz="850" b="0">
                <a:solidFill>
                  <a:srgbClr val="5F6B7A"/>
                </a:solidFill>
                <a:latin typeface="Calibri"/>
              </a:rPr>
              <a:t>learns log patterns on the fly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0" name="Picture 59" descr="scikitlearn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478024"/>
            <a:ext cx="420624" cy="420624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32688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scikit-learn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32688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ML model: </a:t>
            </a:r>
            <a:r>
              <a:rPr sz="850" b="0">
                <a:solidFill>
                  <a:srgbClr val="5F6B7A"/>
                </a:solidFill>
                <a:latin typeface="Calibri"/>
              </a:rPr>
              <a:t>spots new, unknown log formats cheaply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039112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4" name="Picture 63" descr="googlegemini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93976" y="2441448"/>
            <a:ext cx="292608" cy="292608"/>
          </a:xfrm>
          <a:prstGeom prst="rect">
            <a:avLst/>
          </a:prstGeom>
        </p:spPr>
      </p:pic>
      <p:pic>
        <p:nvPicPr>
          <p:cNvPr id="65" name="Picture 64" descr="anthropic_log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76856" y="2660904"/>
            <a:ext cx="292608" cy="292608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2606040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AI (LLM)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606040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Writes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one rule per new log format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712464" y="2295144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9" name="Picture 68" descr="pandas_lo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03904" y="2478024"/>
            <a:ext cx="420624" cy="420624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279392" y="2350008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Pandas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79392" y="2587752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Data analysis: </a:t>
            </a:r>
            <a:r>
              <a:rPr sz="850" b="0">
                <a:solidFill>
                  <a:srgbClr val="5F6B7A"/>
                </a:solidFill>
                <a:latin typeface="Calibri"/>
              </a:rPr>
              <a:t>summarises log statistics &amp; reports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65760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3" name="Picture 72" descr="linux_log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624" y="3291840"/>
            <a:ext cx="292608" cy="292608"/>
          </a:xfrm>
          <a:prstGeom prst="rect">
            <a:avLst/>
          </a:prstGeom>
        </p:spPr>
      </p:pic>
      <p:pic>
        <p:nvPicPr>
          <p:cNvPr id="74" name="Picture 73" descr="gnubash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3504" y="3511296"/>
            <a:ext cx="292608" cy="29260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932688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Linux / Bash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32688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Collects system logs: </a:t>
            </a:r>
            <a:r>
              <a:rPr sz="850" b="0">
                <a:solidFill>
                  <a:srgbClr val="5F6B7A"/>
                </a:solidFill>
                <a:latin typeface="Calibri"/>
              </a:rPr>
              <a:t>runs on any Linux server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039112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8" name="Picture 77" descr="vercel_logo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130552" y="3328416"/>
            <a:ext cx="420624" cy="420624"/>
          </a:xfrm>
          <a:prstGeom prst="rect">
            <a:avLst/>
          </a:prstGeom>
        </p:spPr>
      </p:pic>
      <p:sp>
        <p:nvSpPr>
          <p:cNvPr id="79" name="TextBox 78"/>
          <p:cNvSpPr txBox="1"/>
          <p:nvPr/>
        </p:nvSpPr>
        <p:spPr>
          <a:xfrm>
            <a:off x="2606040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Vercel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606040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Hosting: </a:t>
            </a:r>
            <a:r>
              <a:rPr sz="850" b="0">
                <a:solidFill>
                  <a:srgbClr val="5F6B7A"/>
                </a:solidFill>
                <a:latin typeface="Calibri"/>
              </a:rPr>
              <a:t>quick, free online prototype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712464" y="3145536"/>
            <a:ext cx="1591056" cy="786384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2" name="Picture 81" descr="upstash_logo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03904" y="3328416"/>
            <a:ext cx="420624" cy="420624"/>
          </a:xfrm>
          <a:prstGeom prst="rect">
            <a:avLst/>
          </a:prstGeom>
        </p:spPr>
      </p:pic>
      <p:sp>
        <p:nvSpPr>
          <p:cNvPr id="83" name="TextBox 82"/>
          <p:cNvSpPr txBox="1"/>
          <p:nvPr/>
        </p:nvSpPr>
        <p:spPr>
          <a:xfrm>
            <a:off x="4279392" y="3200400"/>
            <a:ext cx="100584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0B2A5B"/>
                </a:solidFill>
                <a:latin typeface="Calibri"/>
              </a:rPr>
              <a:t>Upstash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279392" y="3438144"/>
            <a:ext cx="1042416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850" b="1">
                <a:solidFill>
                  <a:srgbClr val="1F5FBF"/>
                </a:solidFill>
                <a:latin typeface="Calibri"/>
              </a:rPr>
              <a:t>Stores learned rules: </a:t>
            </a:r>
            <a:r>
              <a:rPr sz="850" b="0">
                <a:solidFill>
                  <a:srgbClr val="5F6B7A"/>
                </a:solidFill>
                <a:latin typeface="Calibri"/>
              </a:rPr>
              <a:t>fast cloud cache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65760" y="4462272"/>
            <a:ext cx="49377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① </a:t>
            </a:r>
            <a:r>
              <a:rPr sz="1200" b="1">
                <a:solidFill>
                  <a:srgbClr val="0B2A5B"/>
                </a:solidFill>
                <a:latin typeface="Calibri"/>
              </a:rPr>
              <a:t>Collect: </a:t>
            </a:r>
            <a:r>
              <a:rPr sz="1200" b="0">
                <a:solidFill>
                  <a:srgbClr val="1E2530"/>
                </a:solidFill>
                <a:latin typeface="Calibri"/>
              </a:rPr>
              <a:t>logs come in through the API or a Bash script.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② </a:t>
            </a:r>
            <a:r>
              <a:rPr sz="1200" b="1">
                <a:solidFill>
                  <a:srgbClr val="0B2A5B"/>
                </a:solidFill>
                <a:latin typeface="Calibri"/>
              </a:rPr>
              <a:t>Group: </a:t>
            </a:r>
            <a:r>
              <a:rPr sz="1200" b="0">
                <a:solidFill>
                  <a:srgbClr val="1E2530"/>
                </a:solidFill>
                <a:latin typeface="Calibri"/>
              </a:rPr>
              <a:t>similar lines are grouped into templates.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③ </a:t>
            </a:r>
            <a:r>
              <a:rPr sz="1200" b="1">
                <a:solidFill>
                  <a:srgbClr val="0B2A5B"/>
                </a:solidFill>
                <a:latin typeface="Calibri"/>
              </a:rPr>
              <a:t>Check: </a:t>
            </a:r>
            <a:r>
              <a:rPr sz="1200" b="0">
                <a:solidFill>
                  <a:srgbClr val="1E2530"/>
                </a:solidFill>
                <a:latin typeface="Calibri"/>
              </a:rPr>
              <a:t>ML decides: known format or brand new?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④ </a:t>
            </a:r>
            <a:r>
              <a:rPr sz="1200" b="1">
                <a:solidFill>
                  <a:srgbClr val="0B2A5B"/>
                </a:solidFill>
                <a:latin typeface="Calibri"/>
              </a:rPr>
              <a:t>Learn: </a:t>
            </a:r>
            <a:r>
              <a:rPr sz="1200" b="0">
                <a:solidFill>
                  <a:srgbClr val="1E2530"/>
                </a:solidFill>
                <a:latin typeface="Calibri"/>
              </a:rPr>
              <a:t>AI writes a rule once; it is reused forever.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F58220"/>
                </a:solidFill>
                <a:latin typeface="Calibri"/>
              </a:rPr>
              <a:t>⑤ </a:t>
            </a:r>
            <a:r>
              <a:rPr sz="1200" b="1">
                <a:solidFill>
                  <a:srgbClr val="0B2A5B"/>
                </a:solidFill>
                <a:latin typeface="Calibri"/>
              </a:rPr>
              <a:t>Output: </a:t>
            </a:r>
            <a:r>
              <a:rPr sz="1200" b="0">
                <a:solidFill>
                  <a:srgbClr val="1E2530"/>
                </a:solidFill>
                <a:latin typeface="Calibri"/>
              </a:rPr>
              <a:t>every log leaves in one clean, common format.</a:t>
            </a:r>
          </a:p>
        </p:txBody>
      </p:sp>
      <p:sp>
        <p:nvSpPr>
          <p:cNvPr id="87" name="Oval 86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88" name="Picture 87" descr="sih_icon_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89" name="TextBox 88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8" name="Rectangle 5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55" name="Oval 5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56" name="Picture 55" descr="sih_icon_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65760" y="1097280"/>
            <a:ext cx="3657600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365760" y="1097280"/>
            <a:ext cx="3657600" cy="457200"/>
          </a:xfrm>
          <a:prstGeom prst="roundRect">
            <a:avLst>
              <a:gd name="adj" fmla="val 30000"/>
            </a:avLst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1097280"/>
            <a:ext cx="365760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FEASIBILITY  (Can it be built?)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02920" y="1719072"/>
            <a:ext cx="3401568" cy="4462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Built on mature open-source tools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Python, FastAPI, Drain3 and scikit-learn are free and widely used, so nothing new has to be invented.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Low, predictable cost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AI is needed only when a new log format first appears; everyday logs reuse saved rules.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Fits into existing setups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Works alongside current tools; logs arrive through a simple web API or a small script.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Open data to build on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Public log datasets from the research community let us develop it without private data.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Gradual, low-risk adoption</a:t>
            </a:r>
          </a:p>
          <a:p>
            <a:pPr>
              <a:spcAft>
                <a:spcPts val="10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Can run in watch-only 'shadow mode' next to current tools before teams rely on it.</a:t>
            </a:r>
          </a:p>
          <a:p>
            <a:pPr>
              <a:spcAft>
                <a:spcPts val="200"/>
              </a:spcAft>
            </a:pPr>
            <a:r>
              <a:rPr sz="1150" b="1">
                <a:solidFill>
                  <a:srgbClr val="138A36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Simple, modular design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Collect → group → learn → output: each part can be improved on its own.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165592" y="1097280"/>
            <a:ext cx="3703320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165592" y="1097280"/>
            <a:ext cx="3703320" cy="457200"/>
          </a:xfrm>
          <a:prstGeom prst="roundRect">
            <a:avLst>
              <a:gd name="adj" fmla="val 30000"/>
            </a:avLst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65592" y="1097280"/>
            <a:ext cx="3703320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VIABILITY  (Will it last?)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02752" y="1719072"/>
            <a:ext cx="3447288" cy="446227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Real need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CERT-In requires every organisation to keep 180 days of logs and report incidents within 6 hours.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Data stays in India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Runs on Indian cloud or fully on-premise servers, even in air-gapped networks.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Business model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Free open-source core, plus paid setup, support and training for government &amp; PSUs.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Grows easily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More logs do not mean more AI cost: each new format is learned only once and reused.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Wide market</a:t>
            </a:r>
          </a:p>
          <a:p>
            <a:pPr algn="l">
              <a:spcAft>
                <a:spcPts val="1100"/>
              </a:spcAft>
            </a:pPr>
            <a:r>
              <a:rPr sz="1150" b="0">
                <a:solidFill>
                  <a:srgbClr val="1E2530"/>
                </a:solidFill>
                <a:latin typeface="Calibri"/>
              </a:rPr>
              <a:t>Every bank, power utility, telecom operator and ministry produces huge, mixed logs.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1F5FBF"/>
                </a:solidFill>
                <a:latin typeface="Calibri"/>
              </a:rPr>
              <a:t>✔ </a:t>
            </a:r>
            <a:r>
              <a:rPr sz="1300" b="1">
                <a:solidFill>
                  <a:srgbClr val="0B2A5B"/>
                </a:solidFill>
                <a:latin typeface="Calibri"/>
              </a:rPr>
              <a:t>Clear rollout path</a:t>
            </a:r>
          </a:p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Pilot with one PSU, then sector security centres, then a nationwide NCIIPC rollout.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206240" y="1097280"/>
            <a:ext cx="3776472" cy="51937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4206240" y="1097280"/>
            <a:ext cx="3776472" cy="457200"/>
          </a:xfrm>
          <a:prstGeom prst="roundRect">
            <a:avLst>
              <a:gd name="adj" fmla="val 3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206240" y="1097280"/>
            <a:ext cx="3776472" cy="45720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CHALLENGES  →  OUR FIX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97680" y="1609344"/>
            <a:ext cx="1645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Risk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1609344"/>
            <a:ext cx="169164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How we handle it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4315968" y="188366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343400" y="188366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AI service goes down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25312" y="188366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6217920" y="188366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45352" y="188366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Switches to a backup AI, then to built-in rules; logs keep flowing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315968" y="275234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343400" y="275234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AI cost at large scale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25312" y="275234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17920" y="275234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45352" y="275234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AI runs once per log format, not per line; most lines never need AI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4315968" y="362102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343400" y="362102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A normal log looks 'new'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925312" y="362102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362102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45352" y="362102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Held in a review queue, never dropped; accepted once confirmed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315968" y="448970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343400" y="448970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Brand-new systems appear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25312" y="448970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217920" y="448970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45352" y="448970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The format-check model is retrained with one command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315968" y="5358384"/>
            <a:ext cx="1627632" cy="777240"/>
          </a:xfrm>
          <a:prstGeom prst="roundRect">
            <a:avLst>
              <a:gd name="adj" fmla="val 12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343400" y="5358384"/>
            <a:ext cx="157276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50" b="1">
                <a:solidFill>
                  <a:srgbClr val="C0392B"/>
                </a:solidFill>
                <a:latin typeface="Calibri"/>
              </a:rPr>
              <a:t>Sensitive data in logs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925312" y="5358384"/>
            <a:ext cx="292608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600" b="1">
                <a:solidFill>
                  <a:srgbClr val="5F6B7A"/>
                </a:solidFill>
                <a:latin typeface="Calibri"/>
              </a:rPr>
              <a:t>→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6217920" y="5358384"/>
            <a:ext cx="1664208" cy="777240"/>
          </a:xfrm>
          <a:prstGeom prst="roundRect">
            <a:avLst>
              <a:gd name="adj" fmla="val 12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45352" y="5358384"/>
            <a:ext cx="1609344" cy="77724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Runs on-premise; self-hosted AI planned so nothing leaves the network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" name="Rectangle 62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0" name="Oval 59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61" name="Picture 60" descr="sih_icon_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051560"/>
            <a:ext cx="566928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Impact on NTRO &amp; NCIIPC</a:t>
            </a:r>
            <a:r>
              <a:rPr sz="1200" b="0">
                <a:solidFill>
                  <a:srgbClr val="5F6B7A"/>
                </a:solidFill>
                <a:latin typeface="Calibri"/>
              </a:rPr>
              <a:t>   our target users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0233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65760" y="1572768"/>
            <a:ext cx="64008" cy="457200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1554480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F5FBF"/>
                </a:solidFill>
                <a:latin typeface="Calibri"/>
              </a:rPr>
              <a:t>One view of all sectors: </a:t>
            </a:r>
            <a:r>
              <a:rPr sz="1150" b="0">
                <a:solidFill>
                  <a:srgbClr val="1E2530"/>
                </a:solidFill>
                <a:latin typeface="Calibri"/>
              </a:rPr>
              <a:t>logs from power, banking, telecom &amp; govt security centres arrive in one common format, so NCIIPC sees the full picture.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2139696"/>
            <a:ext cx="64008" cy="457200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2121408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138A36"/>
                </a:solidFill>
                <a:latin typeface="Calibri"/>
              </a:rPr>
              <a:t>Faster threat detection: </a:t>
            </a:r>
            <a:r>
              <a:rPr sz="1150" b="0">
                <a:solidFill>
                  <a:srgbClr val="1E2530"/>
                </a:solidFill>
                <a:latin typeface="Calibri"/>
              </a:rPr>
              <a:t>analysts search one clean format instead of hundreds; events from different systems line up by time.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65760" y="2706624"/>
            <a:ext cx="64008" cy="45720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2688336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F58220"/>
                </a:solidFill>
                <a:latin typeface="Calibri"/>
              </a:rPr>
              <a:t>Unusual logs flagged: </a:t>
            </a:r>
            <a:r>
              <a:rPr sz="1150" b="0">
                <a:solidFill>
                  <a:srgbClr val="1E2530"/>
                </a:solidFill>
                <a:latin typeface="Calibri"/>
              </a:rPr>
              <a:t>a never-seen log format is flagged automatically; it may be a new device, a misconfiguration or tampering.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5760" y="3273552"/>
            <a:ext cx="64008" cy="457200"/>
          </a:xfrm>
          <a:prstGeom prst="rect">
            <a:avLst/>
          </a:prstGeom>
          <a:solidFill>
            <a:srgbClr val="6A3F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3255264"/>
            <a:ext cx="557784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1">
                <a:solidFill>
                  <a:srgbClr val="6A3FB5"/>
                </a:solidFill>
                <a:latin typeface="Calibri"/>
              </a:rPr>
              <a:t>Sovereign &amp; offline: </a:t>
            </a:r>
            <a:r>
              <a:rPr sz="1150" b="0">
                <a:solidFill>
                  <a:srgbClr val="1E2530"/>
                </a:solidFill>
                <a:latin typeface="Calibri"/>
              </a:rPr>
              <a:t>runs on-premise with no internet, so sensitive logs never leave India (self-hosted AI planned).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63640" y="1051560"/>
            <a:ext cx="557784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Benefits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300216" y="137160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6263640" y="1609344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0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F5FBF"/>
                </a:solidFill>
                <a:latin typeface="Calibri"/>
              </a:rPr>
              <a:t>Social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726680" y="1554480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Safer power, banking and telecom services for citizens, thanks to faster attack detection.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263640" y="2176272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B35C00"/>
                </a:solidFill>
                <a:latin typeface="Calibri"/>
              </a:rPr>
              <a:t>Economic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26680" y="2121408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No costly paid tools or hand-written parsers; the AI bill stays tiny even as logs grow.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3640" y="2743200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138A36"/>
                </a:solidFill>
                <a:latin typeface="Calibri"/>
              </a:rPr>
              <a:t>Environmental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26680" y="2688336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99.5% fewer AI calls means far less computing power and energy used.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6263640" y="3310128"/>
            <a:ext cx="1371600" cy="402336"/>
          </a:xfrm>
          <a:prstGeom prst="roundRect">
            <a:avLst>
              <a:gd name="adj" fmla="val 30000"/>
            </a:avLst>
          </a:prstGeom>
          <a:solidFill>
            <a:srgbClr val="F1EC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1150" b="1">
                <a:solidFill>
                  <a:srgbClr val="6A3FB5"/>
                </a:solidFill>
                <a:latin typeface="Calibri"/>
              </a:rPr>
              <a:t>Strategic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726680" y="3255264"/>
            <a:ext cx="4160520" cy="512064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150" b="0">
                <a:solidFill>
                  <a:srgbClr val="1E2530"/>
                </a:solidFill>
                <a:latin typeface="Calibri"/>
              </a:rPr>
              <a:t>Self-reliant and open-source; helps every organisation meet CERT-In's 180-day log rule.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3840480"/>
            <a:ext cx="11430000" cy="310896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>
                <a:solidFill>
                  <a:srgbClr val="0B2A5B"/>
                </a:solidFill>
                <a:latin typeface="Calibri"/>
              </a:rPr>
              <a:t>Same workload, three approaches</a:t>
            </a:r>
            <a:r>
              <a:rPr sz="1200" b="0">
                <a:solidFill>
                  <a:srgbClr val="5F6B7A"/>
                </a:solidFill>
                <a:latin typeface="Calibri"/>
              </a:rPr>
              <a:t>   a big organisation producing 1 million logs every day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02336" y="4160520"/>
            <a:ext cx="822960" cy="45720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365760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02920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Cost for one year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02920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Total spend to process the logs for 12 months</a:t>
            </a:r>
          </a:p>
        </p:txBody>
      </p:sp>
      <p:graphicFrame>
        <p:nvGraphicFramePr>
          <p:cNvPr id="89" name="Chart 88"/>
          <p:cNvGraphicFramePr>
            <a:graphicFrameLocks noGrp="1"/>
          </p:cNvGraphicFramePr>
          <p:nvPr/>
        </p:nvGraphicFramePr>
        <p:xfrm>
          <a:off x="457200" y="4800600"/>
          <a:ext cx="3886200" cy="1389888"/>
        </p:xfrm>
        <a:graphic>
          <a:graphicData uri="http://schemas.openxmlformats.org/drawingml/2006/chart">
            <c:chart xmlns:c="http://schemas.openxmlformats.org/drawingml/2006/chart" r:id="rId15"/>
          </a:graphicData>
        </a:graphic>
      </p:graphicFrame>
      <p:sp>
        <p:nvSpPr>
          <p:cNvPr id="90" name="Rounded Rectangle 89"/>
          <p:cNvSpPr/>
          <p:nvPr/>
        </p:nvSpPr>
        <p:spPr>
          <a:xfrm>
            <a:off x="4434840" y="4617720"/>
            <a:ext cx="1481328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800" b="1">
                <a:solidFill>
                  <a:srgbClr val="138A36"/>
                </a:solidFill>
                <a:latin typeface="Calibri"/>
              </a:rPr>
              <a:t>80×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cheaper than AI on every line</a:t>
            </a:r>
          </a:p>
          <a:p>
            <a:pPr algn="ctr"/>
            <a:r>
              <a:rPr sz="1000" b="0">
                <a:solidFill>
                  <a:srgbClr val="1E2530"/>
                </a:solidFill>
                <a:latin typeface="Calibri"/>
              </a:rPr>
              <a:t>and 5× cheaper than manual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6199632" y="4297680"/>
            <a:ext cx="5669280" cy="19385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36792" y="4343400"/>
            <a:ext cx="3931920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50" b="1">
                <a:solidFill>
                  <a:srgbClr val="0B2A5B"/>
                </a:solidFill>
                <a:latin typeface="Calibri"/>
              </a:rPr>
              <a:t>Share of logs sent to AI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36792" y="4572000"/>
            <a:ext cx="3931920" cy="237744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>
                <a:solidFill>
                  <a:srgbClr val="5F6B7A"/>
                </a:solidFill>
                <a:latin typeface="Calibri"/>
              </a:rPr>
              <a:t>How many log lines need a paid AI service</a:t>
            </a:r>
          </a:p>
        </p:txBody>
      </p:sp>
      <p:graphicFrame>
        <p:nvGraphicFramePr>
          <p:cNvPr id="94" name="Chart 93"/>
          <p:cNvGraphicFramePr>
            <a:graphicFrameLocks noGrp="1"/>
          </p:cNvGraphicFramePr>
          <p:nvPr/>
        </p:nvGraphicFramePr>
        <p:xfrm>
          <a:off x="658368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6"/>
          </a:graphicData>
        </a:graphic>
      </p:graphicFrame>
      <p:sp>
        <p:nvSpPr>
          <p:cNvPr id="95" name="TextBox 94"/>
          <p:cNvSpPr txBox="1"/>
          <p:nvPr/>
        </p:nvSpPr>
        <p:spPr>
          <a:xfrm>
            <a:off x="658368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C0392B"/>
                </a:solidFill>
                <a:latin typeface="Calibri"/>
              </a:rPr>
              <a:t>100%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26364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C0392B"/>
                </a:solidFill>
                <a:latin typeface="Calibri"/>
              </a:rPr>
              <a:t>AI on every line</a:t>
            </a:r>
          </a:p>
        </p:txBody>
      </p:sp>
      <p:graphicFrame>
        <p:nvGraphicFramePr>
          <p:cNvPr id="97" name="Chart 96"/>
          <p:cNvGraphicFramePr>
            <a:graphicFrameLocks noGrp="1"/>
          </p:cNvGraphicFramePr>
          <p:nvPr/>
        </p:nvGraphicFramePr>
        <p:xfrm>
          <a:off x="8229600" y="4828032"/>
          <a:ext cx="1115568" cy="1115568"/>
        </p:xfrm>
        <a:graphic>
          <a:graphicData uri="http://schemas.openxmlformats.org/drawingml/2006/chart">
            <c:chart xmlns:c="http://schemas.openxmlformats.org/drawingml/2006/chart" r:id="rId17"/>
          </a:graphicData>
        </a:graphic>
      </p:graphicFrame>
      <p:sp>
        <p:nvSpPr>
          <p:cNvPr id="98" name="TextBox 97"/>
          <p:cNvSpPr txBox="1"/>
          <p:nvPr/>
        </p:nvSpPr>
        <p:spPr>
          <a:xfrm>
            <a:off x="8229600" y="5184648"/>
            <a:ext cx="1115568" cy="402336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500" b="1">
                <a:solidFill>
                  <a:srgbClr val="138A36"/>
                </a:solidFill>
                <a:latin typeface="Calibri"/>
              </a:rPr>
              <a:t>0.5%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909560" y="5943600"/>
            <a:ext cx="1755648" cy="256032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138A36"/>
                </a:solidFill>
                <a:latin typeface="Calibri"/>
              </a:rPr>
              <a:t>Our solution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195560" y="4617720"/>
            <a:ext cx="1554480" cy="1481328"/>
          </a:xfrm>
          <a:prstGeom prst="roundRect">
            <a:avLst>
              <a:gd name="adj" fmla="val 10000"/>
            </a:avLst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/>
          <a:lstStyle/>
          <a:p>
            <a:pPr algn="ctr"/>
            <a:r>
              <a:rPr sz="2400" b="1">
                <a:solidFill>
                  <a:srgbClr val="138A36"/>
                </a:solidFill>
                <a:latin typeface="Calibri"/>
              </a:rPr>
              <a:t>99.5%</a:t>
            </a:r>
          </a:p>
          <a:p>
            <a:pPr algn="ctr"/>
            <a:r>
              <a:rPr sz="1050" b="1">
                <a:solidFill>
                  <a:srgbClr val="1E2530"/>
                </a:solidFill>
                <a:latin typeface="Calibri"/>
              </a:rPr>
              <a:t>fewer AI calls</a:t>
            </a:r>
          </a:p>
          <a:p>
            <a:pPr algn="ctr"/>
            <a:r>
              <a:rPr sz="950" b="0">
                <a:solidFill>
                  <a:srgbClr val="1E2530"/>
                </a:solidFill>
                <a:latin typeface="Calibri"/>
              </a:rPr>
              <a:t>AI learns each format once; saved rules do the rest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65760" y="6245352"/>
            <a:ext cx="11503152" cy="1828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800" b="0">
                <a:solidFill>
                  <a:srgbClr val="5F6B7A"/>
                </a:solidFill>
                <a:latin typeface="Calibri"/>
              </a:rPr>
              <a:t>Illustrative estimate for ~50 log sources (engineer ₹5,000/day, typical AI pricing); actual results will vary by organisation.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8" name="Rectangle 3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920240" y="182880"/>
            <a:ext cx="8092440" cy="7315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000000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6473952"/>
            <a:ext cx="4480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@SIH Idea submission- Template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7315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097280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207007"/>
            <a:ext cx="73152" cy="1563624"/>
          </a:xfrm>
          <a:prstGeom prst="rect">
            <a:avLst/>
          </a:prstGeom>
          <a:solidFill>
            <a:srgbClr val="1F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161288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5FBF"/>
                </a:solidFill>
                <a:latin typeface="Calibri"/>
              </a:rPr>
              <a:t>Research Papers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627632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 log parsing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He et al., IEEE ICWS 2017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Loghub real-world log datasets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IEEE ISSRE 2023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F5FBF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Log-parser benchmark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Zhu et al., ICSE-SEIP 2019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2999232"/>
            <a:ext cx="7315200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73152" cy="1563624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3063239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Government &amp; 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6995160" cy="1325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NCIIPC, NTRO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IT Act Sec. 70A</a:t>
            </a:r>
            <a:r>
              <a:rPr sz="1300" b="0">
                <a:solidFill>
                  <a:srgbClr val="1F5FBF"/>
                </a:solidFill>
                <a:latin typeface="Calibri"/>
                <a:hlinkClick r:id="rId9"/>
              </a:rPr>
              <a:t>  ·  nciipc.gov.in</a:t>
            </a:r>
          </a:p>
          <a:p>
            <a:pPr>
              <a:spcAft>
                <a:spcPts val="130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CERT-In Directions 2022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keep logs 180 days</a:t>
            </a:r>
            <a:r>
              <a:rPr sz="1300" b="0">
                <a:solidFill>
                  <a:srgbClr val="1F5FBF"/>
                </a:solidFill>
                <a:latin typeface="Calibri"/>
                <a:hlinkClick r:id="rId3"/>
              </a:rPr>
              <a:t>  ·  cert-in.org.in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F58220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DPDP Act 2023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Govt. of India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901184"/>
            <a:ext cx="7315200" cy="14447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3DB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5010912"/>
            <a:ext cx="73152" cy="1225296"/>
          </a:xfrm>
          <a:prstGeom prst="rect">
            <a:avLst/>
          </a:prstGeom>
          <a:solidFill>
            <a:srgbClr val="138A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965192"/>
            <a:ext cx="69494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38A36"/>
                </a:solidFill>
                <a:latin typeface="Calibri"/>
              </a:rPr>
              <a:t>Standards &amp; 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376672"/>
            <a:ext cx="6995160" cy="9875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Syslog (RFC 5424) · ISO 8601 time format</a:t>
            </a:r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Drain3 library</a:t>
            </a:r>
            <a:r>
              <a:rPr sz="1300" b="0">
                <a:solidFill>
                  <a:srgbClr val="1F5FBF"/>
                </a:solidFill>
                <a:latin typeface="Calibri"/>
                <a:hlinkClick r:id="rId4"/>
              </a:rPr>
              <a:t>  ·  github.com/logpai/Drain3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38A36"/>
                </a:solidFill>
                <a:latin typeface="Calibri"/>
              </a:rPr>
              <a:t>▪  </a:t>
            </a:r>
            <a:r>
              <a:rPr sz="1300" b="1">
                <a:solidFill>
                  <a:srgbClr val="0B2A5B"/>
                </a:solidFill>
                <a:latin typeface="Calibri"/>
              </a:rPr>
              <a:t>Scikit-learn</a:t>
            </a:r>
            <a:r>
              <a:rPr sz="1300" b="0">
                <a:solidFill>
                  <a:srgbClr val="5F6B7A"/>
                </a:solidFill>
                <a:latin typeface="Calibri"/>
              </a:rPr>
              <a:t>  —  Pedregosa et al., JMLR 2011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9560" y="1097280"/>
            <a:ext cx="3959352" cy="5248656"/>
          </a:xfrm>
          <a:prstGeom prst="roundRect">
            <a:avLst>
              <a:gd name="adj" fmla="val 5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1234440"/>
            <a:ext cx="3959352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F58220"/>
                </a:solidFill>
                <a:latin typeface="Calibri"/>
              </a:rPr>
              <a:t>SCAN TO EXPLORE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92440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79" y="1828800"/>
            <a:ext cx="1508760" cy="1508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046719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PROTOTYPE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3794760"/>
            <a:ext cx="1874519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7"/>
              </a:rPr>
              <a:t>sih2026-w6sr.vercel.app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94392" y="1737360"/>
            <a:ext cx="169164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85832" y="1828800"/>
            <a:ext cx="1508760" cy="1508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948672" y="3520440"/>
            <a:ext cx="17830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58220"/>
                </a:solidFill>
                <a:latin typeface="Calibri"/>
              </a:rPr>
              <a:t>SOURCE CODE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11512" y="3794760"/>
            <a:ext cx="20574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950" b="0">
                <a:solidFill>
                  <a:srgbClr val="1E2530"/>
                </a:solidFill>
                <a:latin typeface="Calibri"/>
              </a:rPr>
              <a:t/>
            </a:r>
            <a:r>
              <a:rPr sz="900" b="1">
                <a:solidFill>
                  <a:srgbClr val="FFFFFF"/>
                </a:solidFill>
                <a:latin typeface="Calibri"/>
                <a:hlinkClick r:id="rId8"/>
              </a:rPr>
              <a:t>github.com/agrwl-utkarsh/sih2026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75320" y="4526280"/>
            <a:ext cx="3227832" cy="27432"/>
          </a:xfrm>
          <a:prstGeom prst="rect">
            <a:avLst/>
          </a:prstGeom>
          <a:solidFill>
            <a:srgbClr val="3A55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09560" y="4754880"/>
            <a:ext cx="395935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09560" y="5486400"/>
            <a:ext cx="3959352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0">
                <a:solidFill>
                  <a:srgbClr val="C9D6EA"/>
                </a:solidFill>
                <a:latin typeface="Calibri"/>
              </a:rPr>
              <a:t>Questions are welcome.</a:t>
            </a:r>
          </a:p>
        </p:txBody>
      </p:sp>
      <p:sp>
        <p:nvSpPr>
          <p:cNvPr id="35" name="Oval 34"/>
          <p:cNvSpPr/>
          <p:nvPr/>
        </p:nvSpPr>
        <p:spPr>
          <a:xfrm>
            <a:off x="320040" y="182880"/>
            <a:ext cx="1463040" cy="731520"/>
          </a:xfrm>
          <a:prstGeom prst="ellipse">
            <a:avLst/>
          </a:prstGeom>
          <a:noFill/>
          <a:ln w="25400">
            <a:solidFill>
              <a:srgbClr val="8064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/>
            <a:r>
              <a:rPr sz="1200" b="1">
                <a:solidFill>
                  <a:srgbClr val="F58220"/>
                </a:solidFill>
                <a:latin typeface="Calibri"/>
              </a:rPr>
              <a:t>[Team Name]</a:t>
            </a:r>
          </a:p>
        </p:txBody>
      </p:sp>
      <p:pic>
        <p:nvPicPr>
          <p:cNvPr id="36" name="Picture 35" descr="sih_icon_s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76688" y="91440"/>
            <a:ext cx="676894" cy="82296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0789920" y="109728"/>
            <a:ext cx="1371600" cy="7772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SMART INDIA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HACKATHON</a:t>
            </a:r>
          </a:p>
          <a:p>
            <a:pPr algn="ctr"/>
            <a:r>
              <a:rPr sz="1250" b="1">
                <a:solidFill>
                  <a:srgbClr val="455A64"/>
                </a:solidFill>
                <a:latin typeface="Calibri"/>
              </a:rPr>
              <a:t>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