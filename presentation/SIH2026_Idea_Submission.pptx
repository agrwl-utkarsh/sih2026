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8840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48840" y="5724144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0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97146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97146" y="5724144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34306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45452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5452" y="5724144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82612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93758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93758" y="5724144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0918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01952"/>
            <a:ext cx="7269480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01952"/>
            <a:ext cx="7269480" cy="36576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1901952"/>
            <a:ext cx="6995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WORKS</a:t>
            </a:r>
            <a:r>
              <a:rPr sz="1100" b="0">
                <a:solidFill>
                  <a:srgbClr val="DCE8FA"/>
                </a:solidFill>
                <a:latin typeface="Calibri"/>
              </a:rPr>
              <a:t>     three simple stages, from raw log to clean record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5488" y="2340864"/>
            <a:ext cx="7050024" cy="10972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5488" y="2340864"/>
            <a:ext cx="1024128" cy="109728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" y="2340864"/>
            <a:ext cx="1024128" cy="10972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COLLECT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IDENTIFY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91056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Multi-source collection: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network devices, servers, apps, databases, cloud and IoT via a web API or Bash collector.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Automatic format identification: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Syslog, JSON, CSV, CEF, LEEF, web and Java logs are recognised on their own.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67428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Unknown format support: </a:t>
            </a:r>
            <a:r>
              <a:rPr sz="950" b="0">
                <a:solidFill>
                  <a:srgbClr val="1E2530"/>
                </a:solidFill>
                <a:latin typeface="Calibri"/>
              </a:rPr>
              <a:t>new or proprietary formats (e.g. XML) are learned once; no parser has to be written.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Real-time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live syslog, Docker and Kubernetes streams are cleaned as they arrive.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Batch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large existing log files can be sent in bulk for one-time cleanup.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5488" y="3511296"/>
            <a:ext cx="7050024" cy="841248"/>
          </a:xfrm>
          <a:prstGeom prst="roundRect">
            <a:avLst>
              <a:gd name="adj" fmla="val 8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75488" y="3511296"/>
            <a:ext cx="1024128" cy="841248"/>
          </a:xfrm>
          <a:prstGeom prst="roundRect">
            <a:avLst>
              <a:gd name="adj" fmla="val 12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3511296"/>
            <a:ext cx="1024128" cy="8412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&amp; 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91056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Universal parsing: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key details are pulled from structured, semi-structured and free-text logs.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Pattern extraction: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repeating lines are grouped into patterns; millions of lines become a few thousand.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67428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Intelligent field mapping: </a:t>
            </a:r>
            <a:r>
              <a:rPr sz="950" b="0">
                <a:solidFill>
                  <a:srgbClr val="1E2530"/>
                </a:solidFill>
                <a:latin typeface="Calibri"/>
              </a:rPr>
              <a:t>'lvl', 'level', 'severity' and other differently named fields land in one field.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Field normalisation: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times become UTC, severity one scale; event type, host, IPs and users are extracted.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" y="4425696"/>
            <a:ext cx="7050024" cy="1024128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5488" y="4425696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5488" y="4425696"/>
            <a:ext cx="1024128" cy="10241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91056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Error &amp; anomaly handling: </a:t>
            </a:r>
            <a:r>
              <a:rPr sz="95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Duplicate removal (planned):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repeated entries are dropped to cut noise and storage.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Common schema: </a:t>
            </a:r>
            <a:r>
              <a:rPr sz="950" b="0">
                <a:solidFill>
                  <a:srgbClr val="1E2530"/>
                </a:solidFill>
                <a:latin typeface="Calibri"/>
              </a:rPr>
              <a:t>every log gets the same fields: time, source, event, severity and message.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67428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Standardised output: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Easy integration: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818120" y="1901952"/>
            <a:ext cx="4050792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818120" y="1901952"/>
            <a:ext cx="4050792" cy="36576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27848" y="1901952"/>
            <a:ext cx="38679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46136" y="2359152"/>
            <a:ext cx="3813048" cy="3136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Too many log formats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common formats are recognised instantly and new ones are learned automatically, so any source can be connected.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Parsers keep breaking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no hand-written parser code to write, fix or maintain; rules are created and saved by the system.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Slow, manual investigation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all logs share one clean, time-aligned and security-tagged format, so analysts search one place.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AI is slow &amp; costly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AI is used only once per new format, never per log line; everyday logs run on fast saved rules.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Messy, unreliable data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fields are standardised, gaps get safe defaults and the original line is always kept for audits.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Compliance &amp; privacy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 records help meet CERT-In's 180-day log rule; can run on-premise with built-in rules (self-hosted AI planned).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5632704"/>
            <a:ext cx="1691640" cy="676656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5632704"/>
            <a:ext cx="1691640" cy="6766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INNOVATION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0" y="1115568"/>
            <a:ext cx="3931920" cy="2743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300" b="1" i="0">
                <a:solidFill>
                  <a:srgbClr val="1F5FBF"/>
                </a:solidFill>
                <a:latin typeface="Calibri"/>
              </a:rPr>
              <a:t>METHODOLOGY: HOW EVERY LOG FLOWS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0" y="1362456"/>
            <a:ext cx="4206240" cy="1828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850" b="0" i="1">
                <a:solidFill>
                  <a:srgbClr val="5B6573"/>
                </a:solidFill>
                <a:latin typeface="Calibri"/>
              </a:rPr>
              <a:t>Follow the numbers. Logos show the technology used in each step.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669280" y="1572768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669280" y="1609344"/>
            <a:ext cx="54864" cy="347472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5788152" y="1636776"/>
            <a:ext cx="292608" cy="292608"/>
          </a:xfrm>
          <a:prstGeom prst="ellipse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44768" y="1591056"/>
            <a:ext cx="2560320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4A5568"/>
                </a:solidFill>
                <a:latin typeface="Calibri"/>
              </a:rPr>
              <a:t>Logs arrive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Servers, apps &amp; firewalls send raw logs; multi-line errors joined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1664" y="1645920"/>
            <a:ext cx="274320" cy="274320"/>
          </a:xfrm>
          <a:prstGeom prst="rect">
            <a:avLst/>
          </a:prstGeom>
        </p:spPr>
      </p:pic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70848" y="1645920"/>
            <a:ext cx="274320" cy="274320"/>
          </a:xfrm>
          <a:prstGeom prst="rect">
            <a:avLst/>
          </a:prstGeom>
        </p:spPr>
      </p:pic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1645920"/>
            <a:ext cx="274320" cy="274320"/>
          </a:xfrm>
          <a:prstGeom prst="rect">
            <a:avLst/>
          </a:prstGeom>
        </p:spPr>
      </p:pic>
      <p:sp>
        <p:nvSpPr>
          <p:cNvPr id="147" name="Rounded Rectangle 146"/>
          <p:cNvSpPr/>
          <p:nvPr/>
        </p:nvSpPr>
        <p:spPr>
          <a:xfrm>
            <a:off x="5669280" y="2084832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0" y="2121408"/>
            <a:ext cx="54864" cy="34747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88152" y="2148840"/>
            <a:ext cx="292608" cy="292608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144768" y="2103120"/>
            <a:ext cx="321868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1F5FBF"/>
                </a:solidFill>
                <a:latin typeface="Calibri"/>
              </a:rPr>
              <a:t>Seen this exact line before?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Instant match against saved line shapes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157984"/>
            <a:ext cx="274320" cy="274320"/>
          </a:xfrm>
          <a:prstGeom prst="rect">
            <a:avLst/>
          </a:prstGeom>
        </p:spPr>
      </p:pic>
      <p:sp>
        <p:nvSpPr>
          <p:cNvPr id="152" name="Rounded Rectangle 151"/>
          <p:cNvSpPr/>
          <p:nvPr/>
        </p:nvSpPr>
        <p:spPr>
          <a:xfrm>
            <a:off x="5669280" y="2596896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669280" y="2633472"/>
            <a:ext cx="54864" cy="347472"/>
          </a:xfrm>
          <a:prstGeom prst="rect">
            <a:avLst/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788152" y="2660904"/>
            <a:ext cx="292608" cy="292608"/>
          </a:xfrm>
          <a:prstGeom prst="ellipse">
            <a:avLst/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144768" y="2615184"/>
            <a:ext cx="321868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2C7BB6"/>
                </a:solidFill>
                <a:latin typeface="Calibri"/>
              </a:rPr>
              <a:t>Group similar lines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Lines differing only in values (IP, time, ID) become one pattern</a:t>
            </a:r>
          </a:p>
        </p:txBody>
      </p:sp>
      <p:sp>
        <p:nvSpPr>
          <p:cNvPr id="156" name="Oval 155"/>
          <p:cNvSpPr/>
          <p:nvPr/>
        </p:nvSpPr>
        <p:spPr>
          <a:xfrm>
            <a:off x="9400032" y="2670048"/>
            <a:ext cx="274320" cy="274320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669280" y="3108960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69280" y="3145536"/>
            <a:ext cx="54864" cy="34747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788152" y="3172968"/>
            <a:ext cx="292608" cy="292608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144768" y="3127248"/>
            <a:ext cx="321868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1F5FBF"/>
                </a:solidFill>
                <a:latin typeface="Calibri"/>
              </a:rPr>
              <a:t>Is there a saved rule?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Looks up the rule store for this pattern</a:t>
            </a:r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00032" y="3182112"/>
            <a:ext cx="274320" cy="274320"/>
          </a:xfrm>
          <a:prstGeom prst="rect">
            <a:avLst/>
          </a:prstGeom>
        </p:spPr>
      </p:pic>
      <p:sp>
        <p:nvSpPr>
          <p:cNvPr id="162" name="Rounded Rectangle 161"/>
          <p:cNvSpPr/>
          <p:nvPr/>
        </p:nvSpPr>
        <p:spPr>
          <a:xfrm>
            <a:off x="5669280" y="3621024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3657600"/>
            <a:ext cx="54864" cy="347472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788152" y="3685032"/>
            <a:ext cx="292608" cy="292608"/>
          </a:xfrm>
          <a:prstGeom prst="ellipse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44768" y="3639312"/>
            <a:ext cx="321868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6A3FB5"/>
                </a:solidFill>
                <a:latin typeface="Calibri"/>
              </a:rPr>
              <a:t>Is the format familiar?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ML model compares it with known log families</a:t>
            </a:r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3694176"/>
            <a:ext cx="274320" cy="274320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5669280" y="4133088"/>
            <a:ext cx="2002536" cy="420624"/>
          </a:xfrm>
          <a:prstGeom prst="roundRect">
            <a:avLst>
              <a:gd name="adj" fmla="val 14000"/>
            </a:avLst>
          </a:prstGeom>
          <a:solidFill>
            <a:srgbClr val="FFF6EC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669280" y="4169664"/>
            <a:ext cx="54864" cy="347472"/>
          </a:xfrm>
          <a:prstGeom prst="rect">
            <a:avLst/>
          </a:prstGeom>
          <a:solidFill>
            <a:srgbClr val="E07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788152" y="4197096"/>
            <a:ext cx="292608" cy="292608"/>
          </a:xfrm>
          <a:prstGeom prst="ellipse">
            <a:avLst/>
          </a:prstGeom>
          <a:solidFill>
            <a:srgbClr val="E07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144768" y="4151376"/>
            <a:ext cx="996696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00" b="1" i="0">
                <a:solidFill>
                  <a:srgbClr val="E07A10"/>
                </a:solidFill>
                <a:latin typeface="Calibri"/>
              </a:rPr>
              <a:t>AI writes a rule</a:t>
            </a:r>
          </a:p>
          <a:p>
            <a:r>
              <a:rPr sz="800" b="0" i="0">
                <a:solidFill>
                  <a:srgbClr val="3A4250"/>
                </a:solidFill>
                <a:latin typeface="Calibri"/>
              </a:rPr>
              <a:t>once per pattern</a:t>
            </a:r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4242816"/>
            <a:ext cx="201168" cy="201168"/>
          </a:xfrm>
          <a:prstGeom prst="rect">
            <a:avLst/>
          </a:prstGeom>
        </p:spPr>
      </p:pic>
      <p:pic>
        <p:nvPicPr>
          <p:cNvPr id="172" name="Picture 17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208" y="4242816"/>
            <a:ext cx="201168" cy="201168"/>
          </a:xfrm>
          <a:prstGeom prst="rect">
            <a:avLst/>
          </a:prstGeom>
        </p:spPr>
      </p:pic>
      <p:sp>
        <p:nvSpPr>
          <p:cNvPr id="173" name="Rounded Rectangle 172"/>
          <p:cNvSpPr/>
          <p:nvPr/>
        </p:nvSpPr>
        <p:spPr>
          <a:xfrm>
            <a:off x="7763256" y="4133088"/>
            <a:ext cx="2002536" cy="420624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763256" y="4169664"/>
            <a:ext cx="54864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882128" y="4197096"/>
            <a:ext cx="292608" cy="29260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5b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238744" y="4151376"/>
            <a:ext cx="1124712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00" b="1" i="0">
                <a:solidFill>
                  <a:srgbClr val="C0392B"/>
                </a:solidFill>
                <a:latin typeface="Calibri"/>
              </a:rPr>
              <a:t>Hold for review</a:t>
            </a:r>
          </a:p>
          <a:p>
            <a:r>
              <a:rPr sz="800" b="0" i="0">
                <a:solidFill>
                  <a:srgbClr val="3A4250"/>
                </a:solidFill>
                <a:latin typeface="Calibri"/>
              </a:rPr>
              <a:t>learned once it repeats</a:t>
            </a:r>
          </a:p>
        </p:txBody>
      </p:sp>
      <p:pic>
        <p:nvPicPr>
          <p:cNvPr id="177" name="Picture 17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4206240"/>
            <a:ext cx="274320" cy="274320"/>
          </a:xfrm>
          <a:prstGeom prst="rect">
            <a:avLst/>
          </a:prstGeom>
        </p:spPr>
      </p:pic>
      <p:sp>
        <p:nvSpPr>
          <p:cNvPr id="178" name="Rounded Rectangle 177"/>
          <p:cNvSpPr/>
          <p:nvPr/>
        </p:nvSpPr>
        <p:spPr>
          <a:xfrm>
            <a:off x="5669280" y="4645152"/>
            <a:ext cx="409651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669280" y="4681728"/>
            <a:ext cx="54864" cy="347472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5788152" y="4709160"/>
            <a:ext cx="292608" cy="292608"/>
          </a:xfrm>
          <a:prstGeom prst="ellipse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144768" y="4663440"/>
            <a:ext cx="321868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0E8C8C"/>
                </a:solidFill>
                <a:latin typeface="Calibri"/>
              </a:rPr>
              <a:t>Save the rule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Stored, so every future matching line skips AI</a:t>
            </a:r>
          </a:p>
        </p:txBody>
      </p:sp>
      <p:pic>
        <p:nvPicPr>
          <p:cNvPr id="182" name="Picture 18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00032" y="4718304"/>
            <a:ext cx="274320" cy="274320"/>
          </a:xfrm>
          <a:prstGeom prst="rect">
            <a:avLst/>
          </a:prstGeom>
        </p:spPr>
      </p:pic>
      <p:sp>
        <p:nvSpPr>
          <p:cNvPr id="183" name="Rounded Rectangle 182"/>
          <p:cNvSpPr/>
          <p:nvPr/>
        </p:nvSpPr>
        <p:spPr>
          <a:xfrm>
            <a:off x="5669280" y="5157216"/>
            <a:ext cx="610819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669280" y="5193792"/>
            <a:ext cx="54864" cy="347472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788152" y="5221224"/>
            <a:ext cx="292608" cy="292608"/>
          </a:xfrm>
          <a:prstGeom prst="ellipse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144768" y="5175504"/>
            <a:ext cx="52303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138A36"/>
                </a:solidFill>
                <a:latin typeface="Calibri"/>
              </a:rPr>
              <a:t>Clean up every line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Fields mapped · time → UTC · one severity scale · IPs &amp; users tagged · original line kept</a:t>
            </a:r>
          </a:p>
        </p:txBody>
      </p:sp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230368"/>
            <a:ext cx="274320" cy="274320"/>
          </a:xfrm>
          <a:prstGeom prst="rect">
            <a:avLst/>
          </a:prstGeom>
        </p:spPr>
      </p:pic>
      <p:sp>
        <p:nvSpPr>
          <p:cNvPr id="188" name="Rounded Rectangle 187"/>
          <p:cNvSpPr/>
          <p:nvPr/>
        </p:nvSpPr>
        <p:spPr>
          <a:xfrm>
            <a:off x="5669280" y="5669280"/>
            <a:ext cx="6108192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669280" y="5705856"/>
            <a:ext cx="54864" cy="34747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788152" y="5733288"/>
            <a:ext cx="292608" cy="292608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144768" y="5687568"/>
            <a:ext cx="4901184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050" b="1" i="0">
                <a:solidFill>
                  <a:srgbClr val="0B2A5B"/>
                </a:solidFill>
                <a:latin typeface="Calibri"/>
              </a:rPr>
              <a:t>One clean JSON format out</a:t>
            </a:r>
          </a:p>
          <a:p>
            <a:r>
              <a:rPr sz="850" b="0" i="0">
                <a:solidFill>
                  <a:srgbClr val="3A4250"/>
                </a:solidFill>
                <a:latin typeface="Calibri"/>
              </a:rPr>
              <a:t>Ready for SIEM tools, dashboards and search</a:t>
            </a:r>
          </a:p>
        </p:txBody>
      </p:sp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2528" y="5742432"/>
            <a:ext cx="274320" cy="274320"/>
          </a:xfrm>
          <a:prstGeom prst="rect">
            <a:avLst/>
          </a:prstGeom>
        </p:spPr>
      </p:pic>
      <p:pic>
        <p:nvPicPr>
          <p:cNvPr id="193" name="Picture 19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1712" y="5742432"/>
            <a:ext cx="274320" cy="274320"/>
          </a:xfrm>
          <a:prstGeom prst="rect">
            <a:avLst/>
          </a:prstGeom>
        </p:spPr>
      </p:pic>
      <p:sp>
        <p:nvSpPr>
          <p:cNvPr id="194" name="Rounded Rectangle 193"/>
          <p:cNvSpPr/>
          <p:nvPr/>
        </p:nvSpPr>
        <p:spPr>
          <a:xfrm>
            <a:off x="5614416" y="4087368"/>
            <a:ext cx="4206240" cy="102412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F283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194"/>
          <p:cNvCxnSpPr/>
          <p:nvPr/>
        </p:nvCxnSpPr>
        <p:spPr>
          <a:xfrm>
            <a:off x="5934456" y="1993392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5934456" y="2505456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5934456" y="3017520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934456" y="3529584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5998464" y="2487168"/>
            <a:ext cx="36576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998464" y="3511296"/>
            <a:ext cx="36576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5934456" y="4041648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8028432" y="4041648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/>
          <p:cNvSpPr txBox="1"/>
          <p:nvPr/>
        </p:nvSpPr>
        <p:spPr>
          <a:xfrm>
            <a:off x="5998464" y="4023360"/>
            <a:ext cx="73152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6A3FB5"/>
                </a:solidFill>
                <a:latin typeface="Calibri"/>
              </a:rPr>
              <a:t>familiar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092440" y="4023360"/>
            <a:ext cx="73152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6A3FB5"/>
                </a:solidFill>
                <a:latin typeface="Calibri"/>
              </a:rPr>
              <a:t>brand-new</a:t>
            </a:r>
          </a:p>
        </p:txBody>
      </p:sp>
      <p:cxnSp>
        <p:nvCxnSpPr>
          <p:cNvPr id="205" name="Connector 204"/>
          <p:cNvCxnSpPr/>
          <p:nvPr/>
        </p:nvCxnSpPr>
        <p:spPr>
          <a:xfrm>
            <a:off x="5934456" y="4553712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8028432" y="4553712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5934456" y="5065776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5934456" y="5577840"/>
            <a:ext cx="0" cy="91440"/>
          </a:xfrm>
          <a:prstGeom prst="line">
            <a:avLst/>
          </a:prstGeom>
          <a:ln w="19050">
            <a:solidFill>
              <a:srgbClr val="8A94A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Rounded Rectangle 208"/>
          <p:cNvSpPr/>
          <p:nvPr/>
        </p:nvSpPr>
        <p:spPr>
          <a:xfrm>
            <a:off x="10040112" y="2130552"/>
            <a:ext cx="384048" cy="2916936"/>
          </a:xfrm>
          <a:prstGeom prst="roundRect">
            <a:avLst>
              <a:gd name="adj" fmla="val 5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 rot="16200000">
            <a:off x="8773668" y="3396996"/>
            <a:ext cx="2916936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FAST PATH  ·  most logs  ·  no AI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10232136" y="5047488"/>
            <a:ext cx="0" cy="109728"/>
          </a:xfrm>
          <a:prstGeom prst="line">
            <a:avLst/>
          </a:prstGeom>
          <a:ln w="25400">
            <a:solidFill>
              <a:srgbClr val="138A3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9765792" y="2295144"/>
            <a:ext cx="274320" cy="0"/>
          </a:xfrm>
          <a:prstGeom prst="line">
            <a:avLst/>
          </a:prstGeom>
          <a:ln w="22225">
            <a:solidFill>
              <a:srgbClr val="138A3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9774936" y="2112264"/>
            <a:ext cx="27432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214" name="Connector 213"/>
          <p:cNvCxnSpPr/>
          <p:nvPr/>
        </p:nvCxnSpPr>
        <p:spPr>
          <a:xfrm>
            <a:off x="9765792" y="3319272"/>
            <a:ext cx="274320" cy="0"/>
          </a:xfrm>
          <a:prstGeom prst="line">
            <a:avLst/>
          </a:prstGeom>
          <a:ln w="22225">
            <a:solidFill>
              <a:srgbClr val="138A3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9774936" y="3136392"/>
            <a:ext cx="274320" cy="16459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75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0515600" y="2084832"/>
            <a:ext cx="1261872" cy="1444752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552176" y="2084832"/>
            <a:ext cx="1188720" cy="144475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38A36"/>
                </a:solidFill>
                <a:latin typeface="Calibri"/>
              </a:rPr>
              <a:t>Known log?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Goes 1 → 2 (or 4)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→ 7 → 8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instant, no AI cost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0515600" y="3712464"/>
            <a:ext cx="1261872" cy="1335024"/>
          </a:xfrm>
          <a:prstGeom prst="roundRect">
            <a:avLst>
              <a:gd name="adj" fmla="val 10000"/>
            </a:avLst>
          </a:prstGeom>
          <a:solidFill>
            <a:srgbClr val="FFF6EC"/>
          </a:solidFill>
          <a:ln w="12700">
            <a:solidFill>
              <a:srgbClr val="F283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552176" y="3712464"/>
            <a:ext cx="1188720" cy="133502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06010"/>
                </a:solidFill>
                <a:latin typeface="Calibri"/>
              </a:rPr>
              <a:t>New format?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Goes through 5 → 6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AI used once, then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it joins the fast path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AI down? backup AI,</a:t>
            </a:r>
          </a:p>
          <a:p>
            <a:pPr algn="ctr"/>
            <a:r>
              <a:rPr sz="800" b="0" i="0">
                <a:solidFill>
                  <a:srgbClr val="2B3340"/>
                </a:solidFill>
                <a:latin typeface="Calibri"/>
              </a:rPr>
              <a:t>then built-in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