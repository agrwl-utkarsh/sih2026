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format out: AI learns each new format once, then saved rules do the rest.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1024128"/>
            <a:ext cx="11503152" cy="786384"/>
          </a:xfrm>
          <a:prstGeom prst="roundRect">
            <a:avLst>
              <a:gd name="adj" fmla="val 12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1161288"/>
            <a:ext cx="1417320" cy="51206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1161288"/>
            <a:ext cx="14173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1042416"/>
            <a:ext cx="969264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Hundreds of log formats in, </a:t>
            </a:r>
            <a:r>
              <a:rPr sz="1600" b="1">
                <a:solidFill>
                  <a:srgbClr val="FFC98A"/>
                </a:solidFill>
                <a:latin typeface="Calibri"/>
              </a:rPr>
              <a:t>one clean format out</a:t>
            </a:r>
            <a:r>
              <a:rPr sz="1600" b="0">
                <a:solidFill>
                  <a:srgbClr val="FFFFFF"/>
                </a:solidFill>
                <a:latin typeface="Calibri"/>
              </a:rPr>
              <a:t>: AI learns each new format </a:t>
            </a:r>
            <a:r>
              <a:rPr sz="1600" b="1">
                <a:solidFill>
                  <a:srgbClr val="FFC98A"/>
                </a:solidFill>
                <a:latin typeface="Calibri"/>
              </a:rPr>
              <a:t>once</a:t>
            </a:r>
            <a:r>
              <a:rPr sz="1600" b="0">
                <a:solidFill>
                  <a:srgbClr val="FFFFFF"/>
                </a:solidFill>
                <a:latin typeface="Calibri"/>
              </a:rPr>
              <a:t>, and saved rules handle it from then on.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148840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48840" y="5724144"/>
            <a:ext cx="64008" cy="493776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286000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F5FBF"/>
                </a:solidFill>
                <a:latin typeface="Calibri"/>
              </a:rPr>
              <a:t>Learns by itself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no hand-written rules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97146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97146" y="5724144"/>
            <a:ext cx="64008" cy="4937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34306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58220"/>
                </a:solidFill>
                <a:latin typeface="Calibri"/>
              </a:rPr>
              <a:t>AI only when needed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keeps cost 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045452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45452" y="5724144"/>
            <a:ext cx="64008" cy="493776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82612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6A3FB5"/>
                </a:solidFill>
                <a:latin typeface="Calibri"/>
              </a:rPr>
              <a:t>Flags unknown formats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sent for human review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493758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493758" y="5724144"/>
            <a:ext cx="64008" cy="49377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30918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38A36"/>
                </a:solidFill>
                <a:latin typeface="Calibri"/>
              </a:rPr>
              <a:t>Security-aware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tags failed logins, IPs &amp; users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1901952"/>
            <a:ext cx="7269480" cy="36393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65760" y="1901952"/>
            <a:ext cx="7269480" cy="36576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920" y="1901952"/>
            <a:ext cx="6995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HOW IT WORKS</a:t>
            </a:r>
            <a:r>
              <a:rPr sz="1100" b="0">
                <a:solidFill>
                  <a:srgbClr val="DCE8FA"/>
                </a:solidFill>
                <a:latin typeface="Calibri"/>
              </a:rPr>
              <a:t>     three simple stages, from raw log to clean record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5488" y="2340864"/>
            <a:ext cx="7050024" cy="109728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75488" y="2340864"/>
            <a:ext cx="1024128" cy="1097280"/>
          </a:xfrm>
          <a:prstGeom prst="roundRect">
            <a:avLst>
              <a:gd name="adj" fmla="val 12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75488" y="2340864"/>
            <a:ext cx="1024128" cy="10972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COLLECT &amp;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IDENTIFY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91056" y="2386584"/>
            <a:ext cx="2921508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Multi-source collection: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network devices, servers, apps, databases, cloud and IoT via a web API or Bash collector.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Automatic format identification: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Syslog, JSON, CSV, CEF, LEEF, web and Java logs are recognised on their own.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67428" y="2386584"/>
            <a:ext cx="2921508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Unknown format support: </a:t>
            </a:r>
            <a:r>
              <a:rPr sz="950" b="0">
                <a:solidFill>
                  <a:srgbClr val="1E2530"/>
                </a:solidFill>
                <a:latin typeface="Calibri"/>
              </a:rPr>
              <a:t>new or proprietary formats (e.g. XML) are learned once; no parser has to be written.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Real-time processing: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live syslog, Docker and Kubernetes streams are cleaned as they arrive.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Batch processing: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large existing log files can be sent in bulk for one-time cleanup.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75488" y="3511296"/>
            <a:ext cx="7050024" cy="841248"/>
          </a:xfrm>
          <a:prstGeom prst="roundRect">
            <a:avLst>
              <a:gd name="adj" fmla="val 8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75488" y="3511296"/>
            <a:ext cx="1024128" cy="841248"/>
          </a:xfrm>
          <a:prstGeom prst="roundRect">
            <a:avLst>
              <a:gd name="adj" fmla="val 12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5488" y="3511296"/>
            <a:ext cx="1024128" cy="8412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UNDERSTAND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&amp; MAP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591056" y="3557016"/>
            <a:ext cx="2921508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Universal parsing: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key details are pulled from structured, semi-structured and free-text logs.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Pattern extraction: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repeating lines are grouped into patterns; millions of lines become a few thousand.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67428" y="3557016"/>
            <a:ext cx="2921508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Intelligent field mapping: </a:t>
            </a:r>
            <a:r>
              <a:rPr sz="950" b="0">
                <a:solidFill>
                  <a:srgbClr val="1E2530"/>
                </a:solidFill>
                <a:latin typeface="Calibri"/>
              </a:rPr>
              <a:t>'lvl', 'level', 'severity' and other differently named fields land in one field.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Field normalisation: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times become UTC, severity one scale; event type, host, IPs and users are extracted.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75488" y="4425696"/>
            <a:ext cx="7050024" cy="1024128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75488" y="4425696"/>
            <a:ext cx="1024128" cy="1024128"/>
          </a:xfrm>
          <a:prstGeom prst="roundRect">
            <a:avLst>
              <a:gd name="adj" fmla="val 12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75488" y="4425696"/>
            <a:ext cx="1024128" cy="10241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CLEAN &amp;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DELIVER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91056" y="4471416"/>
            <a:ext cx="2921508" cy="9509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Error &amp; anomaly handling: </a:t>
            </a:r>
            <a:r>
              <a:rPr sz="950" b="0">
                <a:solidFill>
                  <a:srgbClr val="1E2530"/>
                </a:solidFill>
                <a:latin typeface="Calibri"/>
              </a:rPr>
              <a:t>missing fields get safe defaults; unusual lines are flagged for review.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Duplicate removal (planned): </a:t>
            </a:r>
            <a:r>
              <a:rPr sz="950" b="0">
                <a:solidFill>
                  <a:srgbClr val="1E2530"/>
                </a:solidFill>
                <a:latin typeface="Calibri"/>
              </a:rPr>
              <a:t>repeated entries are dropped to cut noise and storage.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Common schema: </a:t>
            </a:r>
            <a:r>
              <a:rPr sz="950" b="0">
                <a:solidFill>
                  <a:srgbClr val="1E2530"/>
                </a:solidFill>
                <a:latin typeface="Calibri"/>
              </a:rPr>
              <a:t>every log gets the same fields: time, source, event, severity and message.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67428" y="4471416"/>
            <a:ext cx="2921508" cy="9509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Standardised output: </a:t>
            </a:r>
            <a:r>
              <a:rPr sz="950" b="0">
                <a:solidFill>
                  <a:srgbClr val="1E2530"/>
                </a:solidFill>
                <a:latin typeface="Calibri"/>
              </a:rPr>
              <a:t>clean, machine-readable JSON for SIEM, monitoring &amp; analytics (connectors planned).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Easy integration: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one simple interface for every downstream tool, whatever the original source.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818120" y="1901952"/>
            <a:ext cx="4050792" cy="36393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7818120" y="1901952"/>
            <a:ext cx="4050792" cy="36576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27848" y="1901952"/>
            <a:ext cx="38679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46136" y="2359152"/>
            <a:ext cx="3813048" cy="31363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Too many log formats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common formats are recognised instantly and new ones are learned automatically, so any source can be connected.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Parsers keep breaking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no hand-written parser code to write, fix or maintain; rules are created and saved by the system.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Slow, manual investigation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all logs share one clean, time-aligned and security-tagged format, so analysts search one place.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AI is slow &amp; costly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AI is used only once per new format, never per log line; everyday logs run on fast saved rules.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Messy, unreliable data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fields are standardised, gaps get safe defaults and the original line is always kept for audits.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Compliance &amp; privacy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clean records help meet CERT-In's 180-day log rule; can run on-premise with built-in rules (self-hosted AI planned).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65760" y="5632704"/>
            <a:ext cx="1691640" cy="676656"/>
          </a:xfrm>
          <a:prstGeom prst="roundRect">
            <a:avLst>
              <a:gd name="adj" fmla="val 1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65760" y="5632704"/>
            <a:ext cx="1691640" cy="6766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INNOVATION &amp;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UNIQUENESS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one rule per new log format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Quality reports: </a:t>
            </a:r>
            <a:r>
              <a:rPr sz="850" b="0">
                <a:solidFill>
                  <a:srgbClr val="5F6B7A"/>
                </a:solidFill>
                <a:latin typeface="Calibri"/>
              </a:rPr>
              <a:t>checks output quality offline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syslog, journalctl, Docker, Kubernetes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0B2A5B"/>
                </a:solidFill>
                <a:latin typeface="Calibri"/>
              </a:rPr>
              <a:t>Example: messy logs in → clean logs out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02336" y="4389120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65760" y="448056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0" y="4498848"/>
            <a:ext cx="47548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8E44AD"/>
                </a:solidFill>
                <a:latin typeface="Consolas"/>
              </a:rPr>
              <a:t>&lt;34&gt;Oct 11 22:14:15 srv1 sshd: Failed password for root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35C00"/>
                </a:solidFill>
                <a:latin typeface="Consolas"/>
              </a:rPr>
              <a:t>{"t":"22:14:16Z","lvl":"ERROR","msg":"DB connection timeout"}</a:t>
            </a:r>
          </a:p>
          <a:p>
            <a:pPr algn="l"/>
            <a:r>
              <a:rPr sz="900" b="0">
                <a:solidFill>
                  <a:srgbClr val="1F5FBF"/>
                </a:solidFill>
                <a:latin typeface="Consolas"/>
              </a:rPr>
              <a:t>10.0.0.5 - [11/Oct/2026:22:14:17] "GET /login" 500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5175504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▼  one common format</a:t>
            </a:r>
          </a:p>
        </p:txBody>
      </p:sp>
      <p:sp>
        <p:nvSpPr>
          <p:cNvPr id="136" name="TextBox 94"/>
          <p:cNvSpPr txBox="1"/>
          <p:nvPr/>
        </p:nvSpPr>
        <p:spPr>
          <a:xfrm>
            <a:off x="365760" y="6153912"/>
            <a:ext cx="49377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 i="1">
                <a:solidFill>
                  <a:srgbClr val="555F6D"/>
                </a:solidFill>
                <a:latin typeface="Calibri"/>
              </a:rPr>
              <a:t>Every record also keeps the original line and extra fields (IPs, users, ports) for audits.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Time (UTC)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99"/>
          <p:cNvSpPr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129" name="TextBox 100"/>
          <p:cNvSpPr txBox="1"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Event tag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Message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sshd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07"/>
          <p:cNvSpPr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B35C00"/>
                </a:solidFill>
                <a:latin typeface="Calibri"/>
              </a:rPr>
              <a:t>WARNING</a:t>
            </a:r>
          </a:p>
        </p:txBody>
      </p:sp>
      <p:sp>
        <p:nvSpPr>
          <p:cNvPr id="131" name="TextBox 108"/>
          <p:cNvSpPr txBox="1"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auth_failure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Failed login (root)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app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15"/>
          <p:cNvSpPr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3" name="TextBox 116"/>
          <p:cNvSpPr txBox="1"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connection_error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DB connection timeout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web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23"/>
          <p:cNvSpPr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5" name="TextBox 124"/>
          <p:cNvSpPr txBox="1"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http_request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GET /login → 500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7F9FC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669280" y="1106424"/>
            <a:ext cx="3840480" cy="292608"/>
          </a:xfrm>
          <a:prstGeom prst="rect">
            <a:avLst/>
          </a:prstGeom>
          <a:noFill/>
        </p:spPr>
        <p:txBody>
          <a:bodyPr wrap="square" lIns="45720" rIns="45720" tIns="9144" bIns="9144" anchor="ctr">
            <a:spAutoFit/>
          </a:bodyPr>
          <a:lstStyle/>
          <a:p>
            <a:r>
              <a:rPr sz="1300" b="1">
                <a:solidFill>
                  <a:srgbClr val="1F5FBF"/>
                </a:solidFill>
                <a:latin typeface="Calibri"/>
              </a:rPr>
              <a:t>METHODOLOGY: HOW EVERY LOG FLOWS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601200" y="1179576"/>
            <a:ext cx="201168" cy="128016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829800" y="1152144"/>
            <a:ext cx="8686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1">
                <a:solidFill>
                  <a:srgbClr val="138A36"/>
                </a:solidFill>
                <a:latin typeface="Calibri"/>
              </a:rPr>
              <a:t>fast path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698480" y="1179576"/>
            <a:ext cx="201168" cy="128016"/>
          </a:xfrm>
          <a:prstGeom prst="roundRect">
            <a:avLst>
              <a:gd name="adj" fmla="val 30000"/>
            </a:avLst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927080" y="1152144"/>
            <a:ext cx="8686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1">
                <a:solidFill>
                  <a:srgbClr val="C06010"/>
                </a:solidFill>
                <a:latin typeface="Calibri"/>
              </a:rPr>
              <a:t>AI path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715000" y="1463040"/>
            <a:ext cx="3200400" cy="420624"/>
          </a:xfrm>
          <a:prstGeom prst="roundRect">
            <a:avLst>
              <a:gd name="adj" fmla="val 15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715000" y="1463040"/>
            <a:ext cx="3200400" cy="420624"/>
          </a:xfrm>
          <a:prstGeom prst="rect">
            <a:avLst/>
          </a:prstGeom>
          <a:noFill/>
        </p:spPr>
        <p:txBody>
          <a:bodyPr wrap="square" lIns="45720" rIns="45720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  Logs come in</a:t>
            </a:r>
          </a:p>
          <a:p>
            <a:pPr algn="ctr"/>
            <a:r>
              <a:rPr sz="850" b="0">
                <a:solidFill>
                  <a:srgbClr val="EEF3FA"/>
                </a:solidFill>
                <a:latin typeface="Calibri"/>
              </a:rPr>
              <a:t>web API or Bash collector · multi-line errors joined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715000" y="1993392"/>
            <a:ext cx="3200400" cy="420624"/>
          </a:xfrm>
          <a:prstGeom prst="roundRect">
            <a:avLst>
              <a:gd name="adj" fmla="val 1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715000" y="1993392"/>
            <a:ext cx="3200400" cy="420624"/>
          </a:xfrm>
          <a:prstGeom prst="rect">
            <a:avLst/>
          </a:prstGeom>
          <a:noFill/>
        </p:spPr>
        <p:txBody>
          <a:bodyPr wrap="square" lIns="45720" rIns="45720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  Seen this exact line shape before?</a:t>
            </a:r>
          </a:p>
          <a:p>
            <a:pPr algn="ctr"/>
            <a:r>
              <a:rPr sz="850" b="0">
                <a:solidFill>
                  <a:srgbClr val="EEF3FA"/>
                </a:solidFill>
                <a:latin typeface="Calibri"/>
              </a:rPr>
              <a:t>quick fingerprint check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715000" y="2523744"/>
            <a:ext cx="3200400" cy="420624"/>
          </a:xfrm>
          <a:prstGeom prst="roundRect">
            <a:avLst>
              <a:gd name="adj" fmla="val 1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15000" y="2523744"/>
            <a:ext cx="3200400" cy="420624"/>
          </a:xfrm>
          <a:prstGeom prst="rect">
            <a:avLst/>
          </a:prstGeom>
          <a:noFill/>
        </p:spPr>
        <p:txBody>
          <a:bodyPr wrap="square" lIns="45720" rIns="45720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  Group similar lines (Drain3)</a:t>
            </a:r>
          </a:p>
          <a:p>
            <a:pPr algn="ctr"/>
            <a:r>
              <a:rPr sz="850" b="0">
                <a:solidFill>
                  <a:srgbClr val="EEF3FA"/>
                </a:solidFill>
                <a:latin typeface="Calibri"/>
              </a:rPr>
              <a:t>millions of lines → a few thousand patterns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715000" y="3054096"/>
            <a:ext cx="3200400" cy="420624"/>
          </a:xfrm>
          <a:prstGeom prst="roundRect">
            <a:avLst>
              <a:gd name="adj" fmla="val 1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715000" y="3054096"/>
            <a:ext cx="3200400" cy="420624"/>
          </a:xfrm>
          <a:prstGeom prst="rect">
            <a:avLst/>
          </a:prstGeom>
          <a:noFill/>
        </p:spPr>
        <p:txBody>
          <a:bodyPr wrap="square" lIns="45720" rIns="45720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  Does this pattern have a saved rule?</a:t>
            </a:r>
          </a:p>
          <a:p>
            <a:pPr algn="ctr"/>
            <a:r>
              <a:rPr sz="850" b="0">
                <a:solidFill>
                  <a:srgbClr val="EEF3FA"/>
                </a:solidFill>
                <a:latin typeface="Calibri"/>
              </a:rPr>
              <a:t>checked once per pattern, not per line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715000" y="3584448"/>
            <a:ext cx="3200400" cy="420624"/>
          </a:xfrm>
          <a:prstGeom prst="roundRect">
            <a:avLst>
              <a:gd name="adj" fmla="val 15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715000" y="3584448"/>
            <a:ext cx="3200400" cy="420624"/>
          </a:xfrm>
          <a:prstGeom prst="rect">
            <a:avLst/>
          </a:prstGeom>
          <a:noFill/>
        </p:spPr>
        <p:txBody>
          <a:bodyPr wrap="square" lIns="45720" rIns="45720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  ML format check (scikit-learn)</a:t>
            </a:r>
          </a:p>
          <a:p>
            <a:pPr algn="ctr"/>
            <a:r>
              <a:rPr sz="850" b="0">
                <a:solidFill>
                  <a:srgbClr val="EEF3FA"/>
                </a:solidFill>
                <a:latin typeface="Calibri"/>
              </a:rPr>
              <a:t>known log family, or a brand-new format?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715000" y="4114800"/>
            <a:ext cx="1554480" cy="420624"/>
          </a:xfrm>
          <a:prstGeom prst="roundRect">
            <a:avLst>
              <a:gd name="adj" fmla="val 15000"/>
            </a:avLst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15000" y="4114800"/>
            <a:ext cx="1554480" cy="420624"/>
          </a:xfrm>
          <a:prstGeom prst="rect">
            <a:avLst/>
          </a:prstGeom>
          <a:noFill/>
        </p:spPr>
        <p:txBody>
          <a:bodyPr wrap="square" lIns="45720" rIns="45720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AI writes a rule</a:t>
            </a:r>
          </a:p>
          <a:p>
            <a:pPr algn="ctr"/>
            <a:r>
              <a:rPr sz="750" b="0">
                <a:solidFill>
                  <a:srgbClr val="FFF4E8"/>
                </a:solidFill>
                <a:latin typeface="Calibri"/>
              </a:rPr>
              <a:t>once per pattern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7360920" y="4114800"/>
            <a:ext cx="1554480" cy="420624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360920" y="4114800"/>
            <a:ext cx="1554480" cy="420624"/>
          </a:xfrm>
          <a:prstGeom prst="rect">
            <a:avLst/>
          </a:prstGeom>
          <a:noFill/>
        </p:spPr>
        <p:txBody>
          <a:bodyPr wrap="square" lIns="45720" rIns="45720" tIns="9144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Hold for review</a:t>
            </a:r>
          </a:p>
          <a:p>
            <a:pPr algn="ctr"/>
            <a:r>
              <a:rPr sz="750" b="0">
                <a:solidFill>
                  <a:srgbClr val="FDECEA"/>
                </a:solidFill>
                <a:latin typeface="Calibri"/>
              </a:rPr>
              <a:t>learned once it repeats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715000" y="4645152"/>
            <a:ext cx="3200400" cy="420624"/>
          </a:xfrm>
          <a:prstGeom prst="roundRect">
            <a:avLst>
              <a:gd name="adj" fmla="val 15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5715000" y="4645152"/>
            <a:ext cx="3200400" cy="420624"/>
          </a:xfrm>
          <a:prstGeom prst="rect">
            <a:avLst/>
          </a:prstGeom>
          <a:noFill/>
        </p:spPr>
        <p:txBody>
          <a:bodyPr wrap="square" lIns="45720" rIns="45720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6  Save the rule</a:t>
            </a:r>
          </a:p>
          <a:p>
            <a:pPr algn="ctr"/>
            <a:r>
              <a:rPr sz="850" b="0">
                <a:solidFill>
                  <a:srgbClr val="EEF3FA"/>
                </a:solidFill>
                <a:latin typeface="Calibri"/>
              </a:rPr>
              <a:t>every future matching line reuses it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715000" y="5175504"/>
            <a:ext cx="5989320" cy="420624"/>
          </a:xfrm>
          <a:prstGeom prst="roundRect">
            <a:avLst>
              <a:gd name="adj" fmla="val 15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15000" y="5175504"/>
            <a:ext cx="5989320" cy="420624"/>
          </a:xfrm>
          <a:prstGeom prst="rect">
            <a:avLst/>
          </a:prstGeom>
          <a:noFill/>
        </p:spPr>
        <p:txBody>
          <a:bodyPr wrap="square" lIns="45720" rIns="45720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7  Apply rule &amp; clean up</a:t>
            </a:r>
          </a:p>
          <a:p>
            <a:pPr algn="ctr"/>
            <a:r>
              <a:rPr sz="850" b="0">
                <a:solidFill>
                  <a:srgbClr val="EEF3FA"/>
                </a:solidFill>
                <a:latin typeface="Calibri"/>
              </a:rPr>
              <a:t>time → UTC · one severity scale · event tags · IPs &amp; users pulled out · original line kept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5715000" y="5705856"/>
            <a:ext cx="5989320" cy="420624"/>
          </a:xfrm>
          <a:prstGeom prst="roundRect">
            <a:avLst>
              <a:gd name="adj" fmla="val 1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715000" y="5705856"/>
            <a:ext cx="5989320" cy="420624"/>
          </a:xfrm>
          <a:prstGeom prst="rect">
            <a:avLst/>
          </a:prstGeom>
          <a:noFill/>
        </p:spPr>
        <p:txBody>
          <a:bodyPr wrap="square" lIns="45720" rIns="45720" tIns="9144" bIns="9144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8  One clean, common JSON format out</a:t>
            </a:r>
          </a:p>
          <a:p>
            <a:pPr algn="ctr"/>
            <a:r>
              <a:rPr sz="850" b="0">
                <a:solidFill>
                  <a:srgbClr val="EEF3FA"/>
                </a:solidFill>
                <a:latin typeface="Calibri"/>
              </a:rPr>
              <a:t>ready for SIEM, dashboards and search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326880" y="1993392"/>
            <a:ext cx="2377440" cy="1481328"/>
          </a:xfrm>
          <a:prstGeom prst="roundRect">
            <a:avLst>
              <a:gd name="adj" fmla="val 6000"/>
            </a:avLst>
          </a:prstGeom>
          <a:solidFill>
            <a:srgbClr val="E8F5EC"/>
          </a:solidFill>
          <a:ln w="15875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400032" y="1993392"/>
            <a:ext cx="2231136" cy="1481328"/>
          </a:xfrm>
          <a:prstGeom prst="rect">
            <a:avLst/>
          </a:prstGeom>
          <a:noFill/>
        </p:spPr>
        <p:txBody>
          <a:bodyPr wrap="square" lIns="45720" rIns="45720" tIns="9144" bIns="9144" anchor="ctr">
            <a:spAutoFit/>
          </a:bodyPr>
          <a:lstStyle/>
          <a:p>
            <a:pPr algn="ctr"/>
            <a:r>
              <a:rPr sz="1300" b="1">
                <a:solidFill>
                  <a:srgbClr val="138A36"/>
                </a:solidFill>
                <a:latin typeface="Calibri"/>
              </a:rPr>
              <a:t>FAST PATH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most logs take this route</a:t>
            </a:r>
          </a:p>
          <a:p>
            <a:pPr algn="ctr"/>
            <a:r>
              <a:rPr sz="400" b="0">
                <a:solidFill>
                  <a:srgbClr val="1E2530"/>
                </a:solidFill>
                <a:latin typeface="Calibri"/>
              </a:rPr>
              <a:t> 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saved rule applied instantly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no AI call · no waiting · no cost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326880" y="3584448"/>
            <a:ext cx="1920240" cy="1481328"/>
          </a:xfrm>
          <a:prstGeom prst="roundRect">
            <a:avLst>
              <a:gd name="adj" fmla="val 8000"/>
            </a:avLst>
          </a:prstGeom>
          <a:solidFill>
            <a:srgbClr val="FFF4E8"/>
          </a:solidFill>
          <a:ln w="12700">
            <a:solidFill>
              <a:srgbClr val="F283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9363456" y="3584448"/>
            <a:ext cx="1847088" cy="1481328"/>
          </a:xfrm>
          <a:prstGeom prst="rect">
            <a:avLst/>
          </a:prstGeom>
          <a:noFill/>
        </p:spPr>
        <p:txBody>
          <a:bodyPr wrap="square" lIns="45720" rIns="45720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C06010"/>
                </a:solidFill>
                <a:latin typeface="Calibri"/>
              </a:rPr>
              <a:t>AI PATH</a:t>
            </a:r>
          </a:p>
          <a:p>
            <a:pPr algn="ctr"/>
            <a:r>
              <a:rPr sz="900" b="0">
                <a:solidFill>
                  <a:srgbClr val="1E2530"/>
                </a:solidFill>
                <a:latin typeface="Calibri"/>
              </a:rPr>
              <a:t>used only when a format is new</a:t>
            </a:r>
          </a:p>
          <a:p>
            <a:pPr algn="ctr"/>
            <a:r>
              <a:rPr sz="900" b="0">
                <a:solidFill>
                  <a:srgbClr val="1E2530"/>
                </a:solidFill>
                <a:latin typeface="Calibri"/>
              </a:rPr>
              <a:t>rule learned once, then it</a:t>
            </a:r>
          </a:p>
          <a:p>
            <a:pPr algn="ctr"/>
            <a:r>
              <a:rPr sz="900" b="0">
                <a:solidFill>
                  <a:srgbClr val="1E2530"/>
                </a:solidFill>
                <a:latin typeface="Calibri"/>
              </a:rPr>
              <a:t>joins the fast path</a:t>
            </a:r>
          </a:p>
          <a:p>
            <a:pPr algn="ctr"/>
            <a:r>
              <a:rPr sz="400" b="0">
                <a:solidFill>
                  <a:srgbClr val="1E2530"/>
                </a:solidFill>
                <a:latin typeface="Calibri"/>
              </a:rPr>
              <a:t> </a:t>
            </a:r>
          </a:p>
          <a:p>
            <a:pPr algn="ctr"/>
            <a:r>
              <a:rPr sz="900" b="0">
                <a:solidFill>
                  <a:srgbClr val="1E2530"/>
                </a:solidFill>
                <a:latin typeface="Calibri"/>
              </a:rPr>
              <a:t>AI down? backup AI, then</a:t>
            </a:r>
          </a:p>
          <a:p>
            <a:pPr algn="ctr"/>
            <a:r>
              <a:rPr sz="900" b="0">
                <a:solidFill>
                  <a:srgbClr val="1E2530"/>
                </a:solidFill>
                <a:latin typeface="Calibri"/>
              </a:rPr>
              <a:t>built-in rules take over</a:t>
            </a:r>
          </a:p>
        </p:txBody>
      </p:sp>
      <p:cxnSp>
        <p:nvCxnSpPr>
          <p:cNvPr id="167" name="Connector 166"/>
          <p:cNvCxnSpPr/>
          <p:nvPr/>
        </p:nvCxnSpPr>
        <p:spPr>
          <a:xfrm>
            <a:off x="7315200" y="1883664"/>
            <a:ext cx="0" cy="109728"/>
          </a:xfrm>
          <a:prstGeom prst="line">
            <a:avLst/>
          </a:prstGeom>
          <a:ln w="1905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7315200" y="2414016"/>
            <a:ext cx="0" cy="109728"/>
          </a:xfrm>
          <a:prstGeom prst="line">
            <a:avLst/>
          </a:prstGeom>
          <a:ln w="1905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7315200" y="2944368"/>
            <a:ext cx="0" cy="109728"/>
          </a:xfrm>
          <a:prstGeom prst="line">
            <a:avLst/>
          </a:prstGeom>
          <a:ln w="1905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7315200" y="3474720"/>
            <a:ext cx="0" cy="109728"/>
          </a:xfrm>
          <a:prstGeom prst="line">
            <a:avLst/>
          </a:prstGeom>
          <a:ln w="1905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7370064" y="2404872"/>
            <a:ext cx="82296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1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370064" y="3465576"/>
            <a:ext cx="82296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00" b="1">
                <a:solidFill>
                  <a:srgbClr val="C0392B"/>
                </a:solidFill>
                <a:latin typeface="Calibri"/>
              </a:rPr>
              <a:t>No</a:t>
            </a:r>
          </a:p>
        </p:txBody>
      </p:sp>
      <p:cxnSp>
        <p:nvCxnSpPr>
          <p:cNvPr id="173" name="Connector 172"/>
          <p:cNvCxnSpPr/>
          <p:nvPr/>
        </p:nvCxnSpPr>
        <p:spPr>
          <a:xfrm>
            <a:off x="6492240" y="4005072"/>
            <a:ext cx="0" cy="109728"/>
          </a:xfrm>
          <a:prstGeom prst="line">
            <a:avLst/>
          </a:prstGeom>
          <a:ln w="1905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8138160" y="4005072"/>
            <a:ext cx="0" cy="109728"/>
          </a:xfrm>
          <a:prstGeom prst="line">
            <a:avLst/>
          </a:prstGeom>
          <a:ln w="1905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6537960" y="3995928"/>
            <a:ext cx="82296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750" b="1">
                <a:solidFill>
                  <a:srgbClr val="6A3FB5"/>
                </a:solidFill>
                <a:latin typeface="Calibri"/>
              </a:rPr>
              <a:t>known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183880" y="3995928"/>
            <a:ext cx="82296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750" b="1">
                <a:solidFill>
                  <a:srgbClr val="6A3FB5"/>
                </a:solidFill>
                <a:latin typeface="Calibri"/>
              </a:rPr>
              <a:t>brand-new</a:t>
            </a:r>
          </a:p>
        </p:txBody>
      </p:sp>
      <p:cxnSp>
        <p:nvCxnSpPr>
          <p:cNvPr id="177" name="Connector 176"/>
          <p:cNvCxnSpPr/>
          <p:nvPr/>
        </p:nvCxnSpPr>
        <p:spPr>
          <a:xfrm>
            <a:off x="6492240" y="4535424"/>
            <a:ext cx="0" cy="109728"/>
          </a:xfrm>
          <a:prstGeom prst="line">
            <a:avLst/>
          </a:prstGeom>
          <a:ln w="1905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8138160" y="4535424"/>
            <a:ext cx="0" cy="109728"/>
          </a:xfrm>
          <a:prstGeom prst="line">
            <a:avLst/>
          </a:prstGeom>
          <a:ln w="1905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7315200" y="5065776"/>
            <a:ext cx="0" cy="109728"/>
          </a:xfrm>
          <a:prstGeom prst="line">
            <a:avLst/>
          </a:prstGeom>
          <a:ln w="1905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7315200" y="5596128"/>
            <a:ext cx="0" cy="109728"/>
          </a:xfrm>
          <a:prstGeom prst="line">
            <a:avLst/>
          </a:prstGeom>
          <a:ln w="19050">
            <a:solidFill>
              <a:srgbClr val="5B65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8915400" y="2203704"/>
            <a:ext cx="411480" cy="0"/>
          </a:xfrm>
          <a:prstGeom prst="line">
            <a:avLst/>
          </a:prstGeom>
          <a:ln w="22225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TextBox 181"/>
          <p:cNvSpPr txBox="1"/>
          <p:nvPr/>
        </p:nvSpPr>
        <p:spPr>
          <a:xfrm>
            <a:off x="8988552" y="2020824"/>
            <a:ext cx="36576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8915400" y="3264408"/>
            <a:ext cx="411480" cy="0"/>
          </a:xfrm>
          <a:prstGeom prst="line">
            <a:avLst/>
          </a:prstGeom>
          <a:ln w="22225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/>
          <p:cNvSpPr txBox="1"/>
          <p:nvPr/>
        </p:nvSpPr>
        <p:spPr>
          <a:xfrm>
            <a:off x="8988552" y="3081528"/>
            <a:ext cx="36576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850" b="1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11503152" y="3474720"/>
            <a:ext cx="0" cy="1700784"/>
          </a:xfrm>
          <a:prstGeom prst="line">
            <a:avLst/>
          </a:prstGeom>
          <a:ln w="22225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38912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645920"/>
            <a:ext cx="340156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via a web API or Bash collector; a web dashboard shows learned rules and the review queue.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38912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645920"/>
            <a:ext cx="344728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Can stay in India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 plain Python app that can run on Indian cloud or on-premise; offline with built-in rules (self-hosted AI planned).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38912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572768"/>
            <a:ext cx="164592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572768"/>
            <a:ext cx="16916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1051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1051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1051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1051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1051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Switches to a backup AI, then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400300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400300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400300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400300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400300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AI runs once per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2990088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2990088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2990088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2990088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2990088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Held in a review queue, never dropped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3579876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3579876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3579876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3579876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3579876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4169664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91"/>
          <p:cNvSpPr/>
          <p:nvPr/>
        </p:nvSpPr>
        <p:spPr>
          <a:xfrm>
            <a:off x="4315968" y="475945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4169664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Personal data inside logs</a:t>
            </a:r>
          </a:p>
        </p:txBody>
      </p:sp>
      <p:sp>
        <p:nvSpPr>
          <p:cNvPr id="110" name="TextBox 92"/>
          <p:cNvSpPr txBox="1"/>
          <p:nvPr/>
        </p:nvSpPr>
        <p:spPr>
          <a:xfrm>
            <a:off x="4343400" y="475945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Junk or flood of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4169664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111" name="TextBox 93"/>
          <p:cNvSpPr txBox="1"/>
          <p:nvPr/>
        </p:nvSpPr>
        <p:spPr>
          <a:xfrm>
            <a:off x="5925312" y="475945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4169664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94"/>
          <p:cNvSpPr/>
          <p:nvPr/>
        </p:nvSpPr>
        <p:spPr>
          <a:xfrm>
            <a:off x="6217920" y="475945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4169664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On-premise with built-in rules; masking &amp; self-hosted AI planned</a:t>
            </a:r>
          </a:p>
        </p:txBody>
      </p:sp>
      <p:sp>
        <p:nvSpPr>
          <p:cNvPr id="113" name="TextBox 95"/>
          <p:cNvSpPr txBox="1"/>
          <p:nvPr/>
        </p:nvSpPr>
        <p:spPr>
          <a:xfrm>
            <a:off x="6245352" y="475945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Optional access key and size limits on every batch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5522976"/>
            <a:ext cx="11503152" cy="768096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7200" y="5522976"/>
            <a:ext cx="1143000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B2A5B"/>
                </a:solidFill>
                <a:latin typeface="Calibri"/>
              </a:rPr>
              <a:t>ROADMAP</a:t>
            </a:r>
          </a:p>
        </p:txBody>
      </p:sp>
      <p:sp>
        <p:nvSpPr>
          <p:cNvPr id="99" name="Pentagon 98"/>
          <p:cNvSpPr/>
          <p:nvPr/>
        </p:nvSpPr>
        <p:spPr>
          <a:xfrm>
            <a:off x="1481328" y="5614416"/>
            <a:ext cx="1783080" cy="585216"/>
          </a:xfrm>
          <a:prstGeom prst="homePlate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59105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1  Core pipeline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collect · group · learn</a:t>
            </a:r>
          </a:p>
        </p:txBody>
      </p:sp>
      <p:sp>
        <p:nvSpPr>
          <p:cNvPr id="101" name="Chevron 100"/>
          <p:cNvSpPr/>
          <p:nvPr/>
        </p:nvSpPr>
        <p:spPr>
          <a:xfrm>
            <a:off x="3200400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56432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2  Privacy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masking + self-hosted AI</a:t>
            </a:r>
          </a:p>
        </p:txBody>
      </p:sp>
      <p:sp>
        <p:nvSpPr>
          <p:cNvPr id="103" name="Chevron 102"/>
          <p:cNvSpPr/>
          <p:nvPr/>
        </p:nvSpPr>
        <p:spPr>
          <a:xfrm>
            <a:off x="4919472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75504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3  On-premise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one-command Docker</a:t>
            </a:r>
          </a:p>
        </p:txBody>
      </p:sp>
      <p:sp>
        <p:nvSpPr>
          <p:cNvPr id="105" name="Chevron 104"/>
          <p:cNvSpPr/>
          <p:nvPr/>
        </p:nvSpPr>
        <p:spPr>
          <a:xfrm>
            <a:off x="6638544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2C7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89457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4  Connectors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Splunk · ELK · Wazuh</a:t>
            </a:r>
          </a:p>
        </p:txBody>
      </p:sp>
      <p:sp>
        <p:nvSpPr>
          <p:cNvPr id="107" name="Chevron 106"/>
          <p:cNvSpPr/>
          <p:nvPr/>
        </p:nvSpPr>
        <p:spPr>
          <a:xfrm>
            <a:off x="8357616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Chevron 106"/>
          <p:cNvSpPr/>
          <p:nvPr/>
        </p:nvSpPr>
        <p:spPr>
          <a:xfrm>
            <a:off x="10076688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613648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5  PSU pilot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feedback &amp; tuning</a:t>
            </a:r>
          </a:p>
        </p:txBody>
      </p:sp>
      <p:sp>
        <p:nvSpPr>
          <p:cNvPr id="115" name="TextBox 107"/>
          <p:cNvSpPr txBox="1"/>
          <p:nvPr/>
        </p:nvSpPr>
        <p:spPr>
          <a:xfrm>
            <a:off x="10332720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6  Scale up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sector SOCs → NCIIPC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</a:t>
            </a:r>
            <a:r>
              <a:rPr sz="1200" b="0">
                <a:solidFill>
                  <a:srgbClr val="5F6B7A"/>
                </a:solidFill>
                <a:latin typeface="Calibri"/>
              </a:rPr>
              <a:t>   for NTRO, NCIIPC &amp; sector security teams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45336"/>
            <a:ext cx="64008" cy="36576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179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F5FBF"/>
                </a:solidFill>
                <a:latin typeface="Calibri"/>
              </a:rPr>
              <a:t>Sharper security analysis: </a:t>
            </a:r>
            <a:r>
              <a:rPr sz="1050" b="0">
                <a:solidFill>
                  <a:srgbClr val="1E2530"/>
                </a:solidFill>
                <a:latin typeface="Calibri"/>
              </a:rPr>
              <a:t>logs from every system share one structure, so failed logins, errors and unusual events stand out.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002536"/>
            <a:ext cx="64008" cy="36576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19751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38A36"/>
                </a:solidFill>
                <a:latin typeface="Calibri"/>
              </a:rPr>
              <a:t>Faster processing: </a:t>
            </a:r>
            <a:r>
              <a:rPr sz="1050" b="0">
                <a:solidFill>
                  <a:srgbClr val="1E2530"/>
                </a:solidFill>
                <a:latin typeface="Calibri"/>
              </a:rPr>
              <a:t>parsing and cleanup are automatic; saved rules handle everyday logs instantly.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459736"/>
            <a:ext cx="64008" cy="3657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4323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58220"/>
                </a:solidFill>
                <a:latin typeface="Calibri"/>
              </a:rPr>
              <a:t>Cleaner, reliable data: </a:t>
            </a:r>
            <a:r>
              <a:rPr sz="1050" b="0">
                <a:solidFill>
                  <a:srgbClr val="1E2530"/>
                </a:solidFill>
                <a:latin typeface="Calibri"/>
              </a:rPr>
              <a:t>missing fields get safe defaults, all times become UTC, and the original line is always kept.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2916936"/>
            <a:ext cx="64008" cy="36576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71"/>
          <p:cNvSpPr/>
          <p:nvPr/>
        </p:nvSpPr>
        <p:spPr>
          <a:xfrm>
            <a:off x="365760" y="3374136"/>
            <a:ext cx="64008" cy="365760"/>
          </a:xfrm>
          <a:prstGeom prst="rect">
            <a:avLst/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28895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6A3FB5"/>
                </a:solidFill>
                <a:latin typeface="Calibri"/>
              </a:rPr>
              <a:t>Less operational effort: </a:t>
            </a:r>
            <a:r>
              <a:rPr sz="1050" b="0">
                <a:solidFill>
                  <a:srgbClr val="1E2530"/>
                </a:solidFill>
                <a:latin typeface="Calibri"/>
              </a:rPr>
              <a:t>one pipeline replaces a separate hand-written parser for every log source.</a:t>
            </a:r>
          </a:p>
        </p:txBody>
      </p:sp>
      <p:sp>
        <p:nvSpPr>
          <p:cNvPr id="103" name="TextBox 72"/>
          <p:cNvSpPr txBox="1"/>
          <p:nvPr/>
        </p:nvSpPr>
        <p:spPr>
          <a:xfrm>
            <a:off x="502920" y="33467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0E8C8C"/>
                </a:solidFill>
                <a:latin typeface="Calibri"/>
              </a:rPr>
              <a:t>Scales with growth: </a:t>
            </a:r>
            <a:r>
              <a:rPr sz="1050" b="0">
                <a:solidFill>
                  <a:srgbClr val="1E2530"/>
                </a:solidFill>
                <a:latin typeface="Calibri"/>
              </a:rPr>
              <a:t>more logs do not mean more work; each format is learned once and reused.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5544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F5FBF"/>
                </a:solidFill>
                <a:latin typeface="Calibri"/>
              </a:rPr>
              <a:t>Any format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179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Standard formats work at once; new and custom formats are learned automatically.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0116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B35C00"/>
                </a:solidFill>
                <a:latin typeface="Calibri"/>
              </a:rPr>
              <a:t>No parser code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19751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Time, source, severity, IPs and users are found and mapped automatically.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4688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38A36"/>
                </a:solidFill>
                <a:latin typeface="Calibri"/>
              </a:rPr>
              <a:t>One schema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4323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Every log leaves in the same clean, common JSON format.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29260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6A3FB5"/>
                </a:solidFill>
                <a:latin typeface="Calibri"/>
              </a:rPr>
              <a:t>Easy to plug in</a:t>
            </a:r>
          </a:p>
        </p:txBody>
      </p:sp>
      <p:sp>
        <p:nvSpPr>
          <p:cNvPr id="104" name="Rounded Rectangle 81"/>
          <p:cNvSpPr/>
          <p:nvPr/>
        </p:nvSpPr>
        <p:spPr>
          <a:xfrm>
            <a:off x="6263640" y="33832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0E8C8C"/>
                </a:solidFill>
                <a:latin typeface="Calibri"/>
              </a:rPr>
              <a:t>Future-ready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28895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Output is ready for SIEM, monitoring &amp; analytics tools (connectors planned).</a:t>
            </a:r>
          </a:p>
        </p:txBody>
      </p:sp>
      <p:sp>
        <p:nvSpPr>
          <p:cNvPr id="105" name="TextBox 82"/>
          <p:cNvSpPr txBox="1"/>
          <p:nvPr/>
        </p:nvSpPr>
        <p:spPr>
          <a:xfrm>
            <a:off x="7726680" y="33467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New formats, rules and smarter methods can be added without redesign.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~0.5%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138A36"/>
                </a:solidFill>
                <a:latin typeface="Calibri"/>
              </a:rPr>
              <a:t>Almost all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logs need no AI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CEF / LEEF · ISO 8601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